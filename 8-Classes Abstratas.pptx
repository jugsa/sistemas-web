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4"/>
  </p:sldMasterIdLst>
  <p:sldIdLst>
    <p:sldId id="271" r:id="rId5"/>
    <p:sldId id="296" r:id="rId6"/>
    <p:sldId id="297" r:id="rId7"/>
    <p:sldId id="298" r:id="rId8"/>
    <p:sldId id="299" r:id="rId9"/>
    <p:sldId id="300" r:id="rId10"/>
    <p:sldId id="301" r:id="rId11"/>
    <p:sldId id="302" r:id="rId12"/>
    <p:sldId id="303" r:id="rId13"/>
    <p:sldId id="304" r:id="rId14"/>
    <p:sldId id="305" r:id="rId15"/>
    <p:sldId id="306" r:id="rId16"/>
    <p:sldId id="307"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40" autoAdjust="0"/>
    <p:restoredTop sz="94660"/>
  </p:normalViewPr>
  <p:slideViewPr>
    <p:cSldViewPr snapToGrid="0">
      <p:cViewPr varScale="1">
        <p:scale>
          <a:sx n="72" d="100"/>
          <a:sy n="72" d="100"/>
        </p:scale>
        <p:origin x="57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pt-BR"/>
              <a:t>Clique para editar o título mestre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A4D64E7D-DAAD-4FC2-BD68-4BAEAD2EAB37}" type="datetimeFigureOut">
              <a:rPr lang="pt-BR" smtClean="0"/>
              <a:t>13/10/2020</a:t>
            </a:fld>
            <a:endParaRPr lang="pt-BR"/>
          </a:p>
        </p:txBody>
      </p:sp>
      <p:sp>
        <p:nvSpPr>
          <p:cNvPr id="5" name="Footer Placeholder 4"/>
          <p:cNvSpPr>
            <a:spLocks noGrp="1"/>
          </p:cNvSpPr>
          <p:nvPr>
            <p:ph type="ftr" sz="quarter" idx="11"/>
          </p:nvPr>
        </p:nvSpPr>
        <p:spPr>
          <a:xfrm>
            <a:off x="5332412" y="5883275"/>
            <a:ext cx="4324044" cy="365125"/>
          </a:xfrm>
        </p:spPr>
        <p:txBody>
          <a:bodyPr/>
          <a:lstStyle/>
          <a:p>
            <a:endParaRPr lang="pt-BR"/>
          </a:p>
        </p:txBody>
      </p:sp>
      <p:sp>
        <p:nvSpPr>
          <p:cNvPr id="6" name="Slide Number Placeholder 5"/>
          <p:cNvSpPr>
            <a:spLocks noGrp="1"/>
          </p:cNvSpPr>
          <p:nvPr>
            <p:ph type="sldNum" sz="quarter" idx="12"/>
          </p:nvPr>
        </p:nvSpPr>
        <p:spPr/>
        <p:txBody>
          <a:bodyPr/>
          <a:lstStyle/>
          <a:p>
            <a:fld id="{DA47C601-698B-451C-A431-04A42B27C505}" type="slidenum">
              <a:rPr lang="pt-BR" smtClean="0"/>
              <a:t>‹nº›</a:t>
            </a:fld>
            <a:endParaRPr lang="pt-BR"/>
          </a:p>
        </p:txBody>
      </p:sp>
      <p:pic>
        <p:nvPicPr>
          <p:cNvPr id="10" name="Imagem 9">
            <a:extLst>
              <a:ext uri="{FF2B5EF4-FFF2-40B4-BE49-F238E27FC236}">
                <a16:creationId xmlns:a16="http://schemas.microsoft.com/office/drawing/2014/main" id="{8DFB1E4A-CF2F-4C01-A98D-9103E059F26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721" y="4779205"/>
            <a:ext cx="2272666" cy="2097845"/>
          </a:xfrm>
          <a:prstGeom prst="rect">
            <a:avLst/>
          </a:prstGeom>
        </p:spPr>
      </p:pic>
    </p:spTree>
    <p:extLst>
      <p:ext uri="{BB962C8B-B14F-4D97-AF65-F5344CB8AC3E}">
        <p14:creationId xmlns:p14="http://schemas.microsoft.com/office/powerpoint/2010/main" val="1001304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nchor="ct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A4D64E7D-DAAD-4FC2-BD68-4BAEAD2EAB37}" type="datetimeFigureOut">
              <a:rPr lang="pt-BR" smtClean="0"/>
              <a:t>13/10/2020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a:xfrm>
            <a:off x="10951856" y="5867131"/>
            <a:ext cx="551167" cy="365125"/>
          </a:xfrm>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3196083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pt-BR"/>
              <a:t>Clique para editar o título mestre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A4D64E7D-DAAD-4FC2-BD68-4BAEAD2EAB37}" type="datetimeFigureOut">
              <a:rPr lang="pt-BR" smtClean="0"/>
              <a:t>13/10/2020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2468179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pt-BR"/>
              <a:t>Clique para editar o título mestre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A4D64E7D-DAAD-4FC2-BD68-4BAEAD2EAB37}" type="datetimeFigureOut">
              <a:rPr lang="pt-BR" smtClean="0"/>
              <a:t>13/10/2020</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34131066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pt-BR"/>
              <a:t>Clique para editar o título mestre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A4D64E7D-DAAD-4FC2-BD68-4BAEAD2EAB37}" type="datetimeFigureOut">
              <a:rPr lang="pt-BR" smtClean="0"/>
              <a:t>13/10/2020</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2696420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A4D64E7D-DAAD-4FC2-BD68-4BAEAD2EAB37}" type="datetimeFigureOut">
              <a:rPr lang="pt-BR" smtClean="0"/>
              <a:t>13/10/2020</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2418475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D64E7D-DAAD-4FC2-BD68-4BAEAD2EAB37}" type="datetimeFigureOut">
              <a:rPr lang="pt-BR" smtClean="0"/>
              <a:t>13/10/2020</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2956201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pt-BR"/>
              <a:t>Clique para editar o título mestre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5" name="Date Placeholder 4"/>
          <p:cNvSpPr>
            <a:spLocks noGrp="1"/>
          </p:cNvSpPr>
          <p:nvPr>
            <p:ph type="dt" sz="half" idx="10"/>
          </p:nvPr>
        </p:nvSpPr>
        <p:spPr/>
        <p:txBody>
          <a:bodyPr/>
          <a:lstStyle/>
          <a:p>
            <a:fld id="{A4D64E7D-DAAD-4FC2-BD68-4BAEAD2EAB37}" type="datetimeFigureOut">
              <a:rPr lang="pt-BR" smtClean="0"/>
              <a:t>13/10/2020</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131856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pt-BR"/>
              <a:t>Clique para editar o título mestre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5" name="Date Placeholder 4"/>
          <p:cNvSpPr>
            <a:spLocks noGrp="1"/>
          </p:cNvSpPr>
          <p:nvPr>
            <p:ph type="dt" sz="half" idx="10"/>
          </p:nvPr>
        </p:nvSpPr>
        <p:spPr/>
        <p:txBody>
          <a:bodyPr/>
          <a:lstStyle/>
          <a:p>
            <a:fld id="{A4D64E7D-DAAD-4FC2-BD68-4BAEAD2EAB37}" type="datetimeFigureOut">
              <a:rPr lang="pt-BR" smtClean="0"/>
              <a:t>13/10/2020</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1694470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oto Panorâmica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5" name="Date Placeholder 4"/>
          <p:cNvSpPr>
            <a:spLocks noGrp="1"/>
          </p:cNvSpPr>
          <p:nvPr>
            <p:ph type="dt" sz="half" idx="10"/>
          </p:nvPr>
        </p:nvSpPr>
        <p:spPr/>
        <p:txBody>
          <a:bodyPr/>
          <a:lstStyle/>
          <a:p>
            <a:fld id="{A4D64E7D-DAAD-4FC2-BD68-4BAEAD2EAB37}" type="datetimeFigureOut">
              <a:rPr lang="pt-BR" smtClean="0"/>
              <a:t>13/10/2020</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792151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pt-BR"/>
              <a:t>Clique para editar o título mestre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A4D64E7D-DAAD-4FC2-BD68-4BAEAD2EAB37}" type="datetimeFigureOut">
              <a:rPr lang="pt-BR" smtClean="0"/>
              <a:t>13/10/2020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19747931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pt-BR"/>
              <a:t>Clique para editar o título mestre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a:t>Editar estilos de texto Mestre</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A4D64E7D-DAAD-4FC2-BD68-4BAEAD2EAB37}" type="datetimeFigureOut">
              <a:rPr lang="pt-BR" smtClean="0"/>
              <a:t>13/10/2020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18835294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pt-BR"/>
              <a:t>Clique para editar o título mestre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A4D64E7D-DAAD-4FC2-BD68-4BAEAD2EAB37}" type="datetimeFigureOut">
              <a:rPr lang="pt-BR" smtClean="0"/>
              <a:t>13/10/2020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21065750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o Cartão de Nome">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pt-BR"/>
              <a:t>Clique para editar o título mestre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pt-BR"/>
              <a:t>Editar estilos de texto Mestre</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A4D64E7D-DAAD-4FC2-BD68-4BAEAD2EAB37}" type="datetimeFigureOut">
              <a:rPr lang="pt-BR" smtClean="0"/>
              <a:t>13/10/2020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41736547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iro ou Falso">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pt-BR"/>
              <a:t>Clique para editar o título mestre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pt-BR"/>
              <a:t>Editar estilos de texto Mestre</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A4D64E7D-DAAD-4FC2-BD68-4BAEAD2EAB37}" type="datetimeFigureOut">
              <a:rPr lang="pt-BR" smtClean="0"/>
              <a:t>13/10/2020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19280051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ncho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A4D64E7D-DAAD-4FC2-BD68-4BAEAD2EAB37}" type="datetimeFigureOut">
              <a:rPr lang="pt-BR" smtClean="0"/>
              <a:t>13/10/2020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23230533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A4D64E7D-DAAD-4FC2-BD68-4BAEAD2EAB37}" type="datetimeFigureOut">
              <a:rPr lang="pt-BR" smtClean="0"/>
              <a:t>13/10/2020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2585197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4D64E7D-DAAD-4FC2-BD68-4BAEAD2EAB37}" type="datetimeFigureOut">
              <a:rPr lang="pt-BR" smtClean="0"/>
              <a:t>13/10/2020</a:t>
            </a:fld>
            <a:endParaRPr lang="pt-BR"/>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pt-BR"/>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A47C601-698B-451C-A431-04A42B27C505}" type="slidenum">
              <a:rPr lang="pt-BR" smtClean="0"/>
              <a:t>‹nº›</a:t>
            </a:fld>
            <a:endParaRPr lang="pt-BR"/>
          </a:p>
        </p:txBody>
      </p:sp>
      <p:pic>
        <p:nvPicPr>
          <p:cNvPr id="14" name="Imagem 13">
            <a:extLst>
              <a:ext uri="{FF2B5EF4-FFF2-40B4-BE49-F238E27FC236}">
                <a16:creationId xmlns:a16="http://schemas.microsoft.com/office/drawing/2014/main" id="{065FAD68-07DC-4FAB-9FDF-0DC891EAB741}"/>
              </a:ext>
            </a:extLst>
          </p:cNvPr>
          <p:cNvPicPr>
            <a:picLocks noChangeAspect="1"/>
          </p:cNvPicPr>
          <p:nvPr userDrawn="1"/>
        </p:nvPicPr>
        <p:blipFill>
          <a:blip r:embed="rId19">
            <a:extLst>
              <a:ext uri="{28A0092B-C50C-407E-A947-70E740481C1C}">
                <a14:useLocalDpi xmlns:a14="http://schemas.microsoft.com/office/drawing/2010/main" val="0"/>
              </a:ext>
            </a:extLst>
          </a:blip>
          <a:stretch>
            <a:fillRect/>
          </a:stretch>
        </p:blipFill>
        <p:spPr>
          <a:xfrm>
            <a:off x="0" y="6013938"/>
            <a:ext cx="914400" cy="844062"/>
          </a:xfrm>
          <a:prstGeom prst="rect">
            <a:avLst/>
          </a:prstGeom>
        </p:spPr>
      </p:pic>
    </p:spTree>
    <p:extLst>
      <p:ext uri="{BB962C8B-B14F-4D97-AF65-F5344CB8AC3E}">
        <p14:creationId xmlns:p14="http://schemas.microsoft.com/office/powerpoint/2010/main" val="267540488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normAutofit/>
          </a:bodyPr>
          <a:lstStyle/>
          <a:p>
            <a:r>
              <a:rPr lang="pt-BR" dirty="0"/>
              <a:t>Classes Abstratas</a:t>
            </a:r>
            <a:br>
              <a:rPr lang="pt-BR" dirty="0"/>
            </a:br>
            <a:r>
              <a:rPr lang="pt-BR" dirty="0"/>
              <a:t>(Ainda sobre Herança)</a:t>
            </a:r>
          </a:p>
        </p:txBody>
      </p:sp>
      <p:sp>
        <p:nvSpPr>
          <p:cNvPr id="3" name="Subtítulo 2"/>
          <p:cNvSpPr>
            <a:spLocks noGrp="1"/>
          </p:cNvSpPr>
          <p:nvPr>
            <p:ph type="subTitle" idx="1"/>
          </p:nvPr>
        </p:nvSpPr>
        <p:spPr/>
        <p:txBody>
          <a:bodyPr/>
          <a:lstStyle/>
          <a:p>
            <a:r>
              <a:rPr lang="pt-BR" dirty="0"/>
              <a:t>Prof. Juliana de Sá</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F74D64DE-4944-4C53-8F8F-14BC6079DC73}"/>
              </a:ext>
            </a:extLst>
          </p:cNvPr>
          <p:cNvSpPr txBox="1"/>
          <p:nvPr/>
        </p:nvSpPr>
        <p:spPr>
          <a:xfrm>
            <a:off x="2930259" y="1408114"/>
            <a:ext cx="6161623" cy="461665"/>
          </a:xfrm>
          <a:prstGeom prst="rect">
            <a:avLst/>
          </a:prstGeom>
          <a:noFill/>
        </p:spPr>
        <p:txBody>
          <a:bodyPr wrap="none">
            <a:spAutoFit/>
          </a:bodyPr>
          <a:lstStyle/>
          <a:p>
            <a:pPr algn="ctr">
              <a:defRPr/>
            </a:pPr>
            <a:r>
              <a:rPr lang="pt-BR" sz="2400" b="1" dirty="0">
                <a:latin typeface="+mj-lt"/>
              </a:rPr>
              <a:t>RELEMBRANDO CONCEITO DE ABSTRAÇÃO</a:t>
            </a:r>
          </a:p>
        </p:txBody>
      </p:sp>
      <p:sp>
        <p:nvSpPr>
          <p:cNvPr id="21508" name="CaixaDeTexto 4">
            <a:extLst>
              <a:ext uri="{FF2B5EF4-FFF2-40B4-BE49-F238E27FC236}">
                <a16:creationId xmlns:a16="http://schemas.microsoft.com/office/drawing/2014/main" id="{652FAFF8-A947-455B-BD4E-30E4558696AD}"/>
              </a:ext>
            </a:extLst>
          </p:cNvPr>
          <p:cNvSpPr txBox="1">
            <a:spLocks noChangeArrowheads="1"/>
          </p:cNvSpPr>
          <p:nvPr/>
        </p:nvSpPr>
        <p:spPr bwMode="auto">
          <a:xfrm>
            <a:off x="1993900" y="2298700"/>
            <a:ext cx="8102600"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lgn="just" eaLnBrk="1" hangingPunct="1">
              <a:lnSpc>
                <a:spcPct val="150000"/>
              </a:lnSpc>
              <a:spcBef>
                <a:spcPct val="0"/>
              </a:spcBef>
              <a:buFontTx/>
              <a:buNone/>
            </a:pPr>
            <a:r>
              <a:rPr lang="pt-BR" altLang="pt-BR" sz="2000">
                <a:ea typeface="ヒラギノ角ゴ Pro W3" charset="-128"/>
              </a:rPr>
              <a:t>É a técnica ou habilidade de focar nos pontos principais de um determinado contexto, ignorando características menos importantes ou acidentais naquele contexto. Uma característica ignorada em um ponto pode ser relevante em outro momento e então será considerada.</a:t>
            </a:r>
          </a:p>
          <a:p>
            <a:pPr algn="just" eaLnBrk="1" hangingPunct="1">
              <a:lnSpc>
                <a:spcPct val="150000"/>
              </a:lnSpc>
              <a:spcBef>
                <a:spcPct val="0"/>
              </a:spcBef>
              <a:buFontTx/>
              <a:buNone/>
            </a:pPr>
            <a:endParaRPr lang="pt-BR" altLang="pt-BR" sz="2000">
              <a:ea typeface="ヒラギノ角ゴ Pro W3" charset="-128"/>
            </a:endParaRPr>
          </a:p>
          <a:p>
            <a:pPr algn="just" eaLnBrk="1" hangingPunct="1">
              <a:lnSpc>
                <a:spcPct val="150000"/>
              </a:lnSpc>
              <a:spcBef>
                <a:spcPct val="0"/>
              </a:spcBef>
              <a:buFontTx/>
              <a:buNone/>
            </a:pPr>
            <a:r>
              <a:rPr lang="pt-BR" altLang="pt-BR" sz="2000">
                <a:ea typeface="ヒラギノ角ゴ Pro W3" charset="-128"/>
              </a:rPr>
              <a:t>Assim sendo, uma classe ou método abstrato é apenas um modelo com foco nos aspectos principais para então serem criados objetos com suas características específicas, cada objeto criado terá sua própria forma.</a:t>
            </a:r>
          </a:p>
        </p:txBody>
      </p:sp>
    </p:spTree>
    <p:extLst>
      <p:ext uri="{BB962C8B-B14F-4D97-AF65-F5344CB8AC3E}">
        <p14:creationId xmlns:p14="http://schemas.microsoft.com/office/powerpoint/2010/main" val="1224203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a:extLst>
              <a:ext uri="{FF2B5EF4-FFF2-40B4-BE49-F238E27FC236}">
                <a16:creationId xmlns:a16="http://schemas.microsoft.com/office/drawing/2014/main" id="{99A93CBE-505E-4713-9936-95BC69B0E41A}"/>
              </a:ext>
            </a:extLst>
          </p:cNvPr>
          <p:cNvSpPr txBox="1"/>
          <p:nvPr/>
        </p:nvSpPr>
        <p:spPr>
          <a:xfrm>
            <a:off x="1905000" y="2159000"/>
            <a:ext cx="8178800" cy="3786188"/>
          </a:xfrm>
          <a:prstGeom prst="rect">
            <a:avLst/>
          </a:prstGeom>
          <a:noFill/>
        </p:spPr>
        <p:txBody>
          <a:bodyPr>
            <a:spAutoFit/>
          </a:bodyPr>
          <a:lstStyle/>
          <a:p>
            <a:pPr marL="177800" indent="-177800" algn="just">
              <a:buFont typeface="Arial" pitchFamily="34" charset="0"/>
              <a:buChar char="•"/>
              <a:defRPr/>
            </a:pPr>
            <a:r>
              <a:rPr lang="pt-BR" sz="2000" dirty="0">
                <a:latin typeface="+mj-lt"/>
              </a:rPr>
              <a:t>Uma classe abstrata serve como modelo para uma classe concreta, como as que conhecemos até aqui.</a:t>
            </a:r>
          </a:p>
          <a:p>
            <a:pPr marL="177800" indent="-177800" algn="just">
              <a:buFont typeface="Arial" pitchFamily="34" charset="0"/>
              <a:buChar char="•"/>
              <a:defRPr/>
            </a:pPr>
            <a:endParaRPr lang="pt-BR" sz="2000" dirty="0">
              <a:latin typeface="+mj-lt"/>
            </a:endParaRPr>
          </a:p>
          <a:p>
            <a:pPr marL="177800" indent="-177800" algn="just">
              <a:buFont typeface="Arial" pitchFamily="34" charset="0"/>
              <a:buChar char="•"/>
              <a:defRPr/>
            </a:pPr>
            <a:r>
              <a:rPr lang="pt-BR" sz="2000" dirty="0">
                <a:latin typeface="+mj-lt"/>
              </a:rPr>
              <a:t>As classes abstratas são modelos de classes, então, não podem ser instanciadas diretamente com o comando </a:t>
            </a:r>
            <a:r>
              <a:rPr lang="pt-BR" sz="2000" dirty="0" err="1">
                <a:latin typeface="+mj-lt"/>
              </a:rPr>
              <a:t>new</a:t>
            </a:r>
            <a:r>
              <a:rPr lang="pt-BR" sz="2000" dirty="0">
                <a:latin typeface="+mj-lt"/>
              </a:rPr>
              <a:t>, elas sempre devem ser herdadas por classes concretas.</a:t>
            </a:r>
          </a:p>
          <a:p>
            <a:pPr marL="177800" indent="-177800" algn="just">
              <a:buFont typeface="Arial" pitchFamily="34" charset="0"/>
              <a:buChar char="•"/>
              <a:defRPr/>
            </a:pPr>
            <a:endParaRPr lang="pt-BR" sz="2000" dirty="0">
              <a:latin typeface="+mj-lt"/>
            </a:endParaRPr>
          </a:p>
          <a:p>
            <a:pPr marL="177800" indent="-177800" algn="just">
              <a:buFont typeface="Arial" pitchFamily="34" charset="0"/>
              <a:buChar char="•"/>
              <a:defRPr/>
            </a:pPr>
            <a:r>
              <a:rPr lang="pt-BR" sz="2000" dirty="0">
                <a:latin typeface="+mj-lt"/>
              </a:rPr>
              <a:t>As classes abstratas podem ou não conter métodos abstratos, ou seja, uma classe abstrata pode implementar ou não um método.</a:t>
            </a:r>
          </a:p>
          <a:p>
            <a:pPr marL="177800" indent="-177800" algn="just">
              <a:buFont typeface="Arial" pitchFamily="34" charset="0"/>
              <a:buChar char="•"/>
              <a:defRPr/>
            </a:pPr>
            <a:endParaRPr lang="pt-BR" sz="2000" dirty="0">
              <a:latin typeface="+mj-lt"/>
            </a:endParaRPr>
          </a:p>
          <a:p>
            <a:pPr marL="177800" indent="-177800" algn="just">
              <a:buFont typeface="Arial" pitchFamily="34" charset="0"/>
              <a:buChar char="•"/>
              <a:defRPr/>
            </a:pPr>
            <a:r>
              <a:rPr lang="pt-BR" sz="2000" dirty="0">
                <a:latin typeface="+mj-lt"/>
              </a:rPr>
              <a:t>Para criarmos uma classe ou método abstrato usamos a palavra reservada </a:t>
            </a:r>
            <a:r>
              <a:rPr lang="pt-BR" sz="2000" b="1" i="1" dirty="0">
                <a:latin typeface="+mj-lt"/>
              </a:rPr>
              <a:t>abstract</a:t>
            </a:r>
            <a:r>
              <a:rPr lang="pt-BR" sz="2000" dirty="0">
                <a:latin typeface="+mj-lt"/>
              </a:rPr>
              <a:t>.</a:t>
            </a:r>
          </a:p>
        </p:txBody>
      </p:sp>
      <p:sp>
        <p:nvSpPr>
          <p:cNvPr id="7" name="CaixaDeTexto 6">
            <a:extLst>
              <a:ext uri="{FF2B5EF4-FFF2-40B4-BE49-F238E27FC236}">
                <a16:creationId xmlns:a16="http://schemas.microsoft.com/office/drawing/2014/main" id="{64CAF3B7-FD2C-45CC-A255-C2FE0DC38978}"/>
              </a:ext>
            </a:extLst>
          </p:cNvPr>
          <p:cNvSpPr txBox="1"/>
          <p:nvPr/>
        </p:nvSpPr>
        <p:spPr>
          <a:xfrm>
            <a:off x="4432016" y="1408114"/>
            <a:ext cx="3158109" cy="461665"/>
          </a:xfrm>
          <a:prstGeom prst="rect">
            <a:avLst/>
          </a:prstGeom>
          <a:noFill/>
        </p:spPr>
        <p:txBody>
          <a:bodyPr wrap="none">
            <a:spAutoFit/>
          </a:bodyPr>
          <a:lstStyle/>
          <a:p>
            <a:pPr algn="ctr">
              <a:defRPr/>
            </a:pPr>
            <a:r>
              <a:rPr lang="pt-BR" sz="2400" b="1" dirty="0">
                <a:latin typeface="+mj-lt"/>
              </a:rPr>
              <a:t>CLASSES ABSTRATAS</a:t>
            </a:r>
          </a:p>
        </p:txBody>
      </p:sp>
    </p:spTree>
    <p:extLst>
      <p:ext uri="{BB962C8B-B14F-4D97-AF65-F5344CB8AC3E}">
        <p14:creationId xmlns:p14="http://schemas.microsoft.com/office/powerpoint/2010/main" val="17460030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D60582BE-B414-4899-AE0E-C9A28368FDED}"/>
              </a:ext>
            </a:extLst>
          </p:cNvPr>
          <p:cNvSpPr txBox="1"/>
          <p:nvPr/>
        </p:nvSpPr>
        <p:spPr>
          <a:xfrm>
            <a:off x="4698851" y="1408114"/>
            <a:ext cx="2624436" cy="461665"/>
          </a:xfrm>
          <a:prstGeom prst="rect">
            <a:avLst/>
          </a:prstGeom>
          <a:noFill/>
        </p:spPr>
        <p:txBody>
          <a:bodyPr wrap="none">
            <a:spAutoFit/>
          </a:bodyPr>
          <a:lstStyle/>
          <a:p>
            <a:pPr algn="ctr">
              <a:defRPr/>
            </a:pPr>
            <a:r>
              <a:rPr lang="pt-BR" sz="2400" b="1" dirty="0">
                <a:latin typeface="+mj-lt"/>
              </a:rPr>
              <a:t>RECAPITULANDO</a:t>
            </a:r>
          </a:p>
        </p:txBody>
      </p:sp>
      <p:sp>
        <p:nvSpPr>
          <p:cNvPr id="5" name="CaixaDeTexto 4">
            <a:extLst>
              <a:ext uri="{FF2B5EF4-FFF2-40B4-BE49-F238E27FC236}">
                <a16:creationId xmlns:a16="http://schemas.microsoft.com/office/drawing/2014/main" id="{D575BD9C-2A7B-4E55-8BFE-3AB33F4B7C0F}"/>
              </a:ext>
            </a:extLst>
          </p:cNvPr>
          <p:cNvSpPr txBox="1">
            <a:spLocks noChangeArrowheads="1"/>
          </p:cNvSpPr>
          <p:nvPr/>
        </p:nvSpPr>
        <p:spPr bwMode="auto">
          <a:xfrm>
            <a:off x="2000250" y="2217738"/>
            <a:ext cx="8102600" cy="3338512"/>
          </a:xfrm>
          <a:prstGeom prst="rect">
            <a:avLst/>
          </a:prstGeom>
          <a:noFill/>
          <a:ln w="9525">
            <a:noFill/>
            <a:miter lim="800000"/>
            <a:headEnd/>
            <a:tailEnd/>
          </a:ln>
        </p:spPr>
        <p:txBody>
          <a:bodyPr>
            <a:spAutoFit/>
          </a:bodyPr>
          <a:lstStyle/>
          <a:p>
            <a:pPr marL="177800" indent="-177800" algn="just">
              <a:lnSpc>
                <a:spcPct val="200000"/>
              </a:lnSpc>
              <a:defRPr/>
            </a:pPr>
            <a:r>
              <a:rPr lang="pt-BR" dirty="0"/>
              <a:t>Uma classe abstrata jamais será instanciada, apenas herdada.</a:t>
            </a:r>
          </a:p>
          <a:p>
            <a:pPr marL="177800" indent="-177800" algn="just">
              <a:lnSpc>
                <a:spcPct val="200000"/>
              </a:lnSpc>
              <a:defRPr/>
            </a:pPr>
            <a:endParaRPr lang="pt-BR" b="1" dirty="0"/>
          </a:p>
          <a:p>
            <a:pPr marL="177800" indent="-177800" algn="just">
              <a:lnSpc>
                <a:spcPct val="200000"/>
              </a:lnSpc>
              <a:defRPr/>
            </a:pPr>
            <a:r>
              <a:rPr lang="pt-BR" b="1" dirty="0"/>
              <a:t>Se uma classe abstrata não pode ser instanciada, para que serve?</a:t>
            </a:r>
          </a:p>
          <a:p>
            <a:pPr algn="just">
              <a:lnSpc>
                <a:spcPct val="200000"/>
              </a:lnSpc>
              <a:defRPr/>
            </a:pPr>
            <a:r>
              <a:rPr lang="pt-BR" dirty="0"/>
              <a:t>Serve para definir um padrão para as classes concretas. Todas as classes que herdarem uma determinada classe abstrata, deverá conter os atributos e métodos da superclasse e poderá implementar seus próprios atributos e métodos.</a:t>
            </a:r>
          </a:p>
        </p:txBody>
      </p:sp>
    </p:spTree>
    <p:extLst>
      <p:ext uri="{BB962C8B-B14F-4D97-AF65-F5344CB8AC3E}">
        <p14:creationId xmlns:p14="http://schemas.microsoft.com/office/powerpoint/2010/main" val="28301073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B648AF58-2B18-4FA5-9C8C-2572AE824A55}"/>
              </a:ext>
            </a:extLst>
          </p:cNvPr>
          <p:cNvSpPr txBox="1"/>
          <p:nvPr/>
        </p:nvSpPr>
        <p:spPr>
          <a:xfrm>
            <a:off x="4323044" y="1408114"/>
            <a:ext cx="3376053" cy="461665"/>
          </a:xfrm>
          <a:prstGeom prst="rect">
            <a:avLst/>
          </a:prstGeom>
          <a:noFill/>
        </p:spPr>
        <p:txBody>
          <a:bodyPr wrap="none">
            <a:spAutoFit/>
          </a:bodyPr>
          <a:lstStyle/>
          <a:p>
            <a:pPr algn="ctr">
              <a:defRPr/>
            </a:pPr>
            <a:r>
              <a:rPr lang="pt-BR" sz="2400" b="1" dirty="0">
                <a:latin typeface="+mj-lt"/>
              </a:rPr>
              <a:t>MÉTODOS ABSTRATOS</a:t>
            </a:r>
          </a:p>
        </p:txBody>
      </p:sp>
      <p:sp>
        <p:nvSpPr>
          <p:cNvPr id="24580" name="CaixaDeTexto 4">
            <a:extLst>
              <a:ext uri="{FF2B5EF4-FFF2-40B4-BE49-F238E27FC236}">
                <a16:creationId xmlns:a16="http://schemas.microsoft.com/office/drawing/2014/main" id="{AE438905-4C26-4BBE-9597-BB301FE293F7}"/>
              </a:ext>
            </a:extLst>
          </p:cNvPr>
          <p:cNvSpPr txBox="1">
            <a:spLocks noChangeArrowheads="1"/>
          </p:cNvSpPr>
          <p:nvPr/>
        </p:nvSpPr>
        <p:spPr bwMode="auto">
          <a:xfrm>
            <a:off x="2019300" y="2384426"/>
            <a:ext cx="8102600" cy="211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lgn="just" eaLnBrk="1" hangingPunct="1">
              <a:lnSpc>
                <a:spcPct val="130000"/>
              </a:lnSpc>
              <a:spcBef>
                <a:spcPct val="0"/>
              </a:spcBef>
              <a:buFontTx/>
              <a:buNone/>
            </a:pPr>
            <a:r>
              <a:rPr lang="pt-BR" altLang="pt-BR" sz="2100">
                <a:ea typeface="ヒラギノ角ゴ Pro W3" charset="-128"/>
              </a:rPr>
              <a:t>Somente sua assinatura (cabeçalho) será declarada nas classes abstratas.</a:t>
            </a:r>
          </a:p>
          <a:p>
            <a:pPr algn="just" eaLnBrk="1" hangingPunct="1">
              <a:lnSpc>
                <a:spcPct val="130000"/>
              </a:lnSpc>
              <a:spcBef>
                <a:spcPct val="0"/>
              </a:spcBef>
              <a:buFontTx/>
              <a:buNone/>
            </a:pPr>
            <a:endParaRPr lang="pt-BR" altLang="pt-BR" sz="2000">
              <a:ea typeface="ヒラギノ角ゴ Pro W3" charset="-128"/>
            </a:endParaRPr>
          </a:p>
          <a:p>
            <a:pPr algn="just" eaLnBrk="1" hangingPunct="1">
              <a:lnSpc>
                <a:spcPct val="130000"/>
              </a:lnSpc>
              <a:spcBef>
                <a:spcPct val="0"/>
              </a:spcBef>
              <a:buFontTx/>
              <a:buNone/>
            </a:pPr>
            <a:r>
              <a:rPr lang="pt-BR" altLang="pt-BR" sz="2000">
                <a:ea typeface="ヒラギノ角ゴ Pro W3" charset="-128"/>
              </a:rPr>
              <a:t>Um método abstrato define apenas a assinatura do método e, portanto, não contém código, mas a classe concreta que herdar tal classe abstrata deverá implementar todos os métodos abstratos</a:t>
            </a:r>
            <a:endParaRPr lang="pt-BR" altLang="pt-BR" sz="2100">
              <a:ea typeface="ヒラギノ角ゴ Pro W3" charset="-128"/>
            </a:endParaRPr>
          </a:p>
        </p:txBody>
      </p:sp>
    </p:spTree>
    <p:extLst>
      <p:ext uri="{BB962C8B-B14F-4D97-AF65-F5344CB8AC3E}">
        <p14:creationId xmlns:p14="http://schemas.microsoft.com/office/powerpoint/2010/main" val="397351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E1ACF4DD-C83F-4D99-A933-FF7C3E63857E}"/>
              </a:ext>
            </a:extLst>
          </p:cNvPr>
          <p:cNvSpPr txBox="1"/>
          <p:nvPr/>
        </p:nvSpPr>
        <p:spPr>
          <a:xfrm>
            <a:off x="4347793" y="1408114"/>
            <a:ext cx="3326552" cy="461665"/>
          </a:xfrm>
          <a:prstGeom prst="rect">
            <a:avLst/>
          </a:prstGeom>
          <a:noFill/>
        </p:spPr>
        <p:txBody>
          <a:bodyPr wrap="none">
            <a:spAutoFit/>
          </a:bodyPr>
          <a:lstStyle/>
          <a:p>
            <a:pPr algn="ctr">
              <a:defRPr/>
            </a:pPr>
            <a:r>
              <a:rPr lang="pt-BR" sz="2400" b="1" dirty="0">
                <a:latin typeface="+mj-lt"/>
              </a:rPr>
              <a:t>EXPLICANDO MELHOR</a:t>
            </a:r>
          </a:p>
        </p:txBody>
      </p:sp>
      <p:sp>
        <p:nvSpPr>
          <p:cNvPr id="25604" name="CaixaDeTexto 4">
            <a:extLst>
              <a:ext uri="{FF2B5EF4-FFF2-40B4-BE49-F238E27FC236}">
                <a16:creationId xmlns:a16="http://schemas.microsoft.com/office/drawing/2014/main" id="{89674EE7-2F02-4F3E-8FE6-11B8A1785BD3}"/>
              </a:ext>
            </a:extLst>
          </p:cNvPr>
          <p:cNvSpPr txBox="1">
            <a:spLocks noChangeArrowheads="1"/>
          </p:cNvSpPr>
          <p:nvPr/>
        </p:nvSpPr>
        <p:spPr bwMode="auto">
          <a:xfrm>
            <a:off x="2019300" y="2044701"/>
            <a:ext cx="8242300"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lgn="just" eaLnBrk="1" hangingPunct="1">
              <a:lnSpc>
                <a:spcPct val="130000"/>
              </a:lnSpc>
              <a:spcBef>
                <a:spcPct val="0"/>
              </a:spcBef>
              <a:buFontTx/>
              <a:buNone/>
            </a:pPr>
            <a:r>
              <a:rPr lang="pt-BR" altLang="pt-BR" sz="2000">
                <a:ea typeface="ヒラギノ角ゴ Pro W3" charset="-128"/>
              </a:rPr>
              <a:t>O objetivo principal de uma classe abstrata é ter métodos abstratos que obrigatoriamente deverão ser implementados nas classes concretas que herdarem a classe abstrata em questão.</a:t>
            </a:r>
          </a:p>
        </p:txBody>
      </p:sp>
      <p:pic>
        <p:nvPicPr>
          <p:cNvPr id="25605" name="Imagem 6" descr="carros-coloridos-vetor-9892964.jpg">
            <a:extLst>
              <a:ext uri="{FF2B5EF4-FFF2-40B4-BE49-F238E27FC236}">
                <a16:creationId xmlns:a16="http://schemas.microsoft.com/office/drawing/2014/main" id="{DEF005CF-E364-4CAA-A8BA-BC34BC1DD829}"/>
              </a:ext>
            </a:extLst>
          </p:cNvPr>
          <p:cNvPicPr>
            <a:picLocks noChangeAspect="1"/>
          </p:cNvPicPr>
          <p:nvPr/>
        </p:nvPicPr>
        <p:blipFill>
          <a:blip r:embed="rId2">
            <a:grayscl/>
            <a:extLst>
              <a:ext uri="{28A0092B-C50C-407E-A947-70E740481C1C}">
                <a14:useLocalDpi xmlns:a14="http://schemas.microsoft.com/office/drawing/2010/main" val="0"/>
              </a:ext>
            </a:extLst>
          </a:blip>
          <a:srcRect t="8742" r="50266" b="49982"/>
          <a:stretch>
            <a:fillRect/>
          </a:stretch>
        </p:blipFill>
        <p:spPr bwMode="auto">
          <a:xfrm>
            <a:off x="2417763" y="3589339"/>
            <a:ext cx="944562"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Conector de seta reta 7">
            <a:extLst>
              <a:ext uri="{FF2B5EF4-FFF2-40B4-BE49-F238E27FC236}">
                <a16:creationId xmlns:a16="http://schemas.microsoft.com/office/drawing/2014/main" id="{F08B81B0-281A-4549-8DBA-5F0AD7EC6291}"/>
              </a:ext>
            </a:extLst>
          </p:cNvPr>
          <p:cNvCxnSpPr/>
          <p:nvPr/>
        </p:nvCxnSpPr>
        <p:spPr>
          <a:xfrm>
            <a:off x="2921000" y="4572000"/>
            <a:ext cx="0" cy="2794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5607" name="CaixaDeTexto 9">
            <a:extLst>
              <a:ext uri="{FF2B5EF4-FFF2-40B4-BE49-F238E27FC236}">
                <a16:creationId xmlns:a16="http://schemas.microsoft.com/office/drawing/2014/main" id="{18A84CDE-2122-4019-A232-D4DB89E39C0C}"/>
              </a:ext>
            </a:extLst>
          </p:cNvPr>
          <p:cNvSpPr txBox="1">
            <a:spLocks noChangeArrowheads="1"/>
          </p:cNvSpPr>
          <p:nvPr/>
        </p:nvSpPr>
        <p:spPr bwMode="auto">
          <a:xfrm>
            <a:off x="4287838" y="3473451"/>
            <a:ext cx="5973762"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lgn="just" eaLnBrk="1" hangingPunct="1">
              <a:lnSpc>
                <a:spcPct val="150000"/>
              </a:lnSpc>
              <a:spcBef>
                <a:spcPct val="0"/>
              </a:spcBef>
              <a:buFontTx/>
              <a:buNone/>
            </a:pPr>
            <a:r>
              <a:rPr lang="pt-BR" altLang="pt-BR" sz="2000">
                <a:ea typeface="ヒラギノ角ゴ Pro W3" charset="-128"/>
              </a:rPr>
              <a:t>Podemos criar uma classe abstrata chamada Veiculo, que pode ter dois atributos como marca e modelo e um método chamado abastecer. A partir daí, qualquer veículo que herdar esta classe abstrata deverá obrigatoriamente informar qual é a marca e o modelo e implementar o método abastecer.</a:t>
            </a:r>
          </a:p>
        </p:txBody>
      </p:sp>
      <p:pic>
        <p:nvPicPr>
          <p:cNvPr id="25608" name="Imagem 8" descr="caminhão.jpg">
            <a:extLst>
              <a:ext uri="{FF2B5EF4-FFF2-40B4-BE49-F238E27FC236}">
                <a16:creationId xmlns:a16="http://schemas.microsoft.com/office/drawing/2014/main" id="{41322A4B-27AE-4C3E-88A1-54D7903CD05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63726" y="4921251"/>
            <a:ext cx="1057275"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9" name="Imagem 9" descr="carro.png">
            <a:extLst>
              <a:ext uri="{FF2B5EF4-FFF2-40B4-BE49-F238E27FC236}">
                <a16:creationId xmlns:a16="http://schemas.microsoft.com/office/drawing/2014/main" id="{598E738F-57B9-45D9-A463-018FC2765FC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863726" y="5661026"/>
            <a:ext cx="714375"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0" name="Imagem 10" descr="moto.png">
            <a:extLst>
              <a:ext uri="{FF2B5EF4-FFF2-40B4-BE49-F238E27FC236}">
                <a16:creationId xmlns:a16="http://schemas.microsoft.com/office/drawing/2014/main" id="{D4434C8F-DF54-4F82-8F6B-8DD774745DF6}"/>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116263" y="5053013"/>
            <a:ext cx="577850" cy="53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1" name="Imagem 11" descr="onibus.gif">
            <a:extLst>
              <a:ext uri="{FF2B5EF4-FFF2-40B4-BE49-F238E27FC236}">
                <a16:creationId xmlns:a16="http://schemas.microsoft.com/office/drawing/2014/main" id="{594D8701-DA59-4E38-9F27-EC3B1930FD40}"/>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889251" y="5713414"/>
            <a:ext cx="1031875"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12" name="CaixaDeTexto 12">
            <a:extLst>
              <a:ext uri="{FF2B5EF4-FFF2-40B4-BE49-F238E27FC236}">
                <a16:creationId xmlns:a16="http://schemas.microsoft.com/office/drawing/2014/main" id="{3825273A-C5A7-4D2C-84F9-2F3AAD72003C}"/>
              </a:ext>
            </a:extLst>
          </p:cNvPr>
          <p:cNvSpPr txBox="1">
            <a:spLocks noChangeArrowheads="1"/>
          </p:cNvSpPr>
          <p:nvPr/>
        </p:nvSpPr>
        <p:spPr bwMode="auto">
          <a:xfrm>
            <a:off x="2476500" y="4102100"/>
            <a:ext cx="9286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eaLnBrk="1" hangingPunct="1">
              <a:spcBef>
                <a:spcPct val="0"/>
              </a:spcBef>
              <a:buFontTx/>
              <a:buNone/>
            </a:pPr>
            <a:r>
              <a:rPr lang="pt-BR" altLang="pt-BR" sz="1800">
                <a:latin typeface="Arial" panose="020B0604020202020204" pitchFamily="34" charset="0"/>
                <a:ea typeface="ヒラギノ角ゴ Pro W3" charset="-128"/>
              </a:rPr>
              <a:t>Veiculo</a:t>
            </a:r>
          </a:p>
        </p:txBody>
      </p:sp>
    </p:spTree>
    <p:extLst>
      <p:ext uri="{BB962C8B-B14F-4D97-AF65-F5344CB8AC3E}">
        <p14:creationId xmlns:p14="http://schemas.microsoft.com/office/powerpoint/2010/main" val="3794766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ixaDeTexto 6">
            <a:extLst>
              <a:ext uri="{FF2B5EF4-FFF2-40B4-BE49-F238E27FC236}">
                <a16:creationId xmlns:a16="http://schemas.microsoft.com/office/drawing/2014/main" id="{16863558-2060-4459-AFEC-FC48CDB83FF6}"/>
              </a:ext>
            </a:extLst>
          </p:cNvPr>
          <p:cNvSpPr txBox="1"/>
          <p:nvPr/>
        </p:nvSpPr>
        <p:spPr>
          <a:xfrm>
            <a:off x="4447309" y="1408114"/>
            <a:ext cx="3127523" cy="461665"/>
          </a:xfrm>
          <a:prstGeom prst="rect">
            <a:avLst/>
          </a:prstGeom>
          <a:noFill/>
        </p:spPr>
        <p:txBody>
          <a:bodyPr wrap="none">
            <a:spAutoFit/>
          </a:bodyPr>
          <a:lstStyle/>
          <a:p>
            <a:pPr algn="ctr">
              <a:defRPr/>
            </a:pPr>
            <a:r>
              <a:rPr lang="pt-BR" sz="2400" b="1" dirty="0">
                <a:latin typeface="+mj-lt"/>
              </a:rPr>
              <a:t>VAMOS AO EXEMPLO</a:t>
            </a:r>
          </a:p>
        </p:txBody>
      </p:sp>
      <p:pic>
        <p:nvPicPr>
          <p:cNvPr id="26628" name="Picture 5">
            <a:extLst>
              <a:ext uri="{FF2B5EF4-FFF2-40B4-BE49-F238E27FC236}">
                <a16:creationId xmlns:a16="http://schemas.microsoft.com/office/drawing/2014/main" id="{F99DE097-46C2-40C5-AAE7-8CCC6D004A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4539" y="1870075"/>
            <a:ext cx="5589587" cy="453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014617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CaixaDeTexto 9">
            <a:extLst>
              <a:ext uri="{FF2B5EF4-FFF2-40B4-BE49-F238E27FC236}">
                <a16:creationId xmlns:a16="http://schemas.microsoft.com/office/drawing/2014/main" id="{73A7380B-87C1-451A-9363-DDA3AA0BD628}"/>
              </a:ext>
            </a:extLst>
          </p:cNvPr>
          <p:cNvSpPr txBox="1">
            <a:spLocks noChangeArrowheads="1"/>
          </p:cNvSpPr>
          <p:nvPr/>
        </p:nvSpPr>
        <p:spPr bwMode="auto">
          <a:xfrm>
            <a:off x="6256338" y="2611438"/>
            <a:ext cx="3759200"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lgn="just" eaLnBrk="1" hangingPunct="1">
              <a:lnSpc>
                <a:spcPct val="150000"/>
              </a:lnSpc>
              <a:spcBef>
                <a:spcPct val="0"/>
              </a:spcBef>
              <a:buFontTx/>
              <a:buNone/>
            </a:pPr>
            <a:r>
              <a:rPr lang="pt-BR" altLang="pt-BR" sz="2000">
                <a:ea typeface="ヒラギノ角ゴ Pro W3" charset="-128"/>
              </a:rPr>
              <a:t>Primeiro criamos a classe abstrata Veiculo e os atributos marca e modelo. Criamos também um método abstrato chamado abastecer.</a:t>
            </a:r>
          </a:p>
        </p:txBody>
      </p:sp>
      <p:pic>
        <p:nvPicPr>
          <p:cNvPr id="3" name="Imagem 2">
            <a:extLst>
              <a:ext uri="{FF2B5EF4-FFF2-40B4-BE49-F238E27FC236}">
                <a16:creationId xmlns:a16="http://schemas.microsoft.com/office/drawing/2014/main" id="{7C48CA45-1955-4876-9880-F325362C7591}"/>
              </a:ext>
            </a:extLst>
          </p:cNvPr>
          <p:cNvPicPr>
            <a:picLocks noChangeAspect="1"/>
          </p:cNvPicPr>
          <p:nvPr/>
        </p:nvPicPr>
        <p:blipFill>
          <a:blip r:embed="rId2"/>
          <a:stretch>
            <a:fillRect/>
          </a:stretch>
        </p:blipFill>
        <p:spPr>
          <a:xfrm>
            <a:off x="1901372" y="506014"/>
            <a:ext cx="3883470" cy="5845972"/>
          </a:xfrm>
          <a:prstGeom prst="rect">
            <a:avLst/>
          </a:prstGeom>
        </p:spPr>
      </p:pic>
    </p:spTree>
    <p:extLst>
      <p:ext uri="{BB962C8B-B14F-4D97-AF65-F5344CB8AC3E}">
        <p14:creationId xmlns:p14="http://schemas.microsoft.com/office/powerpoint/2010/main" val="197517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CaixaDeTexto 9">
            <a:extLst>
              <a:ext uri="{FF2B5EF4-FFF2-40B4-BE49-F238E27FC236}">
                <a16:creationId xmlns:a16="http://schemas.microsoft.com/office/drawing/2014/main" id="{D3F8EAB1-A709-44D8-9A88-6F3F97FB2CB7}"/>
              </a:ext>
            </a:extLst>
          </p:cNvPr>
          <p:cNvSpPr txBox="1">
            <a:spLocks noChangeArrowheads="1"/>
          </p:cNvSpPr>
          <p:nvPr/>
        </p:nvSpPr>
        <p:spPr bwMode="auto">
          <a:xfrm>
            <a:off x="7564517" y="1279824"/>
            <a:ext cx="3759200" cy="4199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lgn="just" eaLnBrk="1" hangingPunct="1">
              <a:lnSpc>
                <a:spcPct val="150000"/>
              </a:lnSpc>
              <a:spcBef>
                <a:spcPct val="0"/>
              </a:spcBef>
              <a:buFontTx/>
              <a:buNone/>
            </a:pPr>
            <a:r>
              <a:rPr lang="pt-BR" altLang="pt-BR" sz="2000" dirty="0">
                <a:ea typeface="ヒラギノ角ゴ Pro W3" charset="-128"/>
              </a:rPr>
              <a:t>A classe Carro está herdando a classe Veiculo e implementando um novo atributo.</a:t>
            </a:r>
          </a:p>
          <a:p>
            <a:pPr algn="just" eaLnBrk="1" hangingPunct="1">
              <a:lnSpc>
                <a:spcPct val="150000"/>
              </a:lnSpc>
              <a:spcBef>
                <a:spcPct val="0"/>
              </a:spcBef>
              <a:buFontTx/>
              <a:buNone/>
            </a:pPr>
            <a:endParaRPr lang="pt-BR" altLang="pt-BR" sz="2000" dirty="0">
              <a:ea typeface="ヒラギノ角ゴ Pro W3" charset="-128"/>
            </a:endParaRPr>
          </a:p>
          <a:p>
            <a:pPr algn="just">
              <a:lnSpc>
                <a:spcPct val="150000"/>
              </a:lnSpc>
              <a:spcBef>
                <a:spcPct val="0"/>
              </a:spcBef>
              <a:buNone/>
            </a:pPr>
            <a:r>
              <a:rPr lang="pt-BR" altLang="pt-BR" sz="2000" dirty="0">
                <a:ea typeface="ヒラギノ角ゴ Pro W3" charset="-128"/>
              </a:rPr>
              <a:t>E para isso NÃO pode esquecer de importar a classe Veiculo;</a:t>
            </a:r>
          </a:p>
          <a:p>
            <a:pPr algn="just" eaLnBrk="1" hangingPunct="1">
              <a:lnSpc>
                <a:spcPct val="150000"/>
              </a:lnSpc>
              <a:spcBef>
                <a:spcPct val="0"/>
              </a:spcBef>
              <a:buFontTx/>
              <a:buNone/>
            </a:pPr>
            <a:endParaRPr lang="pt-BR" altLang="pt-BR" sz="2000" dirty="0">
              <a:ea typeface="ヒラギノ角ゴ Pro W3" charset="-128"/>
            </a:endParaRPr>
          </a:p>
          <a:p>
            <a:pPr algn="just" eaLnBrk="1" hangingPunct="1">
              <a:lnSpc>
                <a:spcPct val="150000"/>
              </a:lnSpc>
              <a:spcBef>
                <a:spcPct val="0"/>
              </a:spcBef>
              <a:buFontTx/>
              <a:buNone/>
            </a:pPr>
            <a:r>
              <a:rPr lang="pt-BR" altLang="pt-BR" sz="2000" dirty="0">
                <a:ea typeface="ヒラギノ角ゴ Pro W3" charset="-128"/>
              </a:rPr>
              <a:t>O método abastecer deve ser obrigatoriamente implementado.</a:t>
            </a:r>
          </a:p>
        </p:txBody>
      </p:sp>
      <p:pic>
        <p:nvPicPr>
          <p:cNvPr id="5" name="Imagem 4">
            <a:extLst>
              <a:ext uri="{FF2B5EF4-FFF2-40B4-BE49-F238E27FC236}">
                <a16:creationId xmlns:a16="http://schemas.microsoft.com/office/drawing/2014/main" id="{A2483F40-B129-40ED-B918-447A7596527B}"/>
              </a:ext>
            </a:extLst>
          </p:cNvPr>
          <p:cNvPicPr>
            <a:picLocks noChangeAspect="1"/>
          </p:cNvPicPr>
          <p:nvPr/>
        </p:nvPicPr>
        <p:blipFill>
          <a:blip r:embed="rId2"/>
          <a:stretch>
            <a:fillRect/>
          </a:stretch>
        </p:blipFill>
        <p:spPr>
          <a:xfrm>
            <a:off x="1335914" y="460060"/>
            <a:ext cx="5666677" cy="5839140"/>
          </a:xfrm>
          <a:prstGeom prst="rect">
            <a:avLst/>
          </a:prstGeom>
        </p:spPr>
      </p:pic>
    </p:spTree>
    <p:extLst>
      <p:ext uri="{BB962C8B-B14F-4D97-AF65-F5344CB8AC3E}">
        <p14:creationId xmlns:p14="http://schemas.microsoft.com/office/powerpoint/2010/main" val="2349402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CaixaDeTexto 9">
            <a:extLst>
              <a:ext uri="{FF2B5EF4-FFF2-40B4-BE49-F238E27FC236}">
                <a16:creationId xmlns:a16="http://schemas.microsoft.com/office/drawing/2014/main" id="{5C5FD42E-45CD-44E4-AF1D-60A9365C37F1}"/>
              </a:ext>
            </a:extLst>
          </p:cNvPr>
          <p:cNvSpPr txBox="1">
            <a:spLocks noChangeArrowheads="1"/>
          </p:cNvSpPr>
          <p:nvPr/>
        </p:nvSpPr>
        <p:spPr bwMode="auto">
          <a:xfrm>
            <a:off x="7562623" y="1952625"/>
            <a:ext cx="3759200" cy="4199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lgn="just" eaLnBrk="1" hangingPunct="1">
              <a:lnSpc>
                <a:spcPct val="150000"/>
              </a:lnSpc>
              <a:spcBef>
                <a:spcPct val="0"/>
              </a:spcBef>
              <a:buFontTx/>
              <a:buNone/>
            </a:pPr>
            <a:r>
              <a:rPr lang="pt-BR" altLang="pt-BR" sz="2000" dirty="0">
                <a:ea typeface="ヒラギノ角ゴ Pro W3" charset="-128"/>
              </a:rPr>
              <a:t>A classe Moto está herdando a classe Veiculo e implementando um novo atributo.</a:t>
            </a:r>
          </a:p>
          <a:p>
            <a:pPr algn="just" eaLnBrk="1" hangingPunct="1">
              <a:lnSpc>
                <a:spcPct val="150000"/>
              </a:lnSpc>
              <a:spcBef>
                <a:spcPct val="0"/>
              </a:spcBef>
              <a:buFontTx/>
              <a:buNone/>
            </a:pPr>
            <a:endParaRPr lang="pt-BR" altLang="pt-BR" sz="2000" dirty="0">
              <a:ea typeface="ヒラギノ角ゴ Pro W3" charset="-128"/>
            </a:endParaRPr>
          </a:p>
          <a:p>
            <a:pPr algn="just" eaLnBrk="1" hangingPunct="1">
              <a:lnSpc>
                <a:spcPct val="150000"/>
              </a:lnSpc>
              <a:spcBef>
                <a:spcPct val="0"/>
              </a:spcBef>
              <a:buFontTx/>
              <a:buNone/>
            </a:pPr>
            <a:r>
              <a:rPr lang="pt-BR" altLang="pt-BR" sz="2000" dirty="0">
                <a:ea typeface="ヒラギノ角ゴ Pro W3" charset="-128"/>
              </a:rPr>
              <a:t>E para isso NÃO pode esquecer de importar a classe Veiculo;</a:t>
            </a:r>
          </a:p>
          <a:p>
            <a:pPr algn="just" eaLnBrk="1" hangingPunct="1">
              <a:lnSpc>
                <a:spcPct val="150000"/>
              </a:lnSpc>
              <a:spcBef>
                <a:spcPct val="0"/>
              </a:spcBef>
              <a:buFontTx/>
              <a:buNone/>
            </a:pPr>
            <a:endParaRPr lang="pt-BR" altLang="pt-BR" sz="2000" dirty="0">
              <a:ea typeface="ヒラギノ角ゴ Pro W3" charset="-128"/>
            </a:endParaRPr>
          </a:p>
          <a:p>
            <a:pPr algn="just">
              <a:lnSpc>
                <a:spcPct val="150000"/>
              </a:lnSpc>
              <a:spcBef>
                <a:spcPct val="0"/>
              </a:spcBef>
              <a:buNone/>
            </a:pPr>
            <a:r>
              <a:rPr lang="pt-BR" altLang="pt-BR" sz="2000" dirty="0">
                <a:ea typeface="ヒラギノ角ゴ Pro W3" charset="-128"/>
              </a:rPr>
              <a:t>O método abastecer deve ser obrigatoriamente implementado.</a:t>
            </a:r>
          </a:p>
        </p:txBody>
      </p:sp>
      <p:pic>
        <p:nvPicPr>
          <p:cNvPr id="5" name="Imagem 4">
            <a:extLst>
              <a:ext uri="{FF2B5EF4-FFF2-40B4-BE49-F238E27FC236}">
                <a16:creationId xmlns:a16="http://schemas.microsoft.com/office/drawing/2014/main" id="{A29989FB-01F8-454D-895C-2E1C7D8F4A4D}"/>
              </a:ext>
            </a:extLst>
          </p:cNvPr>
          <p:cNvPicPr>
            <a:picLocks noChangeAspect="1"/>
          </p:cNvPicPr>
          <p:nvPr/>
        </p:nvPicPr>
        <p:blipFill>
          <a:blip r:embed="rId2"/>
          <a:stretch>
            <a:fillRect/>
          </a:stretch>
        </p:blipFill>
        <p:spPr>
          <a:xfrm>
            <a:off x="1384927" y="1093405"/>
            <a:ext cx="5269701" cy="5392252"/>
          </a:xfrm>
          <a:prstGeom prst="rect">
            <a:avLst/>
          </a:prstGeom>
        </p:spPr>
      </p:pic>
    </p:spTree>
    <p:extLst>
      <p:ext uri="{BB962C8B-B14F-4D97-AF65-F5344CB8AC3E}">
        <p14:creationId xmlns:p14="http://schemas.microsoft.com/office/powerpoint/2010/main" val="13712856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CaixaDeTexto 9">
            <a:extLst>
              <a:ext uri="{FF2B5EF4-FFF2-40B4-BE49-F238E27FC236}">
                <a16:creationId xmlns:a16="http://schemas.microsoft.com/office/drawing/2014/main" id="{5CDE7862-E2C7-4F79-B517-9DBEACFF1487}"/>
              </a:ext>
            </a:extLst>
          </p:cNvPr>
          <p:cNvSpPr txBox="1">
            <a:spLocks noChangeArrowheads="1"/>
          </p:cNvSpPr>
          <p:nvPr/>
        </p:nvSpPr>
        <p:spPr bwMode="auto">
          <a:xfrm>
            <a:off x="7647816" y="1896304"/>
            <a:ext cx="3759200" cy="4661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lgn="just" eaLnBrk="1" hangingPunct="1">
              <a:lnSpc>
                <a:spcPct val="150000"/>
              </a:lnSpc>
              <a:spcBef>
                <a:spcPct val="0"/>
              </a:spcBef>
              <a:buFontTx/>
              <a:buNone/>
            </a:pPr>
            <a:r>
              <a:rPr lang="pt-BR" altLang="pt-BR" sz="2000" dirty="0">
                <a:ea typeface="ヒラギノ角ゴ Pro W3" charset="-128"/>
              </a:rPr>
              <a:t>A classe </a:t>
            </a:r>
            <a:r>
              <a:rPr lang="pt-BR" altLang="pt-BR" sz="2000" dirty="0" err="1">
                <a:ea typeface="ヒラギノ角ゴ Pro W3" charset="-128"/>
              </a:rPr>
              <a:t>Onibus</a:t>
            </a:r>
            <a:r>
              <a:rPr lang="pt-BR" altLang="pt-BR" sz="2000" dirty="0">
                <a:ea typeface="ヒラギノ角ゴ Pro W3" charset="-128"/>
              </a:rPr>
              <a:t> está herdando a classe Veiculo e implementando um novo atributo.</a:t>
            </a:r>
          </a:p>
          <a:p>
            <a:pPr algn="just" eaLnBrk="1" hangingPunct="1">
              <a:lnSpc>
                <a:spcPct val="150000"/>
              </a:lnSpc>
              <a:spcBef>
                <a:spcPct val="0"/>
              </a:spcBef>
              <a:buFontTx/>
              <a:buNone/>
            </a:pPr>
            <a:endParaRPr lang="pt-BR" altLang="pt-BR" sz="2000" dirty="0">
              <a:ea typeface="ヒラギノ角ゴ Pro W3" charset="-128"/>
            </a:endParaRPr>
          </a:p>
          <a:p>
            <a:pPr algn="just" eaLnBrk="1" hangingPunct="1">
              <a:lnSpc>
                <a:spcPct val="150000"/>
              </a:lnSpc>
              <a:spcBef>
                <a:spcPct val="0"/>
              </a:spcBef>
              <a:buFontTx/>
              <a:buNone/>
            </a:pPr>
            <a:r>
              <a:rPr lang="pt-BR" altLang="pt-BR" sz="2000" dirty="0">
                <a:ea typeface="ヒラギノ角ゴ Pro W3" charset="-128"/>
              </a:rPr>
              <a:t>E para isso NÃO pode esquecer de importar a classe Veiculo;</a:t>
            </a:r>
          </a:p>
          <a:p>
            <a:pPr algn="just" eaLnBrk="1" hangingPunct="1">
              <a:lnSpc>
                <a:spcPct val="150000"/>
              </a:lnSpc>
              <a:spcBef>
                <a:spcPct val="0"/>
              </a:spcBef>
              <a:buFontTx/>
              <a:buNone/>
            </a:pPr>
            <a:endParaRPr lang="pt-BR" altLang="pt-BR" sz="2000" dirty="0">
              <a:ea typeface="ヒラギノ角ゴ Pro W3" charset="-128"/>
            </a:endParaRPr>
          </a:p>
          <a:p>
            <a:pPr algn="just">
              <a:lnSpc>
                <a:spcPct val="150000"/>
              </a:lnSpc>
              <a:spcBef>
                <a:spcPct val="0"/>
              </a:spcBef>
              <a:buNone/>
            </a:pPr>
            <a:r>
              <a:rPr lang="pt-BR" altLang="pt-BR" sz="2000" dirty="0">
                <a:ea typeface="ヒラギノ角ゴ Pro W3" charset="-128"/>
              </a:rPr>
              <a:t>O método abastecer deve ser obrigatoriamente implementado.</a:t>
            </a:r>
          </a:p>
          <a:p>
            <a:pPr algn="just" eaLnBrk="1" hangingPunct="1">
              <a:lnSpc>
                <a:spcPct val="150000"/>
              </a:lnSpc>
              <a:spcBef>
                <a:spcPct val="0"/>
              </a:spcBef>
              <a:buFontTx/>
              <a:buNone/>
            </a:pPr>
            <a:endParaRPr lang="pt-BR" altLang="pt-BR" sz="2000" dirty="0">
              <a:ea typeface="ヒラギノ角ゴ Pro W3" charset="-128"/>
            </a:endParaRPr>
          </a:p>
        </p:txBody>
      </p:sp>
      <p:pic>
        <p:nvPicPr>
          <p:cNvPr id="5" name="Imagem 4">
            <a:extLst>
              <a:ext uri="{FF2B5EF4-FFF2-40B4-BE49-F238E27FC236}">
                <a16:creationId xmlns:a16="http://schemas.microsoft.com/office/drawing/2014/main" id="{E3190CA9-C0E5-420E-A032-03D0A09FB3B8}"/>
              </a:ext>
            </a:extLst>
          </p:cNvPr>
          <p:cNvPicPr>
            <a:picLocks noChangeAspect="1"/>
          </p:cNvPicPr>
          <p:nvPr/>
        </p:nvPicPr>
        <p:blipFill>
          <a:blip r:embed="rId2"/>
          <a:stretch>
            <a:fillRect/>
          </a:stretch>
        </p:blipFill>
        <p:spPr>
          <a:xfrm>
            <a:off x="1482908" y="946629"/>
            <a:ext cx="5759721" cy="5376591"/>
          </a:xfrm>
          <a:prstGeom prst="rect">
            <a:avLst/>
          </a:prstGeom>
        </p:spPr>
      </p:pic>
    </p:spTree>
    <p:extLst>
      <p:ext uri="{BB962C8B-B14F-4D97-AF65-F5344CB8AC3E}">
        <p14:creationId xmlns:p14="http://schemas.microsoft.com/office/powerpoint/2010/main" val="1651396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CaixaDeTexto 9">
            <a:extLst>
              <a:ext uri="{FF2B5EF4-FFF2-40B4-BE49-F238E27FC236}">
                <a16:creationId xmlns:a16="http://schemas.microsoft.com/office/drawing/2014/main" id="{3C733084-B5C9-4270-BCD3-1DDFFC9C834E}"/>
              </a:ext>
            </a:extLst>
          </p:cNvPr>
          <p:cNvSpPr txBox="1">
            <a:spLocks noChangeArrowheads="1"/>
          </p:cNvSpPr>
          <p:nvPr/>
        </p:nvSpPr>
        <p:spPr bwMode="auto">
          <a:xfrm>
            <a:off x="7581555" y="1790859"/>
            <a:ext cx="3759200" cy="4661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lgn="just" eaLnBrk="1" hangingPunct="1">
              <a:lnSpc>
                <a:spcPct val="150000"/>
              </a:lnSpc>
              <a:spcBef>
                <a:spcPct val="0"/>
              </a:spcBef>
              <a:buFontTx/>
              <a:buNone/>
            </a:pPr>
            <a:r>
              <a:rPr lang="pt-BR" altLang="pt-BR" sz="2000" dirty="0">
                <a:ea typeface="ヒラギノ角ゴ Pro W3" charset="-128"/>
              </a:rPr>
              <a:t>A classe </a:t>
            </a:r>
            <a:r>
              <a:rPr lang="pt-BR" altLang="pt-BR" sz="2000" dirty="0" err="1">
                <a:ea typeface="ヒラギノ角ゴ Pro W3" charset="-128"/>
              </a:rPr>
              <a:t>Caminhao</a:t>
            </a:r>
            <a:r>
              <a:rPr lang="pt-BR" altLang="pt-BR" sz="2000" dirty="0">
                <a:ea typeface="ヒラギノ角ゴ Pro W3" charset="-128"/>
              </a:rPr>
              <a:t> está herdando a classe Veiculo e implementando um novo atributo.</a:t>
            </a:r>
          </a:p>
          <a:p>
            <a:pPr algn="just">
              <a:lnSpc>
                <a:spcPct val="150000"/>
              </a:lnSpc>
              <a:spcBef>
                <a:spcPct val="0"/>
              </a:spcBef>
              <a:buNone/>
            </a:pPr>
            <a:endParaRPr lang="pt-BR" altLang="pt-BR" sz="2000" dirty="0">
              <a:ea typeface="ヒラギノ角ゴ Pro W3" charset="-128"/>
            </a:endParaRPr>
          </a:p>
          <a:p>
            <a:pPr algn="just">
              <a:lnSpc>
                <a:spcPct val="150000"/>
              </a:lnSpc>
              <a:spcBef>
                <a:spcPct val="0"/>
              </a:spcBef>
              <a:buNone/>
            </a:pPr>
            <a:r>
              <a:rPr lang="pt-BR" altLang="pt-BR" sz="2000" dirty="0">
                <a:ea typeface="ヒラギノ角ゴ Pro W3" charset="-128"/>
              </a:rPr>
              <a:t>E para isso NÃO pode esquecer de importar a classe Veiculo;</a:t>
            </a:r>
          </a:p>
          <a:p>
            <a:pPr algn="just" eaLnBrk="1" hangingPunct="1">
              <a:lnSpc>
                <a:spcPct val="150000"/>
              </a:lnSpc>
              <a:spcBef>
                <a:spcPct val="0"/>
              </a:spcBef>
              <a:buFontTx/>
              <a:buNone/>
            </a:pPr>
            <a:endParaRPr lang="pt-BR" altLang="pt-BR" sz="2000" dirty="0">
              <a:ea typeface="ヒラギノ角ゴ Pro W3" charset="-128"/>
            </a:endParaRPr>
          </a:p>
          <a:p>
            <a:pPr algn="just">
              <a:lnSpc>
                <a:spcPct val="150000"/>
              </a:lnSpc>
              <a:spcBef>
                <a:spcPct val="0"/>
              </a:spcBef>
              <a:buNone/>
            </a:pPr>
            <a:r>
              <a:rPr lang="pt-BR" altLang="pt-BR" sz="2000" dirty="0">
                <a:ea typeface="ヒラギノ角ゴ Pro W3" charset="-128"/>
              </a:rPr>
              <a:t>O método abastecer deve ser obrigatoriamente implementado.</a:t>
            </a:r>
          </a:p>
          <a:p>
            <a:pPr algn="just" eaLnBrk="1" hangingPunct="1">
              <a:lnSpc>
                <a:spcPct val="150000"/>
              </a:lnSpc>
              <a:spcBef>
                <a:spcPct val="0"/>
              </a:spcBef>
              <a:buFontTx/>
              <a:buNone/>
            </a:pPr>
            <a:endParaRPr lang="pt-BR" altLang="pt-BR" sz="2000" dirty="0">
              <a:ea typeface="ヒラギノ角ゴ Pro W3" charset="-128"/>
            </a:endParaRPr>
          </a:p>
        </p:txBody>
      </p:sp>
      <p:pic>
        <p:nvPicPr>
          <p:cNvPr id="5" name="Imagem 4">
            <a:extLst>
              <a:ext uri="{FF2B5EF4-FFF2-40B4-BE49-F238E27FC236}">
                <a16:creationId xmlns:a16="http://schemas.microsoft.com/office/drawing/2014/main" id="{01E9FD52-E67A-47D0-9301-42A8F54AFA90}"/>
              </a:ext>
            </a:extLst>
          </p:cNvPr>
          <p:cNvPicPr>
            <a:picLocks noChangeAspect="1"/>
          </p:cNvPicPr>
          <p:nvPr/>
        </p:nvPicPr>
        <p:blipFill>
          <a:blip r:embed="rId2"/>
          <a:stretch>
            <a:fillRect/>
          </a:stretch>
        </p:blipFill>
        <p:spPr>
          <a:xfrm>
            <a:off x="1220554" y="1162580"/>
            <a:ext cx="6138512" cy="5140569"/>
          </a:xfrm>
          <a:prstGeom prst="rect">
            <a:avLst/>
          </a:prstGeom>
        </p:spPr>
      </p:pic>
    </p:spTree>
    <p:extLst>
      <p:ext uri="{BB962C8B-B14F-4D97-AF65-F5344CB8AC3E}">
        <p14:creationId xmlns:p14="http://schemas.microsoft.com/office/powerpoint/2010/main" val="589539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CaixaDeTexto 9">
            <a:extLst>
              <a:ext uri="{FF2B5EF4-FFF2-40B4-BE49-F238E27FC236}">
                <a16:creationId xmlns:a16="http://schemas.microsoft.com/office/drawing/2014/main" id="{222D7911-580D-41EC-BBA1-DACE43D79BD9}"/>
              </a:ext>
            </a:extLst>
          </p:cNvPr>
          <p:cNvSpPr txBox="1">
            <a:spLocks noChangeArrowheads="1"/>
          </p:cNvSpPr>
          <p:nvPr/>
        </p:nvSpPr>
        <p:spPr bwMode="auto">
          <a:xfrm>
            <a:off x="1970089" y="5278439"/>
            <a:ext cx="8218487" cy="129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lgn="just" eaLnBrk="1" hangingPunct="1">
              <a:lnSpc>
                <a:spcPct val="150000"/>
              </a:lnSpc>
              <a:spcBef>
                <a:spcPct val="0"/>
              </a:spcBef>
              <a:buFontTx/>
              <a:buNone/>
            </a:pPr>
            <a:r>
              <a:rPr lang="pt-BR" altLang="pt-BR" sz="1800">
                <a:ea typeface="ヒラギノ角ゴ Pro W3" charset="-128"/>
              </a:rPr>
              <a:t>O arquivo testaVeiculo.php instancia um objeto de cada e exibe os atributos do objeto criado a partir da classe Moto que herda Veiculo. Observe que são exibidos valores guardados nos atributos de Veiculo (marca) e de Moto (cilindrada). </a:t>
            </a:r>
            <a:endParaRPr lang="pt-BR" altLang="pt-BR" sz="1800" dirty="0">
              <a:ea typeface="ヒラギノ角ゴ Pro W3" charset="-128"/>
            </a:endParaRPr>
          </a:p>
        </p:txBody>
      </p:sp>
      <p:pic>
        <p:nvPicPr>
          <p:cNvPr id="3" name="Imagem 2">
            <a:extLst>
              <a:ext uri="{FF2B5EF4-FFF2-40B4-BE49-F238E27FC236}">
                <a16:creationId xmlns:a16="http://schemas.microsoft.com/office/drawing/2014/main" id="{785FDD9D-0AE1-461E-9A24-C64899729F99}"/>
              </a:ext>
            </a:extLst>
          </p:cNvPr>
          <p:cNvPicPr>
            <a:picLocks noChangeAspect="1"/>
          </p:cNvPicPr>
          <p:nvPr/>
        </p:nvPicPr>
        <p:blipFill>
          <a:blip r:embed="rId2"/>
          <a:stretch>
            <a:fillRect/>
          </a:stretch>
        </p:blipFill>
        <p:spPr>
          <a:xfrm>
            <a:off x="4586514" y="282574"/>
            <a:ext cx="3562847" cy="4715533"/>
          </a:xfrm>
          <a:prstGeom prst="rect">
            <a:avLst/>
          </a:prstGeom>
        </p:spPr>
      </p:pic>
    </p:spTree>
    <p:extLst>
      <p:ext uri="{BB962C8B-B14F-4D97-AF65-F5344CB8AC3E}">
        <p14:creationId xmlns:p14="http://schemas.microsoft.com/office/powerpoint/2010/main" val="20379986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axe">
  <a:themeElements>
    <a:clrScheme name="Paralaxe">
      <a:dk1>
        <a:sysClr val="windowText" lastClr="000000"/>
      </a:dk1>
      <a:lt1>
        <a:sysClr val="window" lastClr="FFFFFF"/>
      </a:lt1>
      <a:dk2>
        <a:srgbClr val="212121"/>
      </a:dk2>
      <a:lt2>
        <a:srgbClr val="CDD0D1"/>
      </a:lt2>
      <a:accent1>
        <a:srgbClr val="BC1C1C"/>
      </a:accent1>
      <a:accent2>
        <a:srgbClr val="F67534"/>
      </a:accent2>
      <a:accent3>
        <a:srgbClr val="EAAC35"/>
      </a:accent3>
      <a:accent4>
        <a:srgbClr val="9BAF68"/>
      </a:accent4>
      <a:accent5>
        <a:srgbClr val="68B9A6"/>
      </a:accent5>
      <a:accent6>
        <a:srgbClr val="50B1D4"/>
      </a:accent6>
      <a:hlink>
        <a:srgbClr val="E46416"/>
      </a:hlink>
      <a:folHlink>
        <a:srgbClr val="EE9340"/>
      </a:folHlink>
    </a:clrScheme>
    <a:fontScheme name="Paralaxe">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axe">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93B4CCAC-FD5A-4D59-B1AC-EAF45910B5A9}"/>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63F95C65FCE67A42B1DD4942EF3BCF87" ma:contentTypeVersion="2" ma:contentTypeDescription="Crie um novo documento." ma:contentTypeScope="" ma:versionID="55eca17348f36998ed59d09c7c6d01e6">
  <xsd:schema xmlns:xsd="http://www.w3.org/2001/XMLSchema" xmlns:xs="http://www.w3.org/2001/XMLSchema" xmlns:p="http://schemas.microsoft.com/office/2006/metadata/properties" xmlns:ns2="2a14d617-4b87-411b-a777-c3b3f30b92ee" targetNamespace="http://schemas.microsoft.com/office/2006/metadata/properties" ma:root="true" ma:fieldsID="0f5f38b92ea01ac4ae6d449655b95cab" ns2:_="">
    <xsd:import namespace="2a14d617-4b87-411b-a777-c3b3f30b92ee"/>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a14d617-4b87-411b-a777-c3b3f30b92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894736F-AB10-4472-95F8-B55C379B1385}">
  <ds:schemaRefs>
    <ds:schemaRef ds:uri="http://schemas.microsoft.com/office/2006/documentManagement/types"/>
    <ds:schemaRef ds:uri="http://schemas.microsoft.com/office/2006/metadata/properties"/>
    <ds:schemaRef ds:uri="http://purl.org/dc/terms/"/>
    <ds:schemaRef ds:uri="http://schemas.openxmlformats.org/package/2006/metadata/core-properties"/>
    <ds:schemaRef ds:uri="http://purl.org/dc/dcmitype/"/>
    <ds:schemaRef ds:uri="2a14d617-4b87-411b-a777-c3b3f30b92ee"/>
    <ds:schemaRef ds:uri="http://schemas.microsoft.com/office/infopath/2007/PartnerControls"/>
    <ds:schemaRef ds:uri="http://www.w3.org/XML/1998/namespace"/>
    <ds:schemaRef ds:uri="http://purl.org/dc/elements/1.1/"/>
  </ds:schemaRefs>
</ds:datastoreItem>
</file>

<file path=customXml/itemProps2.xml><?xml version="1.0" encoding="utf-8"?>
<ds:datastoreItem xmlns:ds="http://schemas.openxmlformats.org/officeDocument/2006/customXml" ds:itemID="{E29FE7FE-FD32-4C92-8626-91FF0EF3E2B5}">
  <ds:schemaRefs>
    <ds:schemaRef ds:uri="http://schemas.microsoft.com/sharepoint/v3/contenttype/forms"/>
  </ds:schemaRefs>
</ds:datastoreItem>
</file>

<file path=customXml/itemProps3.xml><?xml version="1.0" encoding="utf-8"?>
<ds:datastoreItem xmlns:ds="http://schemas.openxmlformats.org/officeDocument/2006/customXml" ds:itemID="{00298E63-DE99-4202-9681-E17DA5134B4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a14d617-4b87-411b-a777-c3b3f30b92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143</TotalTime>
  <Words>570</Words>
  <Application>Microsoft Office PowerPoint</Application>
  <PresentationFormat>Widescreen</PresentationFormat>
  <Paragraphs>50</Paragraphs>
  <Slides>13</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13</vt:i4>
      </vt:variant>
    </vt:vector>
  </HeadingPairs>
  <TitlesOfParts>
    <vt:vector size="17" baseType="lpstr">
      <vt:lpstr>Arial</vt:lpstr>
      <vt:lpstr>Calibri</vt:lpstr>
      <vt:lpstr>Corbel</vt:lpstr>
      <vt:lpstr>Paralaxe</vt:lpstr>
      <vt:lpstr>Classes Abstratas (Ainda sobre Herança)</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Generalização/Especialização (Herança)</dc:title>
  <dc:creator>JULIANA GODOY DE SA</dc:creator>
  <cp:lastModifiedBy>JULIANA GODOY DE SA</cp:lastModifiedBy>
  <cp:revision>9</cp:revision>
  <dcterms:created xsi:type="dcterms:W3CDTF">2020-10-13T18:10:20Z</dcterms:created>
  <dcterms:modified xsi:type="dcterms:W3CDTF">2020-10-13T20:36:00Z</dcterms:modified>
</cp:coreProperties>
</file>