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71" r:id="rId5"/>
    <p:sldId id="274" r:id="rId6"/>
    <p:sldId id="275" r:id="rId7"/>
    <p:sldId id="272" r:id="rId8"/>
    <p:sldId id="273" r:id="rId9"/>
    <p:sldId id="276" r:id="rId10"/>
    <p:sldId id="279" r:id="rId11"/>
    <p:sldId id="280" r:id="rId12"/>
    <p:sldId id="281" r:id="rId13"/>
    <p:sldId id="282" r:id="rId14"/>
    <p:sldId id="284" r:id="rId15"/>
    <p:sldId id="283" r:id="rId16"/>
    <p:sldId id="285" r:id="rId17"/>
    <p:sldId id="287" r:id="rId18"/>
    <p:sldId id="288" r:id="rId19"/>
    <p:sldId id="286" r:id="rId20"/>
    <p:sldId id="289" r:id="rId21"/>
    <p:sldId id="29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FB1E4A-CF2F-4C01-A98D-9103E059F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1" y="4779205"/>
            <a:ext cx="2272666" cy="20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08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17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10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42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47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20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5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47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15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93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529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575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654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005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053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9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D64E7D-DAAD-4FC2-BD68-4BAEAD2EAB37}" type="datetimeFigureOut">
              <a:rPr lang="pt-BR" smtClean="0"/>
              <a:t>17/09/2020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65FAD68-07DC-4FAB-9FDF-0DC891EAB74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3938"/>
            <a:ext cx="914400" cy="84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0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Orientação a Objetos</a:t>
            </a:r>
            <a:br>
              <a:rPr lang="pt-BR" dirty="0"/>
            </a:br>
            <a:r>
              <a:rPr lang="pt-BR" dirty="0"/>
              <a:t>PHP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Juliana de Sá</a:t>
            </a:r>
          </a:p>
          <a:p>
            <a:r>
              <a:rPr lang="pt-BR" dirty="0"/>
              <a:t>Baseado no material desenvolvido pelo Prof. Fabricio Azevedo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7B6B1-03FD-4417-97CB-A4A3FE11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93271-049F-437C-9503-F5A27D0DD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algn="just">
              <a:lnSpc>
                <a:spcPct val="150000"/>
              </a:lnSpc>
              <a:spcBef>
                <a:spcPts val="600"/>
              </a:spcBef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Devemos lembrar que uma classe é composta por atributos e métodos, ou seja, vamos definir suas características e suas ações.</a:t>
            </a:r>
          </a:p>
          <a:p>
            <a:pPr marL="571500" algn="just">
              <a:lnSpc>
                <a:spcPct val="150000"/>
              </a:lnSpc>
              <a:spcBef>
                <a:spcPts val="600"/>
              </a:spcBef>
            </a:pPr>
            <a:r>
              <a:rPr lang="pt-BR" sz="18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Primeiro passo é definir como será a classe e qual a sua funcionalidade, com isso, poderemos definir suas características e suas ações.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606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9">
            <a:extLst>
              <a:ext uri="{FF2B5EF4-FFF2-40B4-BE49-F238E27FC236}">
                <a16:creationId xmlns:a16="http://schemas.microsoft.com/office/drawing/2014/main" id="{729D1C44-1DC2-46A3-AF4D-6CF3F03E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441D71-9427-4E52-9D00-DA5DCD608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99D64EDB-A847-4FFD-A1A0-F682EFB8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1462D21-CAC4-4C52-95C9-E5C0DE3E9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9A48DF8F-07DF-48F2-944C-97808BBD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1DBC7527-D323-4A52-8055-50480E532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7FDC9880-BEB7-4458-9A76-FD74CA58D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29" name="Rectangle 17">
            <a:extLst>
              <a:ext uri="{FF2B5EF4-FFF2-40B4-BE49-F238E27FC236}">
                <a16:creationId xmlns:a16="http://schemas.microsoft.com/office/drawing/2014/main" id="{22DFF61D-FE87-44C1-954C-B0D76781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517E6D-202D-45B0-BB8D-0F20F95A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Classe Operacao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4592AC-7045-4F49-9639-B221E5A7A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F380A3B-3304-47FC-9EDB-3A10F6EDF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CEBC0F23-9C1D-4F87-8EF4-E3BAACAF9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32987390-B552-4468-AE54-2BA1B84CC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CB705A55-FBC1-4F9A-8D40-9AA3D343A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E2765382-B7CB-4F4B-83F9-2391FA0E8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67BDAB96-7661-48F4-B3B5-6D759D323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5C2B873C-702E-4891-9F5A-7BCD247F6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0DA250F-66C4-4572-A2CE-4D30A6CF1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4876" y="1011765"/>
            <a:ext cx="4659669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5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E159A-9848-4101-8A6C-35967514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81548"/>
            <a:ext cx="3333495" cy="1504335"/>
          </a:xfrm>
        </p:spPr>
        <p:txBody>
          <a:bodyPr>
            <a:normAutofit/>
          </a:bodyPr>
          <a:lstStyle/>
          <a:p>
            <a:r>
              <a:rPr lang="pt-BR" sz="2400"/>
              <a:t>Criando uma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6AC65-4588-4A1B-A777-71931E0DB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3333496" cy="3124201"/>
          </a:xfrm>
        </p:spPr>
        <p:txBody>
          <a:bodyPr anchor="t">
            <a:normAutofit/>
          </a:bodyPr>
          <a:lstStyle/>
          <a:p>
            <a:r>
              <a:rPr lang="pt-BR" sz="1600" dirty="0"/>
              <a:t>O nome do arquivo e o nome da classe devem ser o mesmo.</a:t>
            </a:r>
          </a:p>
          <a:p>
            <a:r>
              <a:rPr lang="pt-BR" sz="1600" dirty="0"/>
              <a:t>Lembrando que toda classe deve começar com letra </a:t>
            </a:r>
            <a:r>
              <a:rPr lang="pt-BR" sz="1600" dirty="0" err="1"/>
              <a:t>maiuscula</a:t>
            </a:r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B02B48-3C51-4381-B10E-23A124BDD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033" y="1450754"/>
            <a:ext cx="6240990" cy="352313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8515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FE52B-FD18-4EC8-A18E-C4022A36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os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BCEBB8-5A95-4F9D-ADC2-9844AC7AB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Podemos criar nossos atributos de três formas diferentes, apenas utilizando as instruções </a:t>
            </a:r>
            <a:r>
              <a:rPr lang="pt-BR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protected</a:t>
            </a: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194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A793E-348B-47D5-9F80-D1FF48C4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81548"/>
            <a:ext cx="3333495" cy="1504335"/>
          </a:xfrm>
        </p:spPr>
        <p:txBody>
          <a:bodyPr>
            <a:normAutofit/>
          </a:bodyPr>
          <a:lstStyle/>
          <a:p>
            <a:r>
              <a:rPr lang="pt-BR" sz="2400"/>
              <a:t>1ª Forma – Declarações pública dos atributos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746A1B9-F001-4EEC-8ECF-16D07A3F7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3333496" cy="3124201"/>
          </a:xfrm>
        </p:spPr>
        <p:txBody>
          <a:bodyPr anchor="t">
            <a:normAutofit/>
          </a:bodyPr>
          <a:lstStyle/>
          <a:p>
            <a:r>
              <a:rPr lang="pt-B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atributo pode ser acessível por todos. Um método ou propriedade </a:t>
            </a:r>
            <a:r>
              <a:rPr lang="pt-BR" sz="16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pt-B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acessível através de um objeto instanciado, por outros métodos e por outras subclasses</a:t>
            </a:r>
            <a:endParaRPr lang="pt-BR" sz="1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24A504C-0FB3-4D4F-966E-5D8CC4C0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033" y="1744848"/>
            <a:ext cx="6240990" cy="293495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62564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9ABAA-F405-4B58-B1AE-48D25314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acesso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D9A93E1-27B7-4803-8176-352CD36B2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5185" y="2177141"/>
            <a:ext cx="8596963" cy="3875315"/>
          </a:xfrm>
        </p:spPr>
      </p:pic>
    </p:spTree>
    <p:extLst>
      <p:ext uri="{BB962C8B-B14F-4D97-AF65-F5344CB8AC3E}">
        <p14:creationId xmlns:p14="http://schemas.microsoft.com/office/powerpoint/2010/main" val="286837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A793E-348B-47D5-9F80-D1FF48C4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81548"/>
            <a:ext cx="3333495" cy="1504335"/>
          </a:xfrm>
        </p:spPr>
        <p:txBody>
          <a:bodyPr>
            <a:normAutofit/>
          </a:bodyPr>
          <a:lstStyle/>
          <a:p>
            <a:r>
              <a:rPr lang="pt-BR" sz="2400" dirty="0"/>
              <a:t>2ª Forma – Declarações privadas dos atributos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746A1B9-F001-4EEC-8ECF-16D07A3F7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3333496" cy="3124201"/>
          </a:xfrm>
        </p:spPr>
        <p:txBody>
          <a:bodyPr anchor="t">
            <a:normAutofit/>
          </a:bodyPr>
          <a:lstStyle/>
          <a:p>
            <a:r>
              <a:rPr lang="pt-BR" sz="16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atributo pode ser acessível somente para a própria classe. Um método ou propriedade </a:t>
            </a:r>
            <a:r>
              <a:rPr lang="pt-BR" sz="16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lang="pt-BR" sz="16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(privada) só é acessível de dentro da própria classe. Mesmo as subclasses não conseguirão acesso</a:t>
            </a:r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ADE2FFE-8886-44BC-A991-9F243D757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033" y="1606187"/>
            <a:ext cx="6240990" cy="321227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75930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A8738-2627-4DDF-BADE-BBD68F07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aos atributos privados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D3760B-A2CF-4D4B-AAB5-433BE997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754086"/>
            <a:ext cx="10018713" cy="859972"/>
          </a:xfrm>
        </p:spPr>
        <p:txBody>
          <a:bodyPr/>
          <a:lstStyle/>
          <a:p>
            <a:r>
              <a:rPr lang="pt-BR" dirty="0"/>
              <a:t>Ao acessarmos como fizemos no exemplo anterior teremos o seguinte erro: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BF8D51-EA36-434B-9E4F-AE615D5E2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1" y="3987122"/>
            <a:ext cx="9635123" cy="13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6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A8738-2627-4DDF-BADE-BBD68F07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5747778" cy="1752599"/>
          </a:xfrm>
        </p:spPr>
        <p:txBody>
          <a:bodyPr>
            <a:normAutofit/>
          </a:bodyPr>
          <a:lstStyle/>
          <a:p>
            <a:r>
              <a:rPr lang="pt-BR" dirty="0"/>
              <a:t>Acesso aos atributos privados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D3760B-A2CF-4D4B-AAB5-433BE997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747778" cy="3124201"/>
          </a:xfrm>
        </p:spPr>
        <p:txBody>
          <a:bodyPr>
            <a:normAutofit/>
          </a:bodyPr>
          <a:lstStyle/>
          <a:p>
            <a:r>
              <a:rPr lang="pt-BR" dirty="0"/>
              <a:t>O acesso a atributos privados deve ser feito através dos métodos set e </a:t>
            </a:r>
            <a:r>
              <a:rPr lang="pt-BR" dirty="0" err="1"/>
              <a:t>get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9CB393-697C-48C9-A06B-875934262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3" y="948455"/>
            <a:ext cx="3950079" cy="191370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D017FB3-2379-4463-A69B-675B4FBB5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3" y="3808813"/>
            <a:ext cx="3950079" cy="168679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624610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A793E-348B-47D5-9F80-D1FF48C4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81548"/>
            <a:ext cx="3333495" cy="1504335"/>
          </a:xfrm>
        </p:spPr>
        <p:txBody>
          <a:bodyPr>
            <a:normAutofit/>
          </a:bodyPr>
          <a:lstStyle/>
          <a:p>
            <a:r>
              <a:rPr lang="pt-BR" sz="2400"/>
              <a:t>3ª Forma – Declarações protegidas dos atributos</a:t>
            </a:r>
            <a:endParaRPr lang="pt-BR" sz="2400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746A1B9-F001-4EEC-8ECF-16D07A3F7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3333496" cy="3124201"/>
          </a:xfrm>
        </p:spPr>
        <p:txBody>
          <a:bodyPr anchor="t">
            <a:normAutofit/>
          </a:bodyPr>
          <a:lstStyle/>
          <a:p>
            <a:r>
              <a:rPr lang="pt-BR" sz="18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atributo pode ser acessível somente para a própria classe ou por subclasses. Um método ou propriedade definida como </a:t>
            </a:r>
            <a:r>
              <a:rPr lang="pt-BR" sz="18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protected</a:t>
            </a:r>
            <a:r>
              <a:rPr lang="pt-BR" sz="18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não é acessível de fora dela. Por exemplo, se você instanciar um objeto, não conseguirá invocar um método protected </a:t>
            </a:r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E28715-642A-4D15-A164-A5250C8E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495" y="2252870"/>
            <a:ext cx="5906708" cy="26402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01147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E0A1B-F96C-4D9B-B453-D3EE6924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aos atributos protegidos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2879E-C53B-40CF-9888-415006E8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classes e as subclasses podem acessar direto, já as outras classes o acesso  deve ser feito através dos métodos set e </a:t>
            </a:r>
            <a:r>
              <a:rPr lang="pt-BR" dirty="0" err="1"/>
              <a:t>get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8730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060B9-E041-47D6-8369-7A57E471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Métodos na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78A9EE-B8D7-495A-B9E7-B9DE3AAB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a criação de métodos (ações) devemos utilizar a instrução </a:t>
            </a:r>
            <a:r>
              <a:rPr lang="pt-BR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Na verdade, uma função é uma 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subrotina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uma determinada funcionalidade, e quando essa função tem algum retorno de informação utilizamos a </a:t>
            </a:r>
            <a:r>
              <a:rPr lang="pt-BR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3996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060B9-E041-47D6-8369-7A57E471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Métodos na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78A9EE-B8D7-495A-B9E7-B9DE3AAB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284975-71EA-4A69-AAA0-92C654704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553" y="3429000"/>
            <a:ext cx="7634264" cy="15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3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7125B-AD8A-4E4C-976E-194B90DD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85333"/>
          </a:xfrm>
        </p:spPr>
        <p:txBody>
          <a:bodyPr>
            <a:normAutofit/>
          </a:bodyPr>
          <a:lstStyle/>
          <a:p>
            <a:r>
              <a:rPr lang="pt-BR" dirty="0"/>
              <a:t>Utilizando a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198041-341C-4E8A-801E-716F7626D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98133"/>
            <a:ext cx="4756832" cy="3793067"/>
          </a:xfrm>
        </p:spPr>
        <p:txBody>
          <a:bodyPr>
            <a:normAutofit/>
          </a:bodyPr>
          <a:lstStyle/>
          <a:p>
            <a:pPr marR="74930">
              <a:spcBef>
                <a:spcPts val="345"/>
              </a:spcBef>
            </a:pPr>
            <a:r>
              <a:rPr lang="pt-BR" dirty="0">
                <a:latin typeface="Arial" panose="020B0604020202020204" pitchFamily="34" charset="0"/>
                <a:cs typeface="Times New Roman" panose="02020603050405020304" pitchFamily="18" charset="0"/>
              </a:rPr>
              <a:t>Primeiramente devemos criar uma página em PHP, onde será utilizada a classe </a:t>
            </a:r>
            <a:r>
              <a:rPr lang="pt-BR" b="1" dirty="0" err="1">
                <a:latin typeface="Arial" panose="020B0604020202020204" pitchFamily="34" charset="0"/>
                <a:cs typeface="Times New Roman" panose="02020603050405020304" pitchFamily="18" charset="0"/>
              </a:rPr>
              <a:t>Operacao</a:t>
            </a:r>
            <a:r>
              <a:rPr lang="pt-BR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Nesta página devemos incluir o arquivo com a classe externa,</a:t>
            </a:r>
            <a:r>
              <a:rPr lang="pt-BR" spc="30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pt-BR" spc="30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</a:t>
            </a:r>
            <a:r>
              <a:rPr lang="pt-BR" spc="-1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pt-B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</a:t>
            </a:r>
            <a:r>
              <a:rPr lang="pt-BR" spc="3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utilizar a instrução </a:t>
            </a:r>
            <a:r>
              <a:rPr lang="pt-BR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require_once</a:t>
            </a:r>
            <a:r>
              <a:rPr lang="pt-BR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6C44F7-7159-4098-924E-16E1AB76C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79" y="2154347"/>
            <a:ext cx="4905645" cy="2020718"/>
          </a:xfrm>
          <a:prstGeom prst="roundRect">
            <a:avLst>
              <a:gd name="adj" fmla="val 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4155255-E292-4A80-9B78-03FF939AF534}"/>
              </a:ext>
            </a:extLst>
          </p:cNvPr>
          <p:cNvSpPr txBox="1"/>
          <p:nvPr/>
        </p:nvSpPr>
        <p:spPr>
          <a:xfrm>
            <a:off x="6871406" y="4867870"/>
            <a:ext cx="4357590" cy="9233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Sempre</a:t>
            </a:r>
            <a:r>
              <a:rPr lang="pt-BR" sz="1800" b="1" spc="245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que</a:t>
            </a:r>
            <a:r>
              <a:rPr lang="pt-BR" sz="1800" b="1" spc="255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abrir</a:t>
            </a:r>
            <a:r>
              <a:rPr lang="pt-BR" sz="1800" b="1" spc="2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spc="-5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</a:t>
            </a:r>
            <a:r>
              <a:rPr lang="pt-BR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 nova página (.PHP)</a:t>
            </a:r>
            <a:r>
              <a:rPr lang="pt-BR" sz="1800" b="1" spc="255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deverá ser incluída novamente a biblioteca (classe).</a:t>
            </a:r>
            <a:endParaRPr lang="pt-BR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792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AF672-832F-44E8-AABE-3B9CD489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Instanciando a classe</a:t>
            </a:r>
            <a:br>
              <a:rPr lang="pt-BR" dirty="0"/>
            </a:br>
            <a:r>
              <a:rPr lang="pt-BR" sz="2400" dirty="0"/>
              <a:t>(criando um objeto)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7F68A2-8E30-4B55-BAEE-9EB0DC6F6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36" y="2096290"/>
            <a:ext cx="4905645" cy="2020718"/>
          </a:xfrm>
          <a:prstGeom prst="roundRect">
            <a:avLst>
              <a:gd name="adj" fmla="val 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8F8F10D-C32E-485E-B1A8-88DD38FF7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201" y="3429000"/>
            <a:ext cx="6525598" cy="1015093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46D353-5348-4CE6-9C6A-2159A9B28E08}"/>
              </a:ext>
            </a:extLst>
          </p:cNvPr>
          <p:cNvCxnSpPr/>
          <p:nvPr/>
        </p:nvCxnSpPr>
        <p:spPr>
          <a:xfrm flipH="1">
            <a:off x="2801257" y="3222171"/>
            <a:ext cx="1756229" cy="20682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B710F1C-B140-4E00-B7EE-E9DF9CD47C1D}"/>
              </a:ext>
            </a:extLst>
          </p:cNvPr>
          <p:cNvCxnSpPr>
            <a:cxnSpLocks/>
          </p:cNvCxnSpPr>
          <p:nvPr/>
        </p:nvCxnSpPr>
        <p:spPr>
          <a:xfrm flipH="1" flipV="1">
            <a:off x="6756402" y="3222171"/>
            <a:ext cx="2602397" cy="20682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6E24666-D47B-4C2E-AD2B-4E9EC195E3E1}"/>
              </a:ext>
            </a:extLst>
          </p:cNvPr>
          <p:cNvCxnSpPr/>
          <p:nvPr/>
        </p:nvCxnSpPr>
        <p:spPr>
          <a:xfrm flipV="1">
            <a:off x="3578087" y="4678017"/>
            <a:ext cx="0" cy="755374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BA0B7E63-5739-4131-9122-3559C7D5C4F9}"/>
              </a:ext>
            </a:extLst>
          </p:cNvPr>
          <p:cNvCxnSpPr/>
          <p:nvPr/>
        </p:nvCxnSpPr>
        <p:spPr>
          <a:xfrm flipV="1">
            <a:off x="7520609" y="4678017"/>
            <a:ext cx="0" cy="755374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CE12448-F86B-4153-96F4-44765393F076}"/>
              </a:ext>
            </a:extLst>
          </p:cNvPr>
          <p:cNvCxnSpPr/>
          <p:nvPr/>
        </p:nvCxnSpPr>
        <p:spPr>
          <a:xfrm flipV="1">
            <a:off x="5486400" y="4678017"/>
            <a:ext cx="0" cy="755374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A889C01-3230-402A-B56A-C67ED5FE8FD1}"/>
              </a:ext>
            </a:extLst>
          </p:cNvPr>
          <p:cNvSpPr txBox="1"/>
          <p:nvPr/>
        </p:nvSpPr>
        <p:spPr>
          <a:xfrm>
            <a:off x="3018763" y="5527498"/>
            <a:ext cx="111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Nome do Objeto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20944F2-E5D8-4B6A-A383-E23B2156C196}"/>
              </a:ext>
            </a:extLst>
          </p:cNvPr>
          <p:cNvSpPr txBox="1"/>
          <p:nvPr/>
        </p:nvSpPr>
        <p:spPr>
          <a:xfrm>
            <a:off x="4927076" y="5525869"/>
            <a:ext cx="1118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Comando para instanciar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F5FA24B-A699-476B-850F-3A341F7B3733}"/>
              </a:ext>
            </a:extLst>
          </p:cNvPr>
          <p:cNvSpPr txBox="1"/>
          <p:nvPr/>
        </p:nvSpPr>
        <p:spPr>
          <a:xfrm>
            <a:off x="6747310" y="5525869"/>
            <a:ext cx="154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Construtor a ser utilizado</a:t>
            </a:r>
          </a:p>
        </p:txBody>
      </p:sp>
    </p:spTree>
    <p:extLst>
      <p:ext uri="{BB962C8B-B14F-4D97-AF65-F5344CB8AC3E}">
        <p14:creationId xmlns:p14="http://schemas.microsoft.com/office/powerpoint/2010/main" val="430481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BE014-1DA7-418E-8091-0173547F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objeto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D26584-82EE-477F-ADE5-1723D465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1088543"/>
          </a:xfrm>
        </p:spPr>
        <p:txBody>
          <a:bodyPr/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Após o objeto instanciado, agora devemos enviar os dados do usuário para o objeto (classe)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F0D02D-F89D-4546-8F3E-7009F2D27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838" y="3984142"/>
            <a:ext cx="4899655" cy="121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1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BE014-1DA7-418E-8091-0173547F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objeto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D26584-82EE-477F-ADE5-1723D465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1088543"/>
          </a:xfrm>
        </p:spPr>
        <p:txBody>
          <a:bodyPr/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Após o envio de todos os dados necessário ao objeto, podemos solicitar os dados de retorno através dos métodos, nesse caso iremo</a:t>
            </a:r>
            <a:r>
              <a:rPr lang="pt-BR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utilizar o método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omar()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EDE05FA-ED72-4ACC-9992-02DF64A2D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798" y="3984142"/>
            <a:ext cx="4379735" cy="7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614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e">
  <a:themeElements>
    <a:clrScheme name="Paralaxe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F95C65FCE67A42B1DD4942EF3BCF87" ma:contentTypeVersion="2" ma:contentTypeDescription="Crie um novo documento." ma:contentTypeScope="" ma:versionID="55eca17348f36998ed59d09c7c6d01e6">
  <xsd:schema xmlns:xsd="http://www.w3.org/2001/XMLSchema" xmlns:xs="http://www.w3.org/2001/XMLSchema" xmlns:p="http://schemas.microsoft.com/office/2006/metadata/properties" xmlns:ns2="2a14d617-4b87-411b-a777-c3b3f30b92ee" targetNamespace="http://schemas.microsoft.com/office/2006/metadata/properties" ma:root="true" ma:fieldsID="0f5f38b92ea01ac4ae6d449655b95cab" ns2:_="">
    <xsd:import namespace="2a14d617-4b87-411b-a777-c3b3f30b9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4d617-4b87-411b-a777-c3b3f30b9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9FE7FE-FD32-4C92-8626-91FF0EF3E2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94736F-AB10-4472-95F8-B55C379B1385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2a14d617-4b87-411b-a777-c3b3f30b92ee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0298E63-DE99-4202-9681-E17DA5134B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4d617-4b87-411b-a777-c3b3f30b92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489</Words>
  <Application>Microsoft Office PowerPoint</Application>
  <PresentationFormat>Widescreen</PresentationFormat>
  <Paragraphs>40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Corbel</vt:lpstr>
      <vt:lpstr>Paralaxe</vt:lpstr>
      <vt:lpstr>Orientação a Objetos PHP</vt:lpstr>
      <vt:lpstr>A classe</vt:lpstr>
      <vt:lpstr>Classe Operacao</vt:lpstr>
      <vt:lpstr>Criando uma Classe</vt:lpstr>
      <vt:lpstr>Criando os atributos</vt:lpstr>
      <vt:lpstr>1ª Forma – Declarações pública dos atributos</vt:lpstr>
      <vt:lpstr>Exemplo de acesso</vt:lpstr>
      <vt:lpstr>2ª Forma – Declarações privadas dos atributos</vt:lpstr>
      <vt:lpstr>Acesso aos atributos privados</vt:lpstr>
      <vt:lpstr>Acesso aos atributos privados</vt:lpstr>
      <vt:lpstr>3ª Forma – Declarações protegidas dos atributos</vt:lpstr>
      <vt:lpstr>Acesso aos atributos protegidos</vt:lpstr>
      <vt:lpstr>Criando Métodos na classe</vt:lpstr>
      <vt:lpstr>Criando Métodos na classe</vt:lpstr>
      <vt:lpstr>Utilizando a Classe</vt:lpstr>
      <vt:lpstr>Instanciando a classe (criando um objeto)</vt:lpstr>
      <vt:lpstr>Utilizando o objeto</vt:lpstr>
      <vt:lpstr>Utilizando o objeto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Orientação a Objetos PHP</dc:title>
  <dc:creator>JULIANA GODOY DE SA</dc:creator>
  <cp:lastModifiedBy>JULIANA GODOY DE SA</cp:lastModifiedBy>
  <cp:revision>4</cp:revision>
  <dcterms:created xsi:type="dcterms:W3CDTF">2020-09-17T18:46:04Z</dcterms:created>
  <dcterms:modified xsi:type="dcterms:W3CDTF">2020-09-17T19:09:17Z</dcterms:modified>
</cp:coreProperties>
</file>