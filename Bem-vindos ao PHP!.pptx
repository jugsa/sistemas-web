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2000"/>
  <p:notesSz cx="6858000" cy="9144000"/>
  <p:embeddedFontLst>
    <p:embeddedFont>
      <p:font typeface="Urbanist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Urbanist-bold.fntdata"/><Relationship Id="rId14" Type="http://schemas.openxmlformats.org/officeDocument/2006/relationships/font" Target="fonts/Urbanist-regular.fntdata"/><Relationship Id="rId17" Type="http://schemas.openxmlformats.org/officeDocument/2006/relationships/font" Target="fonts/Urbanist-boldItalic.fntdata"/><Relationship Id="rId16" Type="http://schemas.openxmlformats.org/officeDocument/2006/relationships/font" Target="fonts/Urbanist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95574b5770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g395574b5770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Relationship Id="rId7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9.png"/><Relationship Id="rId5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20.png"/><Relationship Id="rId9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17.png"/><Relationship Id="rId7" Type="http://schemas.openxmlformats.org/officeDocument/2006/relationships/image" Target="../media/image24.png"/><Relationship Id="rId8" Type="http://schemas.openxmlformats.org/officeDocument/2006/relationships/image" Target="../media/image2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image" Target="../media/image22.png"/><Relationship Id="rId6" Type="http://schemas.openxmlformats.org/officeDocument/2006/relationships/image" Target="../media/image27.png"/><Relationship Id="rId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53000" y="4967287"/>
            <a:ext cx="22860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375409" y="2786062"/>
            <a:ext cx="9441180" cy="103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7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Bem-vindos ao </a:t>
            </a:r>
            <a:r>
              <a:rPr b="1" i="0" lang="en-US" sz="6750" u="none" cap="none" strike="noStrik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PHP!</a:t>
            </a:r>
            <a:r>
              <a:rPr b="1" i="0" lang="en-US" sz="67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🐘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348037" y="4186237"/>
            <a:ext cx="549592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Traduzindo sua Lógica (De Python para a Web)</a:t>
            </a:r>
            <a:endParaRPr/>
          </a:p>
        </p:txBody>
      </p:sp>
      <p:pic>
        <p:nvPicPr>
          <p:cNvPr descr="image.png" id="88" name="Google Shape;88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81625" y="1166812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5381500" y="5472100"/>
            <a:ext cx="14289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Sistemas Web 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4" name="Google Shape;9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266950"/>
            <a:ext cx="53340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266950"/>
            <a:ext cx="533400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571500" y="4981575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F4444"/>
                </a:solidFill>
                <a:latin typeface="Urbanist"/>
                <a:ea typeface="Urbanist"/>
                <a:cs typeface="Urbanist"/>
                <a:sym typeface="Urbanist"/>
              </a:rPr>
              <a:t>Dica: Se esquecer o ; a tela quebra!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66775" y="2562225"/>
            <a:ext cx="498062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 Em Python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866775" y="2971800"/>
            <a:ext cx="47434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Indentação é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obrigatória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e define os blocos.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866775" y="3448050"/>
            <a:ext cx="47434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Sem ponto e vírgula no final.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66775" y="3924300"/>
            <a:ext cx="47434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Saída com: print()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6581775" y="2562225"/>
            <a:ext cx="498062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 Em PHP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6581775" y="2971800"/>
            <a:ext cx="47434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Usamos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chaves { }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para definir os blocos.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6581775" y="3448050"/>
            <a:ext cx="47434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Ponto e vírgula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;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é de lei no final.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6581775" y="3924300"/>
            <a:ext cx="47434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Saída com: echo</a:t>
            </a:r>
            <a:endParaRPr/>
          </a:p>
        </p:txBody>
      </p:sp>
      <p:pic>
        <p:nvPicPr>
          <p:cNvPr descr="image.png" id="106" name="Google Shape;106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2581275"/>
            <a:ext cx="152400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81775" y="2581275"/>
            <a:ext cx="2190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762000" y="571500"/>
            <a:ext cx="5070633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CHOQUE DE REALIDADE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71500" y="571500"/>
            <a:ext cx="76200" cy="48577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266950"/>
            <a:ext cx="53340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266950"/>
            <a:ext cx="533400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762000" y="571500"/>
            <a:ext cx="5070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90500" rtl="0" algn="l">
              <a:lnSpc>
                <a:spcPct val="115000"/>
              </a:lnSpc>
              <a:spcBef>
                <a:spcPts val="0"/>
              </a:spcBef>
              <a:spcAft>
                <a:spcPts val="3000"/>
              </a:spcAft>
              <a:buSzPts val="1100"/>
              <a:buNone/>
            </a:pPr>
            <a:r>
              <a:rPr b="1" lang="en-US" sz="315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O Container PHP</a:t>
            </a:r>
            <a:endParaRPr b="1" sz="3150">
              <a:solidFill>
                <a:srgbClr val="F8FAFC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571500" y="571500"/>
            <a:ext cx="76200" cy="4857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638700" y="1388125"/>
            <a:ext cx="10914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94A3B8"/>
                </a:solidFill>
                <a:highlight>
                  <a:srgbClr val="1E293B"/>
                </a:highlight>
                <a:latin typeface="Urbanist"/>
                <a:ea typeface="Urbanist"/>
                <a:cs typeface="Urbanist"/>
                <a:sym typeface="Urbanist"/>
              </a:rPr>
              <a:t>Diferente do Python, o PHP vive "misturado" com o HTML. Por isso, precisamos avisar ao servidor onde o código começa e termina.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1738500" y="2576438"/>
            <a:ext cx="3000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8FAFC"/>
                </a:solidFill>
              </a:rPr>
              <a:t>&lt;?php</a:t>
            </a:r>
            <a:endParaRPr b="1" sz="3000">
              <a:solidFill>
                <a:srgbClr val="F8FAFC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2810700" y="3300350"/>
            <a:ext cx="973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Abertura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762000" y="3724000"/>
            <a:ext cx="5070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Diz ao servidor: "Tudo o que vem a seguir é programação PHP".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7453500" y="26957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8FAFC"/>
                </a:solidFill>
              </a:rPr>
              <a:t>?&gt;</a:t>
            </a:r>
            <a:endParaRPr b="1" sz="3000">
              <a:solidFill>
                <a:srgbClr val="F8FAFC"/>
              </a:solidFill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8302800" y="3342200"/>
            <a:ext cx="1301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Fechamento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427950" y="3757700"/>
            <a:ext cx="5125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Diz ao servidor: "O código acabou aqui, pode voltar a mostrar texto comum".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571500" y="5540975"/>
            <a:ext cx="110490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Fato curioso:</a:t>
            </a:r>
            <a:r>
              <a:rPr lang="en-US" sz="135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Se o seu arquivo tiver apenas código PHP, a tag de fechamento </a:t>
            </a:r>
            <a:r>
              <a:rPr b="1" lang="en-US" sz="135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?&gt;</a:t>
            </a:r>
            <a:r>
              <a:rPr lang="en-US" sz="135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é opcional (e recomendada a omissão por profissionais!).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1" name="Google Shape;13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433637"/>
            <a:ext cx="53340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71500" y="2624137"/>
            <a:ext cx="5334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 regra de ouro: No PHP, o dinheiro manda!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571500" y="3100387"/>
            <a:ext cx="5334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Toda variável começa com cifrão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$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571500" y="3576637"/>
            <a:ext cx="53340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PYTHON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571500" y="4633912"/>
            <a:ext cx="53340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PHP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534150" y="2681287"/>
            <a:ext cx="508063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Concatenação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6534150" y="3090862"/>
            <a:ext cx="48387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Usamos o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ponto .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em vez do sinal de +.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762000" y="571500"/>
            <a:ext cx="5420677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DECLARANDO VARIÁVEIS</a:t>
            </a:r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571500" y="571500"/>
            <a:ext cx="76200" cy="48577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1" name="Google Shape;141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1503" y="4875453"/>
            <a:ext cx="5334000" cy="11992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6" name="Google Shape;14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7"/>
          <p:cNvSpPr txBox="1"/>
          <p:nvPr/>
        </p:nvSpPr>
        <p:spPr>
          <a:xfrm>
            <a:off x="571500" y="2790825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 lógica é idêntica, mas a "roupagem" muda. Os dois pontos (:) do Python viram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chaves { }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71500" y="3267075"/>
            <a:ext cx="53340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PYTHON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6286500" y="3267075"/>
            <a:ext cx="53340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PHP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762000" y="571500"/>
            <a:ext cx="6860857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TOMANDO DECISÕES (IF / ELSE)</a:t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571500" y="571500"/>
            <a:ext cx="76200" cy="48577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6500" y="3481241"/>
            <a:ext cx="5334000" cy="19772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7" name="Google Shape;15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8"/>
          <p:cNvSpPr txBox="1"/>
          <p:nvPr/>
        </p:nvSpPr>
        <p:spPr>
          <a:xfrm>
            <a:off x="571500" y="2128837"/>
            <a:ext cx="5334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Praticamente um irmão gêmeo do Python, só adicionamos parênteses e chaves.</a:t>
            </a:r>
            <a:endParaRPr/>
          </a:p>
        </p:txBody>
      </p:sp>
      <p:pic>
        <p:nvPicPr>
          <p:cNvPr descr="image.png" id="159" name="Google Shape;15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86812" y="2570759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/>
          <p:cNvSpPr txBox="1"/>
          <p:nvPr/>
        </p:nvSpPr>
        <p:spPr>
          <a:xfrm>
            <a:off x="6534150" y="3081431"/>
            <a:ext cx="4838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quebra a linha na Web!</a:t>
            </a:r>
            <a:endParaRPr/>
          </a:p>
        </p:txBody>
      </p:sp>
      <p:pic>
        <p:nvPicPr>
          <p:cNvPr descr="image.png" id="161" name="Google Shape;16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10625" y="4152947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6534150" y="4697569"/>
            <a:ext cx="48387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$contador++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é igual a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$contador = $contador + 1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762000" y="571500"/>
            <a:ext cx="6250781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LAÇO DE REPETIÇÃO (WHILE)</a:t>
            </a:r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571500" y="571500"/>
            <a:ext cx="76200" cy="48577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1500" y="3203050"/>
            <a:ext cx="5334000" cy="17398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0" name="Google Shape;17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3652837"/>
            <a:ext cx="5334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166937"/>
            <a:ext cx="1650950" cy="1343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7950" y="2166937"/>
            <a:ext cx="1650950" cy="1343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69400" y="2166937"/>
            <a:ext cx="1650950" cy="134302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/>
          <p:nvPr/>
        </p:nvSpPr>
        <p:spPr>
          <a:xfrm>
            <a:off x="571500" y="2357437"/>
            <a:ext cx="5334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Mais "tradicional" que o Python. Dividido em 3 partes fundamentais:</a:t>
            </a:r>
            <a:endParaRPr/>
          </a:p>
        </p:txBody>
      </p:sp>
      <p:pic>
        <p:nvPicPr>
          <p:cNvPr descr="image.png" id="176" name="Google Shape;176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96025" y="3662362"/>
            <a:ext cx="5314950" cy="18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6534150" y="2584339"/>
            <a:ext cx="1155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$i = 0;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6534150" y="2955814"/>
            <a:ext cx="1155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Início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8375600" y="2584339"/>
            <a:ext cx="1155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$i &lt; 5;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8375600" y="2955814"/>
            <a:ext cx="1155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Condição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10217050" y="2584339"/>
            <a:ext cx="1155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$i++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10217050" y="2955814"/>
            <a:ext cx="1155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Passo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762000" y="571500"/>
            <a:ext cx="5760720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LAÇO DE REPETIÇÃO (FOR)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571500"/>
            <a:ext cx="76200" cy="48577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71500" y="3125525"/>
            <a:ext cx="5418435" cy="134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0" name="Google Shape;19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952500" y="1590675"/>
            <a:ext cx="4953000" cy="942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Desafio 1: Par ou Ímpar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Crie $numero e use if/else para dizer se é Par ou Ímpar. (Use o operador %).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952500" y="2771775"/>
            <a:ext cx="4953000" cy="942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Desafio 2: Tabuada do 7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Use for ou while para imprimir: "7 x 1 = 7", "7 x 2 = 14"... até 10.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952500" y="3952875"/>
            <a:ext cx="4953000" cy="942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Desafio 3: Ano Novo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While regressivo de 10 até 1. Ao fim, exiba "Feliz Ano Novo!".</a:t>
            </a:r>
            <a:endParaRPr/>
          </a:p>
        </p:txBody>
      </p:sp>
      <p:pic>
        <p:nvPicPr>
          <p:cNvPr descr="image.png" id="194" name="Google Shape;19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96025" y="920500"/>
            <a:ext cx="5314950" cy="535304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633537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814637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3995737"/>
            <a:ext cx="16192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0"/>
          <p:cNvSpPr txBox="1"/>
          <p:nvPr/>
        </p:nvSpPr>
        <p:spPr>
          <a:xfrm>
            <a:off x="762000" y="571500"/>
            <a:ext cx="4770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HORA DA PRÁTICA! </a:t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571500" y="571500"/>
            <a:ext cx="76200" cy="48577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