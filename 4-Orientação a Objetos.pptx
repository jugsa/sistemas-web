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4"/>
  </p:sldMasterIdLst>
  <p:sldIdLst>
    <p:sldId id="256" r:id="rId5"/>
    <p:sldId id="257" r:id="rId6"/>
    <p:sldId id="261" r:id="rId7"/>
    <p:sldId id="258" r:id="rId8"/>
    <p:sldId id="259" r:id="rId9"/>
    <p:sldId id="260" r:id="rId10"/>
    <p:sldId id="262" r:id="rId11"/>
    <p:sldId id="263" r:id="rId12"/>
    <p:sldId id="264" r:id="rId13"/>
    <p:sldId id="265" r:id="rId14"/>
    <p:sldId id="266" r:id="rId15"/>
    <p:sldId id="267" r:id="rId16"/>
    <p:sldId id="268" r:id="rId17"/>
    <p:sldId id="269" r:id="rId18"/>
    <p:sldId id="270"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40" autoAdjust="0"/>
    <p:restoredTop sz="94660"/>
  </p:normalViewPr>
  <p:slideViewPr>
    <p:cSldViewPr snapToGrid="0">
      <p:cViewPr varScale="1">
        <p:scale>
          <a:sx n="72" d="100"/>
          <a:sy n="72" d="100"/>
        </p:scale>
        <p:origin x="57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ide de Título">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pt-BR"/>
              <a:t>Clique para editar o título mestre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a:t>Clique para editar o estilo do subtítulo Mestre</a:t>
            </a:r>
            <a:endParaRPr lang="en-US" dirty="0"/>
          </a:p>
        </p:txBody>
      </p:sp>
      <p:sp>
        <p:nvSpPr>
          <p:cNvPr id="4" name="Date Placeholder 3"/>
          <p:cNvSpPr>
            <a:spLocks noGrp="1"/>
          </p:cNvSpPr>
          <p:nvPr>
            <p:ph type="dt" sz="half" idx="10"/>
          </p:nvPr>
        </p:nvSpPr>
        <p:spPr/>
        <p:txBody>
          <a:bodyPr/>
          <a:lstStyle/>
          <a:p>
            <a:fld id="{A4D64E7D-DAAD-4FC2-BD68-4BAEAD2EAB37}" type="datetimeFigureOut">
              <a:rPr lang="pt-BR" smtClean="0"/>
              <a:t>14/09/2020</a:t>
            </a:fld>
            <a:endParaRPr lang="pt-BR"/>
          </a:p>
        </p:txBody>
      </p:sp>
      <p:sp>
        <p:nvSpPr>
          <p:cNvPr id="5" name="Footer Placeholder 4"/>
          <p:cNvSpPr>
            <a:spLocks noGrp="1"/>
          </p:cNvSpPr>
          <p:nvPr>
            <p:ph type="ftr" sz="quarter" idx="11"/>
          </p:nvPr>
        </p:nvSpPr>
        <p:spPr>
          <a:xfrm>
            <a:off x="5332412" y="5883275"/>
            <a:ext cx="4324044" cy="365125"/>
          </a:xfrm>
        </p:spPr>
        <p:txBody>
          <a:bodyPr/>
          <a:lstStyle/>
          <a:p>
            <a:endParaRPr lang="pt-BR"/>
          </a:p>
        </p:txBody>
      </p:sp>
      <p:sp>
        <p:nvSpPr>
          <p:cNvPr id="6" name="Slide Number Placeholder 5"/>
          <p:cNvSpPr>
            <a:spLocks noGrp="1"/>
          </p:cNvSpPr>
          <p:nvPr>
            <p:ph type="sldNum" sz="quarter" idx="12"/>
          </p:nvPr>
        </p:nvSpPr>
        <p:spPr/>
        <p:txBody>
          <a:bodyPr/>
          <a:lstStyle/>
          <a:p>
            <a:fld id="{DA47C601-698B-451C-A431-04A42B27C505}" type="slidenum">
              <a:rPr lang="pt-BR" smtClean="0"/>
              <a:t>‹nº›</a:t>
            </a:fld>
            <a:endParaRPr lang="pt-BR"/>
          </a:p>
        </p:txBody>
      </p:sp>
      <p:pic>
        <p:nvPicPr>
          <p:cNvPr id="10" name="Imagem 9">
            <a:extLst>
              <a:ext uri="{FF2B5EF4-FFF2-40B4-BE49-F238E27FC236}">
                <a16:creationId xmlns:a16="http://schemas.microsoft.com/office/drawing/2014/main" id="{8DFB1E4A-CF2F-4C01-A98D-9103E059F26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5721" y="4779205"/>
            <a:ext cx="2272666" cy="2097845"/>
          </a:xfrm>
          <a:prstGeom prst="rect">
            <a:avLst/>
          </a:prstGeom>
        </p:spPr>
      </p:pic>
    </p:spTree>
    <p:extLst>
      <p:ext uri="{BB962C8B-B14F-4D97-AF65-F5344CB8AC3E}">
        <p14:creationId xmlns:p14="http://schemas.microsoft.com/office/powerpoint/2010/main" val="10013044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nchor="ct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A4D64E7D-DAAD-4FC2-BD68-4BAEAD2EAB37}" type="datetimeFigureOut">
              <a:rPr lang="pt-BR" smtClean="0"/>
              <a:t>14/09/2020</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a:xfrm>
            <a:off x="10951856" y="5867131"/>
            <a:ext cx="551167" cy="365125"/>
          </a:xfrm>
        </p:spPr>
        <p:txBody>
          <a:bodyPr/>
          <a:lstStyle/>
          <a:p>
            <a:fld id="{DA47C601-698B-451C-A431-04A42B27C505}" type="slidenum">
              <a:rPr lang="pt-BR" smtClean="0"/>
              <a:t>‹nº›</a:t>
            </a:fld>
            <a:endParaRPr lang="pt-BR"/>
          </a:p>
        </p:txBody>
      </p:sp>
    </p:spTree>
    <p:extLst>
      <p:ext uri="{BB962C8B-B14F-4D97-AF65-F5344CB8AC3E}">
        <p14:creationId xmlns:p14="http://schemas.microsoft.com/office/powerpoint/2010/main" val="3196083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pt-BR"/>
              <a:t>Clique para editar o título mestre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Editar estilos de texto Mestre</a:t>
            </a:r>
          </a:p>
        </p:txBody>
      </p:sp>
      <p:sp>
        <p:nvSpPr>
          <p:cNvPr id="4" name="Date Placeholder 3"/>
          <p:cNvSpPr>
            <a:spLocks noGrp="1"/>
          </p:cNvSpPr>
          <p:nvPr>
            <p:ph type="dt" sz="half" idx="10"/>
          </p:nvPr>
        </p:nvSpPr>
        <p:spPr/>
        <p:txBody>
          <a:bodyPr/>
          <a:lstStyle/>
          <a:p>
            <a:fld id="{A4D64E7D-DAAD-4FC2-BD68-4BAEAD2EAB37}" type="datetimeFigureOut">
              <a:rPr lang="pt-BR" smtClean="0"/>
              <a:t>14/09/2020</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DA47C601-698B-451C-A431-04A42B27C505}" type="slidenum">
              <a:rPr lang="pt-BR" smtClean="0"/>
              <a:t>‹nº›</a:t>
            </a:fld>
            <a:endParaRPr lang="pt-BR"/>
          </a:p>
        </p:txBody>
      </p:sp>
    </p:spTree>
    <p:extLst>
      <p:ext uri="{BB962C8B-B14F-4D97-AF65-F5344CB8AC3E}">
        <p14:creationId xmlns:p14="http://schemas.microsoft.com/office/powerpoint/2010/main" val="24681792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pt-BR"/>
              <a:t>Clique para editar o título mestre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A4D64E7D-DAAD-4FC2-BD68-4BAEAD2EAB37}" type="datetimeFigureOut">
              <a:rPr lang="pt-BR" smtClean="0"/>
              <a:t>14/09/2020</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DA47C601-698B-451C-A431-04A42B27C505}" type="slidenum">
              <a:rPr lang="pt-BR" smtClean="0"/>
              <a:t>‹nº›</a:t>
            </a:fld>
            <a:endParaRPr lang="pt-BR"/>
          </a:p>
        </p:txBody>
      </p:sp>
    </p:spTree>
    <p:extLst>
      <p:ext uri="{BB962C8B-B14F-4D97-AF65-F5344CB8AC3E}">
        <p14:creationId xmlns:p14="http://schemas.microsoft.com/office/powerpoint/2010/main" val="34131066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pt-BR"/>
              <a:t>Clique para editar o título mestre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A4D64E7D-DAAD-4FC2-BD68-4BAEAD2EAB37}" type="datetimeFigureOut">
              <a:rPr lang="pt-BR" smtClean="0"/>
              <a:t>14/09/2020</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DA47C601-698B-451C-A431-04A42B27C505}" type="slidenum">
              <a:rPr lang="pt-BR" smtClean="0"/>
              <a:t>‹nº›</a:t>
            </a:fld>
            <a:endParaRPr lang="pt-BR"/>
          </a:p>
        </p:txBody>
      </p:sp>
    </p:spTree>
    <p:extLst>
      <p:ext uri="{BB962C8B-B14F-4D97-AF65-F5344CB8AC3E}">
        <p14:creationId xmlns:p14="http://schemas.microsoft.com/office/powerpoint/2010/main" val="26964207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A4D64E7D-DAAD-4FC2-BD68-4BAEAD2EAB37}" type="datetimeFigureOut">
              <a:rPr lang="pt-BR" smtClean="0"/>
              <a:t>14/09/2020</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DA47C601-698B-451C-A431-04A42B27C505}" type="slidenum">
              <a:rPr lang="pt-BR" smtClean="0"/>
              <a:t>‹nº›</a:t>
            </a:fld>
            <a:endParaRPr lang="pt-BR"/>
          </a:p>
        </p:txBody>
      </p:sp>
    </p:spTree>
    <p:extLst>
      <p:ext uri="{BB962C8B-B14F-4D97-AF65-F5344CB8AC3E}">
        <p14:creationId xmlns:p14="http://schemas.microsoft.com/office/powerpoint/2010/main" val="24184758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D64E7D-DAAD-4FC2-BD68-4BAEAD2EAB37}" type="datetimeFigureOut">
              <a:rPr lang="pt-BR" smtClean="0"/>
              <a:t>14/09/2020</a:t>
            </a:fld>
            <a:endParaRPr lang="pt-BR"/>
          </a:p>
        </p:txBody>
      </p:sp>
      <p:sp>
        <p:nvSpPr>
          <p:cNvPr id="3" name="Footer Placeholder 2"/>
          <p:cNvSpPr>
            <a:spLocks noGrp="1"/>
          </p:cNvSpPr>
          <p:nvPr>
            <p:ph type="ftr" sz="quarter" idx="11"/>
          </p:nvPr>
        </p:nvSpPr>
        <p:spPr/>
        <p:txBody>
          <a:bodyPr/>
          <a:lstStyle/>
          <a:p>
            <a:endParaRPr lang="pt-BR"/>
          </a:p>
        </p:txBody>
      </p:sp>
      <p:sp>
        <p:nvSpPr>
          <p:cNvPr id="4" name="Slide Number Placeholder 3"/>
          <p:cNvSpPr>
            <a:spLocks noGrp="1"/>
          </p:cNvSpPr>
          <p:nvPr>
            <p:ph type="sldNum" sz="quarter" idx="12"/>
          </p:nvPr>
        </p:nvSpPr>
        <p:spPr/>
        <p:txBody>
          <a:bodyPr/>
          <a:lstStyle/>
          <a:p>
            <a:fld id="{DA47C601-698B-451C-A431-04A42B27C505}" type="slidenum">
              <a:rPr lang="pt-BR" smtClean="0"/>
              <a:t>‹nº›</a:t>
            </a:fld>
            <a:endParaRPr lang="pt-BR"/>
          </a:p>
        </p:txBody>
      </p:sp>
    </p:spTree>
    <p:extLst>
      <p:ext uri="{BB962C8B-B14F-4D97-AF65-F5344CB8AC3E}">
        <p14:creationId xmlns:p14="http://schemas.microsoft.com/office/powerpoint/2010/main" val="29562013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pt-BR"/>
              <a:t>Clique para editar o título mestre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Editar estilos de texto Mestre</a:t>
            </a:r>
          </a:p>
        </p:txBody>
      </p:sp>
      <p:sp>
        <p:nvSpPr>
          <p:cNvPr id="5" name="Date Placeholder 4"/>
          <p:cNvSpPr>
            <a:spLocks noGrp="1"/>
          </p:cNvSpPr>
          <p:nvPr>
            <p:ph type="dt" sz="half" idx="10"/>
          </p:nvPr>
        </p:nvSpPr>
        <p:spPr/>
        <p:txBody>
          <a:bodyPr/>
          <a:lstStyle/>
          <a:p>
            <a:fld id="{A4D64E7D-DAAD-4FC2-BD68-4BAEAD2EAB37}" type="datetimeFigureOut">
              <a:rPr lang="pt-BR" smtClean="0"/>
              <a:t>14/09/2020</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DA47C601-698B-451C-A431-04A42B27C505}" type="slidenum">
              <a:rPr lang="pt-BR" smtClean="0"/>
              <a:t>‹nº›</a:t>
            </a:fld>
            <a:endParaRPr lang="pt-BR"/>
          </a:p>
        </p:txBody>
      </p:sp>
    </p:spTree>
    <p:extLst>
      <p:ext uri="{BB962C8B-B14F-4D97-AF65-F5344CB8AC3E}">
        <p14:creationId xmlns:p14="http://schemas.microsoft.com/office/powerpoint/2010/main" val="1318561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pt-BR"/>
              <a:t>Clique para editar o título mestre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Editar estilos de texto Mestre</a:t>
            </a:r>
          </a:p>
        </p:txBody>
      </p:sp>
      <p:sp>
        <p:nvSpPr>
          <p:cNvPr id="5" name="Date Placeholder 4"/>
          <p:cNvSpPr>
            <a:spLocks noGrp="1"/>
          </p:cNvSpPr>
          <p:nvPr>
            <p:ph type="dt" sz="half" idx="10"/>
          </p:nvPr>
        </p:nvSpPr>
        <p:spPr/>
        <p:txBody>
          <a:bodyPr/>
          <a:lstStyle/>
          <a:p>
            <a:fld id="{A4D64E7D-DAAD-4FC2-BD68-4BAEAD2EAB37}" type="datetimeFigureOut">
              <a:rPr lang="pt-BR" smtClean="0"/>
              <a:t>14/09/2020</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DA47C601-698B-451C-A431-04A42B27C505}" type="slidenum">
              <a:rPr lang="pt-BR" smtClean="0"/>
              <a:t>‹nº›</a:t>
            </a:fld>
            <a:endParaRPr lang="pt-BR"/>
          </a:p>
        </p:txBody>
      </p:sp>
    </p:spTree>
    <p:extLst>
      <p:ext uri="{BB962C8B-B14F-4D97-AF65-F5344CB8AC3E}">
        <p14:creationId xmlns:p14="http://schemas.microsoft.com/office/powerpoint/2010/main" val="16944706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Foto Panorâmica com Legenda">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pt-BR"/>
              <a:t>Clique no ícone para adicionar uma imagem</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Editar estilos de texto Mestre</a:t>
            </a:r>
          </a:p>
        </p:txBody>
      </p:sp>
      <p:sp>
        <p:nvSpPr>
          <p:cNvPr id="5" name="Date Placeholder 4"/>
          <p:cNvSpPr>
            <a:spLocks noGrp="1"/>
          </p:cNvSpPr>
          <p:nvPr>
            <p:ph type="dt" sz="half" idx="10"/>
          </p:nvPr>
        </p:nvSpPr>
        <p:spPr/>
        <p:txBody>
          <a:bodyPr/>
          <a:lstStyle/>
          <a:p>
            <a:fld id="{A4D64E7D-DAAD-4FC2-BD68-4BAEAD2EAB37}" type="datetimeFigureOut">
              <a:rPr lang="pt-BR" smtClean="0"/>
              <a:t>14/09/2020</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DA47C601-698B-451C-A431-04A42B27C505}" type="slidenum">
              <a:rPr lang="pt-BR" smtClean="0"/>
              <a:t>‹nº›</a:t>
            </a:fld>
            <a:endParaRPr lang="pt-BR"/>
          </a:p>
        </p:txBody>
      </p:sp>
    </p:spTree>
    <p:extLst>
      <p:ext uri="{BB962C8B-B14F-4D97-AF65-F5344CB8AC3E}">
        <p14:creationId xmlns:p14="http://schemas.microsoft.com/office/powerpoint/2010/main" val="7921512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e Legenda">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pt-BR"/>
              <a:t>Clique para editar o título mestre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Editar estilos de texto Mestre</a:t>
            </a:r>
          </a:p>
        </p:txBody>
      </p:sp>
      <p:sp>
        <p:nvSpPr>
          <p:cNvPr id="4" name="Date Placeholder 3"/>
          <p:cNvSpPr>
            <a:spLocks noGrp="1"/>
          </p:cNvSpPr>
          <p:nvPr>
            <p:ph type="dt" sz="half" idx="10"/>
          </p:nvPr>
        </p:nvSpPr>
        <p:spPr/>
        <p:txBody>
          <a:bodyPr/>
          <a:lstStyle/>
          <a:p>
            <a:fld id="{A4D64E7D-DAAD-4FC2-BD68-4BAEAD2EAB37}" type="datetimeFigureOut">
              <a:rPr lang="pt-BR" smtClean="0"/>
              <a:t>14/09/2020</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DA47C601-698B-451C-A431-04A42B27C505}" type="slidenum">
              <a:rPr lang="pt-BR" smtClean="0"/>
              <a:t>‹nº›</a:t>
            </a:fld>
            <a:endParaRPr lang="pt-BR"/>
          </a:p>
        </p:txBody>
      </p:sp>
    </p:spTree>
    <p:extLst>
      <p:ext uri="{BB962C8B-B14F-4D97-AF65-F5344CB8AC3E}">
        <p14:creationId xmlns:p14="http://schemas.microsoft.com/office/powerpoint/2010/main" val="19747931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ção com Legenda">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pt-BR"/>
              <a:t>Clique para editar o título mestre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pt-BR"/>
              <a:t>Editar estilos de texto Mestre</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Editar estilos de texto Mestre</a:t>
            </a:r>
          </a:p>
        </p:txBody>
      </p:sp>
      <p:sp>
        <p:nvSpPr>
          <p:cNvPr id="4" name="Date Placeholder 3"/>
          <p:cNvSpPr>
            <a:spLocks noGrp="1"/>
          </p:cNvSpPr>
          <p:nvPr>
            <p:ph type="dt" sz="half" idx="10"/>
          </p:nvPr>
        </p:nvSpPr>
        <p:spPr/>
        <p:txBody>
          <a:bodyPr/>
          <a:lstStyle/>
          <a:p>
            <a:fld id="{A4D64E7D-DAAD-4FC2-BD68-4BAEAD2EAB37}" type="datetimeFigureOut">
              <a:rPr lang="pt-BR" smtClean="0"/>
              <a:t>14/09/2020</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DA47C601-698B-451C-A431-04A42B27C505}" type="slidenum">
              <a:rPr lang="pt-BR" smtClean="0"/>
              <a:t>‹nº›</a:t>
            </a:fld>
            <a:endParaRPr lang="pt-BR"/>
          </a:p>
        </p:txBody>
      </p:sp>
    </p:spTree>
    <p:extLst>
      <p:ext uri="{BB962C8B-B14F-4D97-AF65-F5344CB8AC3E}">
        <p14:creationId xmlns:p14="http://schemas.microsoft.com/office/powerpoint/2010/main" val="18835294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ão de Nome">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pt-BR"/>
              <a:t>Clique para editar o título mestre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Editar estilos de texto Mestre</a:t>
            </a:r>
          </a:p>
        </p:txBody>
      </p:sp>
      <p:sp>
        <p:nvSpPr>
          <p:cNvPr id="4" name="Date Placeholder 3"/>
          <p:cNvSpPr>
            <a:spLocks noGrp="1"/>
          </p:cNvSpPr>
          <p:nvPr>
            <p:ph type="dt" sz="half" idx="10"/>
          </p:nvPr>
        </p:nvSpPr>
        <p:spPr/>
        <p:txBody>
          <a:bodyPr/>
          <a:lstStyle/>
          <a:p>
            <a:fld id="{A4D64E7D-DAAD-4FC2-BD68-4BAEAD2EAB37}" type="datetimeFigureOut">
              <a:rPr lang="pt-BR" smtClean="0"/>
              <a:t>14/09/2020</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DA47C601-698B-451C-A431-04A42B27C505}" type="slidenum">
              <a:rPr lang="pt-BR" smtClean="0"/>
              <a:t>‹nº›</a:t>
            </a:fld>
            <a:endParaRPr lang="pt-BR"/>
          </a:p>
        </p:txBody>
      </p:sp>
    </p:spTree>
    <p:extLst>
      <p:ext uri="{BB962C8B-B14F-4D97-AF65-F5344CB8AC3E}">
        <p14:creationId xmlns:p14="http://schemas.microsoft.com/office/powerpoint/2010/main" val="21065750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itar o Cartão de Nome">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pt-BR"/>
              <a:t>Clique para editar o título mestre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pt-BR"/>
              <a:t>Editar estilos de texto Mestre</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Editar estilos de texto Mestre</a:t>
            </a:r>
          </a:p>
        </p:txBody>
      </p:sp>
      <p:sp>
        <p:nvSpPr>
          <p:cNvPr id="4" name="Date Placeholder 3"/>
          <p:cNvSpPr>
            <a:spLocks noGrp="1"/>
          </p:cNvSpPr>
          <p:nvPr>
            <p:ph type="dt" sz="half" idx="10"/>
          </p:nvPr>
        </p:nvSpPr>
        <p:spPr/>
        <p:txBody>
          <a:bodyPr/>
          <a:lstStyle/>
          <a:p>
            <a:fld id="{A4D64E7D-DAAD-4FC2-BD68-4BAEAD2EAB37}" type="datetimeFigureOut">
              <a:rPr lang="pt-BR" smtClean="0"/>
              <a:t>14/09/2020</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DA47C601-698B-451C-A431-04A42B27C505}" type="slidenum">
              <a:rPr lang="pt-BR" smtClean="0"/>
              <a:t>‹nº›</a:t>
            </a:fld>
            <a:endParaRPr lang="pt-BR"/>
          </a:p>
        </p:txBody>
      </p:sp>
    </p:spTree>
    <p:extLst>
      <p:ext uri="{BB962C8B-B14F-4D97-AF65-F5344CB8AC3E}">
        <p14:creationId xmlns:p14="http://schemas.microsoft.com/office/powerpoint/2010/main" val="41736547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erdadeiro ou Falso">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pt-BR"/>
              <a:t>Clique para editar o título mestre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pt-BR"/>
              <a:t>Editar estilos de texto Mestre</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Editar estilos de texto Mestre</a:t>
            </a:r>
          </a:p>
        </p:txBody>
      </p:sp>
      <p:sp>
        <p:nvSpPr>
          <p:cNvPr id="4" name="Date Placeholder 3"/>
          <p:cNvSpPr>
            <a:spLocks noGrp="1"/>
          </p:cNvSpPr>
          <p:nvPr>
            <p:ph type="dt" sz="half" idx="10"/>
          </p:nvPr>
        </p:nvSpPr>
        <p:spPr/>
        <p:txBody>
          <a:bodyPr/>
          <a:lstStyle/>
          <a:p>
            <a:fld id="{A4D64E7D-DAAD-4FC2-BD68-4BAEAD2EAB37}" type="datetimeFigureOut">
              <a:rPr lang="pt-BR" smtClean="0"/>
              <a:t>14/09/2020</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DA47C601-698B-451C-A431-04A42B27C505}" type="slidenum">
              <a:rPr lang="pt-BR" smtClean="0"/>
              <a:t>‹nº›</a:t>
            </a:fld>
            <a:endParaRPr lang="pt-BR"/>
          </a:p>
        </p:txBody>
      </p:sp>
    </p:spTree>
    <p:extLst>
      <p:ext uri="{BB962C8B-B14F-4D97-AF65-F5344CB8AC3E}">
        <p14:creationId xmlns:p14="http://schemas.microsoft.com/office/powerpoint/2010/main" val="19280051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pt-BR"/>
              <a:t>Clique para editar o título mestre</a:t>
            </a:r>
            <a:endParaRPr lang="en-US" dirty="0"/>
          </a:p>
        </p:txBody>
      </p:sp>
      <p:sp>
        <p:nvSpPr>
          <p:cNvPr id="3" name="Vertical Text Placeholder 2"/>
          <p:cNvSpPr>
            <a:spLocks noGrp="1"/>
          </p:cNvSpPr>
          <p:nvPr>
            <p:ph type="body" orient="vert" idx="1"/>
          </p:nvPr>
        </p:nvSpPr>
        <p:spPr/>
        <p:txBody>
          <a:bodyPr vert="eaVert" ancho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A4D64E7D-DAAD-4FC2-BD68-4BAEAD2EAB37}" type="datetimeFigureOut">
              <a:rPr lang="pt-BR" smtClean="0"/>
              <a:t>14/09/2020</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DA47C601-698B-451C-A431-04A42B27C505}" type="slidenum">
              <a:rPr lang="pt-BR" smtClean="0"/>
              <a:t>‹nº›</a:t>
            </a:fld>
            <a:endParaRPr lang="pt-BR"/>
          </a:p>
        </p:txBody>
      </p:sp>
    </p:spTree>
    <p:extLst>
      <p:ext uri="{BB962C8B-B14F-4D97-AF65-F5344CB8AC3E}">
        <p14:creationId xmlns:p14="http://schemas.microsoft.com/office/powerpoint/2010/main" val="23230533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A4D64E7D-DAAD-4FC2-BD68-4BAEAD2EAB37}" type="datetimeFigureOut">
              <a:rPr lang="pt-BR" smtClean="0"/>
              <a:t>14/09/2020</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DA47C601-698B-451C-A431-04A42B27C505}" type="slidenum">
              <a:rPr lang="pt-BR" smtClean="0"/>
              <a:t>‹nº›</a:t>
            </a:fld>
            <a:endParaRPr lang="pt-BR"/>
          </a:p>
        </p:txBody>
      </p:sp>
    </p:spTree>
    <p:extLst>
      <p:ext uri="{BB962C8B-B14F-4D97-AF65-F5344CB8AC3E}">
        <p14:creationId xmlns:p14="http://schemas.microsoft.com/office/powerpoint/2010/main" val="25851977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pt-BR"/>
              <a:t>Clique para editar o título mestre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4D64E7D-DAAD-4FC2-BD68-4BAEAD2EAB37}" type="datetimeFigureOut">
              <a:rPr lang="pt-BR" smtClean="0"/>
              <a:t>14/09/2020</a:t>
            </a:fld>
            <a:endParaRPr lang="pt-BR"/>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pt-BR"/>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A47C601-698B-451C-A431-04A42B27C505}" type="slidenum">
              <a:rPr lang="pt-BR" smtClean="0"/>
              <a:t>‹nº›</a:t>
            </a:fld>
            <a:endParaRPr lang="pt-BR"/>
          </a:p>
        </p:txBody>
      </p:sp>
      <p:pic>
        <p:nvPicPr>
          <p:cNvPr id="14" name="Imagem 13">
            <a:extLst>
              <a:ext uri="{FF2B5EF4-FFF2-40B4-BE49-F238E27FC236}">
                <a16:creationId xmlns:a16="http://schemas.microsoft.com/office/drawing/2014/main" id="{065FAD68-07DC-4FAB-9FDF-0DC891EAB741}"/>
              </a:ext>
            </a:extLst>
          </p:cNvPr>
          <p:cNvPicPr>
            <a:picLocks noChangeAspect="1"/>
          </p:cNvPicPr>
          <p:nvPr userDrawn="1"/>
        </p:nvPicPr>
        <p:blipFill>
          <a:blip r:embed="rId19">
            <a:extLst>
              <a:ext uri="{28A0092B-C50C-407E-A947-70E740481C1C}">
                <a14:useLocalDpi xmlns:a14="http://schemas.microsoft.com/office/drawing/2010/main" val="0"/>
              </a:ext>
            </a:extLst>
          </a:blip>
          <a:stretch>
            <a:fillRect/>
          </a:stretch>
        </p:blipFill>
        <p:spPr>
          <a:xfrm>
            <a:off x="0" y="6013938"/>
            <a:ext cx="914400" cy="844062"/>
          </a:xfrm>
          <a:prstGeom prst="rect">
            <a:avLst/>
          </a:prstGeom>
        </p:spPr>
      </p:pic>
    </p:spTree>
    <p:extLst>
      <p:ext uri="{BB962C8B-B14F-4D97-AF65-F5344CB8AC3E}">
        <p14:creationId xmlns:p14="http://schemas.microsoft.com/office/powerpoint/2010/main" val="2675404886"/>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normAutofit/>
          </a:bodyPr>
          <a:lstStyle/>
          <a:p>
            <a:r>
              <a:rPr lang="pt-BR" dirty="0"/>
              <a:t>Orientação a Objetos</a:t>
            </a:r>
            <a:br>
              <a:rPr lang="pt-BR" dirty="0"/>
            </a:br>
            <a:r>
              <a:rPr lang="pt-BR" dirty="0"/>
              <a:t>Conceito</a:t>
            </a:r>
          </a:p>
        </p:txBody>
      </p:sp>
      <p:sp>
        <p:nvSpPr>
          <p:cNvPr id="3" name="Subtítulo 2"/>
          <p:cNvSpPr>
            <a:spLocks noGrp="1"/>
          </p:cNvSpPr>
          <p:nvPr>
            <p:ph type="subTitle" idx="1"/>
          </p:nvPr>
        </p:nvSpPr>
        <p:spPr/>
        <p:txBody>
          <a:bodyPr/>
          <a:lstStyle/>
          <a:p>
            <a:r>
              <a:rPr lang="pt-BR" dirty="0"/>
              <a:t>Prof. Juliana de Sá</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04F14C3-7EAE-4327-9F21-64B7E9044F41}"/>
              </a:ext>
            </a:extLst>
          </p:cNvPr>
          <p:cNvSpPr>
            <a:spLocks noGrp="1"/>
          </p:cNvSpPr>
          <p:nvPr>
            <p:ph type="title"/>
          </p:nvPr>
        </p:nvSpPr>
        <p:spPr/>
        <p:txBody>
          <a:bodyPr/>
          <a:lstStyle/>
          <a:p>
            <a:r>
              <a:rPr lang="pt-BR" dirty="0"/>
              <a:t>Objetivo</a:t>
            </a:r>
          </a:p>
        </p:txBody>
      </p:sp>
      <p:sp>
        <p:nvSpPr>
          <p:cNvPr id="3" name="Espaço Reservado para Conteúdo 2">
            <a:extLst>
              <a:ext uri="{FF2B5EF4-FFF2-40B4-BE49-F238E27FC236}">
                <a16:creationId xmlns:a16="http://schemas.microsoft.com/office/drawing/2014/main" id="{B5405B44-D5D7-46B1-A19A-BC4E5752C773}"/>
              </a:ext>
            </a:extLst>
          </p:cNvPr>
          <p:cNvSpPr>
            <a:spLocks noGrp="1"/>
          </p:cNvSpPr>
          <p:nvPr>
            <p:ph idx="1"/>
          </p:nvPr>
        </p:nvSpPr>
        <p:spPr/>
        <p:txBody>
          <a:bodyPr/>
          <a:lstStyle/>
          <a:p>
            <a:pPr algn="just"/>
            <a:r>
              <a:rPr lang="pt-BR" sz="1800" b="0" i="0" u="none" strike="noStrike" baseline="0" dirty="0">
                <a:solidFill>
                  <a:srgbClr val="000000"/>
                </a:solidFill>
                <a:latin typeface="Arial" panose="020B0604020202020204" pitchFamily="34" charset="0"/>
              </a:rPr>
              <a:t>É tentar aproximar o mundo real do mundo virtual, utilizando os conceitos do mundo que temos a nossa volta na programação, ou seja, tudo é considerado um objeto e o mesmo possui várias funcionalidades. </a:t>
            </a:r>
            <a:endParaRPr lang="pt-BR" dirty="0"/>
          </a:p>
        </p:txBody>
      </p:sp>
    </p:spTree>
    <p:extLst>
      <p:ext uri="{BB962C8B-B14F-4D97-AF65-F5344CB8AC3E}">
        <p14:creationId xmlns:p14="http://schemas.microsoft.com/office/powerpoint/2010/main" val="1905801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86E499-0C8F-48ED-826F-6473F8DBEF04}"/>
              </a:ext>
            </a:extLst>
          </p:cNvPr>
          <p:cNvSpPr>
            <a:spLocks noGrp="1"/>
          </p:cNvSpPr>
          <p:nvPr>
            <p:ph type="title"/>
          </p:nvPr>
        </p:nvSpPr>
        <p:spPr/>
        <p:txBody>
          <a:bodyPr/>
          <a:lstStyle/>
          <a:p>
            <a:r>
              <a:rPr lang="pt-BR" dirty="0"/>
              <a:t>O que é objeto?</a:t>
            </a:r>
          </a:p>
        </p:txBody>
      </p:sp>
      <p:sp>
        <p:nvSpPr>
          <p:cNvPr id="3" name="Espaço Reservado para Conteúdo 2">
            <a:extLst>
              <a:ext uri="{FF2B5EF4-FFF2-40B4-BE49-F238E27FC236}">
                <a16:creationId xmlns:a16="http://schemas.microsoft.com/office/drawing/2014/main" id="{5A9A407C-F35F-408B-9B03-553142E1C952}"/>
              </a:ext>
            </a:extLst>
          </p:cNvPr>
          <p:cNvSpPr>
            <a:spLocks noGrp="1"/>
          </p:cNvSpPr>
          <p:nvPr>
            <p:ph idx="1"/>
          </p:nvPr>
        </p:nvSpPr>
        <p:spPr/>
        <p:txBody>
          <a:bodyPr/>
          <a:lstStyle/>
          <a:p>
            <a:r>
              <a:rPr lang="pt-BR" sz="1800" b="0" i="0" u="none" strike="noStrike" baseline="0" dirty="0">
                <a:solidFill>
                  <a:srgbClr val="000000"/>
                </a:solidFill>
                <a:latin typeface="Arial" panose="020B0604020202020204" pitchFamily="34" charset="0"/>
              </a:rPr>
              <a:t>É a base dessa metodologia, é uma estrutura de dados com comportamentos de uma única entidade, ou seja, tudo o que podemos ver no mundo real é considerado um objeto com atributos e funcionalidades. </a:t>
            </a:r>
            <a:endParaRPr lang="pt-BR" dirty="0"/>
          </a:p>
        </p:txBody>
      </p:sp>
    </p:spTree>
    <p:extLst>
      <p:ext uri="{BB962C8B-B14F-4D97-AF65-F5344CB8AC3E}">
        <p14:creationId xmlns:p14="http://schemas.microsoft.com/office/powerpoint/2010/main" val="40200986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D70007-5B97-4945-818D-03F6DE5EDBBD}"/>
              </a:ext>
            </a:extLst>
          </p:cNvPr>
          <p:cNvSpPr>
            <a:spLocks noGrp="1"/>
          </p:cNvSpPr>
          <p:nvPr>
            <p:ph type="title"/>
          </p:nvPr>
        </p:nvSpPr>
        <p:spPr/>
        <p:txBody>
          <a:bodyPr/>
          <a:lstStyle/>
          <a:p>
            <a:r>
              <a:rPr lang="pt-BR" dirty="0"/>
              <a:t>Programação Orientada a Objeto</a:t>
            </a:r>
          </a:p>
        </p:txBody>
      </p:sp>
      <p:sp>
        <p:nvSpPr>
          <p:cNvPr id="3" name="Espaço Reservado para Conteúdo 2">
            <a:extLst>
              <a:ext uri="{FF2B5EF4-FFF2-40B4-BE49-F238E27FC236}">
                <a16:creationId xmlns:a16="http://schemas.microsoft.com/office/drawing/2014/main" id="{4B9E6FBA-2F1D-44AE-BAF4-E43ED3AC63EE}"/>
              </a:ext>
            </a:extLst>
          </p:cNvPr>
          <p:cNvSpPr>
            <a:spLocks noGrp="1"/>
          </p:cNvSpPr>
          <p:nvPr>
            <p:ph idx="1"/>
          </p:nvPr>
        </p:nvSpPr>
        <p:spPr>
          <a:xfrm>
            <a:off x="1484311" y="2666999"/>
            <a:ext cx="4611690" cy="3124201"/>
          </a:xfrm>
        </p:spPr>
        <p:txBody>
          <a:bodyPr/>
          <a:lstStyle/>
          <a:p>
            <a:r>
              <a:rPr lang="pt-BR" sz="1800" b="0" i="0" u="none" strike="noStrike" baseline="0" dirty="0">
                <a:solidFill>
                  <a:srgbClr val="000000"/>
                </a:solidFill>
                <a:latin typeface="Arial" panose="020B0604020202020204" pitchFamily="34" charset="0"/>
              </a:rPr>
              <a:t>É uma técnica de desenvolvimento de softwares que busca representar os elementos do mundo real dentro de um produto de software, trazendo uma abordagem natural para os conceitos de programação de softwares. </a:t>
            </a:r>
          </a:p>
          <a:p>
            <a:r>
              <a:rPr lang="pt-BR" sz="1800" dirty="0">
                <a:solidFill>
                  <a:srgbClr val="000000"/>
                </a:solidFill>
                <a:latin typeface="Arial" panose="020B0604020202020204" pitchFamily="34" charset="0"/>
              </a:rPr>
              <a:t>Exemplo:</a:t>
            </a:r>
            <a:endParaRPr lang="pt-BR" dirty="0"/>
          </a:p>
        </p:txBody>
      </p:sp>
      <p:sp>
        <p:nvSpPr>
          <p:cNvPr id="4" name="CaixaDeTexto 3">
            <a:extLst>
              <a:ext uri="{FF2B5EF4-FFF2-40B4-BE49-F238E27FC236}">
                <a16:creationId xmlns:a16="http://schemas.microsoft.com/office/drawing/2014/main" id="{6A17CED6-D74E-4AA5-8D7F-BFA0908E1AF3}"/>
              </a:ext>
            </a:extLst>
          </p:cNvPr>
          <p:cNvSpPr txBox="1"/>
          <p:nvPr/>
        </p:nvSpPr>
        <p:spPr>
          <a:xfrm>
            <a:off x="8661779" y="3126940"/>
            <a:ext cx="3075098" cy="2585323"/>
          </a:xfrm>
          <a:prstGeom prst="rect">
            <a:avLst/>
          </a:prstGeom>
          <a:noFill/>
          <a:ln w="38100">
            <a:solidFill>
              <a:srgbClr val="C00000"/>
            </a:solidFill>
          </a:ln>
        </p:spPr>
        <p:txBody>
          <a:bodyPr wrap="square" rtlCol="0">
            <a:spAutoFit/>
          </a:bodyPr>
          <a:lstStyle/>
          <a:p>
            <a:pPr algn="just"/>
            <a:r>
              <a:rPr lang="pt-BR" sz="1800" b="0" i="0" u="none" strike="noStrike" baseline="0" dirty="0">
                <a:solidFill>
                  <a:srgbClr val="000000"/>
                </a:solidFill>
                <a:latin typeface="Arial" panose="020B0604020202020204" pitchFamily="34" charset="0"/>
              </a:rPr>
              <a:t>No mundo real reconhecemos facilmente uma pessoa e suas características como: nome, idade, altura, peso, sexo e outras, e também conseguimos determinar quais ações este objeto pode ter, como andar. </a:t>
            </a:r>
            <a:endParaRPr lang="pt-BR" dirty="0"/>
          </a:p>
        </p:txBody>
      </p:sp>
      <p:pic>
        <p:nvPicPr>
          <p:cNvPr id="1026" name="Picture 2" descr="Ilustração em vetor de ícone de silhueta simples homem ou pessoa | Vectores  de Domínio Público">
            <a:extLst>
              <a:ext uri="{FF2B5EF4-FFF2-40B4-BE49-F238E27FC236}">
                <a16:creationId xmlns:a16="http://schemas.microsoft.com/office/drawing/2014/main" id="{05DB2F50-6F41-4D19-97B9-F97EC9388A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50240" y="2543175"/>
            <a:ext cx="1257300" cy="3629025"/>
          </a:xfrm>
          <a:prstGeom prst="rect">
            <a:avLst/>
          </a:prstGeom>
          <a:noFill/>
          <a:extLst>
            <a:ext uri="{909E8E84-426E-40DD-AFC4-6F175D3DCCD1}">
              <a14:hiddenFill xmlns:a14="http://schemas.microsoft.com/office/drawing/2010/main">
                <a:solidFill>
                  <a:srgbClr val="FFFFFF"/>
                </a:solidFill>
              </a14:hiddenFill>
            </a:ext>
          </a:extLst>
        </p:spPr>
      </p:pic>
      <p:cxnSp>
        <p:nvCxnSpPr>
          <p:cNvPr id="6" name="Conector reto 5">
            <a:extLst>
              <a:ext uri="{FF2B5EF4-FFF2-40B4-BE49-F238E27FC236}">
                <a16:creationId xmlns:a16="http://schemas.microsoft.com/office/drawing/2014/main" id="{F4543888-15DB-4EA8-BD11-C43BCD8C9928}"/>
              </a:ext>
            </a:extLst>
          </p:cNvPr>
          <p:cNvCxnSpPr/>
          <p:nvPr/>
        </p:nvCxnSpPr>
        <p:spPr>
          <a:xfrm>
            <a:off x="6313714" y="2543175"/>
            <a:ext cx="0" cy="3857625"/>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91011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031D9F-67B1-4399-AA97-A4D1C710AD65}"/>
              </a:ext>
            </a:extLst>
          </p:cNvPr>
          <p:cNvSpPr>
            <a:spLocks noGrp="1"/>
          </p:cNvSpPr>
          <p:nvPr>
            <p:ph type="title"/>
          </p:nvPr>
        </p:nvSpPr>
        <p:spPr/>
        <p:txBody>
          <a:bodyPr/>
          <a:lstStyle/>
          <a:p>
            <a:r>
              <a:rPr lang="pt-BR" dirty="0"/>
              <a:t>Programação Orientada a Objeto</a:t>
            </a:r>
          </a:p>
        </p:txBody>
      </p:sp>
      <p:sp>
        <p:nvSpPr>
          <p:cNvPr id="3" name="Espaço Reservado para Conteúdo 2">
            <a:extLst>
              <a:ext uri="{FF2B5EF4-FFF2-40B4-BE49-F238E27FC236}">
                <a16:creationId xmlns:a16="http://schemas.microsoft.com/office/drawing/2014/main" id="{D5EFDF3B-2A71-4CF8-8BBF-4CA0FE214D42}"/>
              </a:ext>
            </a:extLst>
          </p:cNvPr>
          <p:cNvSpPr>
            <a:spLocks noGrp="1"/>
          </p:cNvSpPr>
          <p:nvPr>
            <p:ph idx="1"/>
          </p:nvPr>
        </p:nvSpPr>
        <p:spPr/>
        <p:txBody>
          <a:bodyPr/>
          <a:lstStyle/>
          <a:p>
            <a:r>
              <a:rPr lang="pt-BR" dirty="0"/>
              <a:t>UML</a:t>
            </a:r>
          </a:p>
          <a:p>
            <a:r>
              <a:rPr lang="pt-BR" sz="1800" b="0" i="0" u="none" strike="noStrike" baseline="0" dirty="0">
                <a:solidFill>
                  <a:srgbClr val="000000"/>
                </a:solidFill>
                <a:latin typeface="Arial" panose="020B0604020202020204" pitchFamily="34" charset="0"/>
              </a:rPr>
              <a:t>A UML (</a:t>
            </a:r>
            <a:r>
              <a:rPr lang="pt-BR" sz="1800" b="0" i="0" u="none" strike="noStrike" baseline="0" dirty="0" err="1">
                <a:solidFill>
                  <a:srgbClr val="000000"/>
                </a:solidFill>
                <a:latin typeface="Arial" panose="020B0604020202020204" pitchFamily="34" charset="0"/>
              </a:rPr>
              <a:t>Unified</a:t>
            </a:r>
            <a:r>
              <a:rPr lang="pt-BR" sz="1800" b="0" i="0" u="none" strike="noStrike" baseline="0" dirty="0">
                <a:solidFill>
                  <a:srgbClr val="000000"/>
                </a:solidFill>
                <a:latin typeface="Arial" panose="020B0604020202020204" pitchFamily="34" charset="0"/>
              </a:rPr>
              <a:t> </a:t>
            </a:r>
            <a:r>
              <a:rPr lang="pt-BR" sz="1800" b="0" i="0" u="none" strike="noStrike" baseline="0" dirty="0" err="1">
                <a:solidFill>
                  <a:srgbClr val="000000"/>
                </a:solidFill>
                <a:latin typeface="Arial" panose="020B0604020202020204" pitchFamily="34" charset="0"/>
              </a:rPr>
              <a:t>Modeling</a:t>
            </a:r>
            <a:r>
              <a:rPr lang="pt-BR" sz="1800" b="0" i="0" u="none" strike="noStrike" baseline="0" dirty="0">
                <a:solidFill>
                  <a:srgbClr val="000000"/>
                </a:solidFill>
                <a:latin typeface="Arial" panose="020B0604020202020204" pitchFamily="34" charset="0"/>
              </a:rPr>
              <a:t> </a:t>
            </a:r>
            <a:r>
              <a:rPr lang="pt-BR" sz="1800" b="0" i="0" u="none" strike="noStrike" baseline="0" dirty="0" err="1">
                <a:solidFill>
                  <a:srgbClr val="000000"/>
                </a:solidFill>
                <a:latin typeface="Arial" panose="020B0604020202020204" pitchFamily="34" charset="0"/>
              </a:rPr>
              <a:t>Language</a:t>
            </a:r>
            <a:r>
              <a:rPr lang="pt-BR" sz="1800" b="0" i="0" u="none" strike="noStrike" baseline="0" dirty="0">
                <a:solidFill>
                  <a:srgbClr val="000000"/>
                </a:solidFill>
                <a:latin typeface="Arial" panose="020B0604020202020204" pitchFamily="34" charset="0"/>
              </a:rPr>
              <a:t>) que significa Linguagem de Modelagem Unificada é uma linguagem visual que serve para especificar, construir, visualizar e documentar sistemas orientados a objetos. </a:t>
            </a:r>
            <a:endParaRPr lang="pt-BR" dirty="0"/>
          </a:p>
        </p:txBody>
      </p:sp>
    </p:spTree>
    <p:extLst>
      <p:ext uri="{BB962C8B-B14F-4D97-AF65-F5344CB8AC3E}">
        <p14:creationId xmlns:p14="http://schemas.microsoft.com/office/powerpoint/2010/main" val="3477716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004633-468C-4A2E-8D39-A5C09F5348AB}"/>
              </a:ext>
            </a:extLst>
          </p:cNvPr>
          <p:cNvSpPr>
            <a:spLocks noGrp="1"/>
          </p:cNvSpPr>
          <p:nvPr>
            <p:ph type="title"/>
          </p:nvPr>
        </p:nvSpPr>
        <p:spPr>
          <a:xfrm>
            <a:off x="1484311" y="685800"/>
            <a:ext cx="10018713" cy="1185333"/>
          </a:xfrm>
        </p:spPr>
        <p:txBody>
          <a:bodyPr>
            <a:normAutofit/>
          </a:bodyPr>
          <a:lstStyle/>
          <a:p>
            <a:r>
              <a:rPr lang="pt-BR" dirty="0"/>
              <a:t>Programação Orientada a Objeto</a:t>
            </a:r>
          </a:p>
        </p:txBody>
      </p:sp>
      <p:sp>
        <p:nvSpPr>
          <p:cNvPr id="3" name="Espaço Reservado para Conteúdo 2">
            <a:extLst>
              <a:ext uri="{FF2B5EF4-FFF2-40B4-BE49-F238E27FC236}">
                <a16:creationId xmlns:a16="http://schemas.microsoft.com/office/drawing/2014/main" id="{4106F835-6F61-4D2A-8A04-D42A45431E7F}"/>
              </a:ext>
            </a:extLst>
          </p:cNvPr>
          <p:cNvSpPr>
            <a:spLocks noGrp="1"/>
          </p:cNvSpPr>
          <p:nvPr>
            <p:ph idx="1"/>
          </p:nvPr>
        </p:nvSpPr>
        <p:spPr>
          <a:xfrm>
            <a:off x="1484311" y="1998133"/>
            <a:ext cx="6855356" cy="3793067"/>
          </a:xfrm>
        </p:spPr>
        <p:txBody>
          <a:bodyPr>
            <a:normAutofit/>
          </a:bodyPr>
          <a:lstStyle/>
          <a:p>
            <a:r>
              <a:rPr lang="pt-BR" b="0" i="0" u="none" strike="noStrike" baseline="0" dirty="0">
                <a:latin typeface="Arial" panose="020B0604020202020204" pitchFamily="34" charset="0"/>
              </a:rPr>
              <a:t>Em um programa reproduzimos as percepções do mundo real, com suas definições, características e ações. Uma pessoa tem: nome, idade, altura, peso e sexo e pode executar a ação andar. </a:t>
            </a:r>
          </a:p>
          <a:p>
            <a:r>
              <a:rPr lang="pt-BR" dirty="0">
                <a:latin typeface="Arial" panose="020B0604020202020204" pitchFamily="34" charset="0"/>
              </a:rPr>
              <a:t>Exemplo: classe Pessoa</a:t>
            </a:r>
          </a:p>
          <a:p>
            <a:endParaRPr lang="pt-BR" dirty="0"/>
          </a:p>
        </p:txBody>
      </p:sp>
      <p:pic>
        <p:nvPicPr>
          <p:cNvPr id="5" name="Imagem 4">
            <a:extLst>
              <a:ext uri="{FF2B5EF4-FFF2-40B4-BE49-F238E27FC236}">
                <a16:creationId xmlns:a16="http://schemas.microsoft.com/office/drawing/2014/main" id="{D169327F-0A7E-4C93-8AAD-359A8F2CCE4F}"/>
              </a:ext>
            </a:extLst>
          </p:cNvPr>
          <p:cNvPicPr>
            <a:picLocks noChangeAspect="1"/>
          </p:cNvPicPr>
          <p:nvPr/>
        </p:nvPicPr>
        <p:blipFill>
          <a:blip r:embed="rId3"/>
          <a:stretch>
            <a:fillRect/>
          </a:stretch>
        </p:blipFill>
        <p:spPr>
          <a:xfrm>
            <a:off x="8785907" y="2145581"/>
            <a:ext cx="2717116" cy="349661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pic>
    </p:spTree>
    <p:extLst>
      <p:ext uri="{BB962C8B-B14F-4D97-AF65-F5344CB8AC3E}">
        <p14:creationId xmlns:p14="http://schemas.microsoft.com/office/powerpoint/2010/main" val="39597841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56CEFB-ED22-46AC-836E-EC543FA18D70}"/>
              </a:ext>
            </a:extLst>
          </p:cNvPr>
          <p:cNvSpPr>
            <a:spLocks noGrp="1"/>
          </p:cNvSpPr>
          <p:nvPr>
            <p:ph type="title"/>
          </p:nvPr>
        </p:nvSpPr>
        <p:spPr/>
        <p:txBody>
          <a:bodyPr/>
          <a:lstStyle/>
          <a:p>
            <a:r>
              <a:rPr lang="pt-BR" dirty="0"/>
              <a:t>Abstração</a:t>
            </a:r>
            <a:r>
              <a:rPr lang="pt-BR" sz="1800" b="0" i="0" u="none" strike="noStrike" baseline="0" dirty="0">
                <a:solidFill>
                  <a:srgbClr val="000000"/>
                </a:solidFill>
                <a:latin typeface="Arial" panose="020B0604020202020204" pitchFamily="34" charset="0"/>
              </a:rPr>
              <a:t> </a:t>
            </a:r>
            <a:endParaRPr lang="pt-BR" dirty="0"/>
          </a:p>
        </p:txBody>
      </p:sp>
      <p:sp>
        <p:nvSpPr>
          <p:cNvPr id="3" name="Espaço Reservado para Conteúdo 2">
            <a:extLst>
              <a:ext uri="{FF2B5EF4-FFF2-40B4-BE49-F238E27FC236}">
                <a16:creationId xmlns:a16="http://schemas.microsoft.com/office/drawing/2014/main" id="{F7E2CA70-334B-4C55-98C4-6844FD9DC66B}"/>
              </a:ext>
            </a:extLst>
          </p:cNvPr>
          <p:cNvSpPr>
            <a:spLocks noGrp="1"/>
          </p:cNvSpPr>
          <p:nvPr>
            <p:ph idx="1"/>
          </p:nvPr>
        </p:nvSpPr>
        <p:spPr/>
        <p:txBody>
          <a:bodyPr/>
          <a:lstStyle/>
          <a:p>
            <a:pPr algn="just"/>
            <a:r>
              <a:rPr lang="pt-BR" sz="1800" dirty="0">
                <a:solidFill>
                  <a:srgbClr val="000000"/>
                </a:solidFill>
                <a:latin typeface="Arial" panose="020B0604020202020204" pitchFamily="34" charset="0"/>
              </a:rPr>
              <a:t>É</a:t>
            </a:r>
            <a:r>
              <a:rPr lang="pt-BR" sz="1800" b="0" i="0" u="none" strike="noStrike" baseline="0" dirty="0">
                <a:solidFill>
                  <a:srgbClr val="000000"/>
                </a:solidFill>
                <a:latin typeface="Arial" panose="020B0604020202020204" pitchFamily="34" charset="0"/>
              </a:rPr>
              <a:t> a técnica ou habilidade de focar nos pontos principais de um determinado contexto, ignorando características menos importantes ou acidentais naquele contexto. Uma característica ignorada em um ponto pode ser relevante em outro momento e então será considerada. </a:t>
            </a:r>
            <a:endParaRPr lang="pt-BR" dirty="0"/>
          </a:p>
        </p:txBody>
      </p:sp>
    </p:spTree>
    <p:extLst>
      <p:ext uri="{BB962C8B-B14F-4D97-AF65-F5344CB8AC3E}">
        <p14:creationId xmlns:p14="http://schemas.microsoft.com/office/powerpoint/2010/main" val="38517108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39674D-C86D-4B99-AAD2-0F6E22B4E9FE}"/>
              </a:ext>
            </a:extLst>
          </p:cNvPr>
          <p:cNvSpPr>
            <a:spLocks noGrp="1"/>
          </p:cNvSpPr>
          <p:nvPr>
            <p:ph type="title"/>
          </p:nvPr>
        </p:nvSpPr>
        <p:spPr/>
        <p:txBody>
          <a:bodyPr/>
          <a:lstStyle/>
          <a:p>
            <a:r>
              <a:rPr lang="pt-BR" dirty="0"/>
              <a:t>Classe</a:t>
            </a:r>
          </a:p>
        </p:txBody>
      </p:sp>
      <p:sp>
        <p:nvSpPr>
          <p:cNvPr id="3" name="Espaço Reservado para Conteúdo 2">
            <a:extLst>
              <a:ext uri="{FF2B5EF4-FFF2-40B4-BE49-F238E27FC236}">
                <a16:creationId xmlns:a16="http://schemas.microsoft.com/office/drawing/2014/main" id="{EAE89B7B-BF73-4419-A14C-34C126D871B9}"/>
              </a:ext>
            </a:extLst>
          </p:cNvPr>
          <p:cNvSpPr>
            <a:spLocks noGrp="1"/>
          </p:cNvSpPr>
          <p:nvPr>
            <p:ph idx="1"/>
          </p:nvPr>
        </p:nvSpPr>
        <p:spPr/>
        <p:txBody>
          <a:bodyPr/>
          <a:lstStyle/>
          <a:p>
            <a:r>
              <a:rPr lang="pt-BR" sz="1800" b="0" i="0" u="none" strike="noStrike" baseline="0" dirty="0">
                <a:solidFill>
                  <a:srgbClr val="000000"/>
                </a:solidFill>
                <a:latin typeface="Arial" panose="020B0604020202020204" pitchFamily="34" charset="0"/>
              </a:rPr>
              <a:t>É apenas um modelo com foco nos aspectos principais para então serem criados objetos com suas características específicas, cada objeto criado terá sua própria forma. </a:t>
            </a:r>
            <a:endParaRPr lang="pt-BR" dirty="0"/>
          </a:p>
        </p:txBody>
      </p:sp>
    </p:spTree>
    <p:extLst>
      <p:ext uri="{BB962C8B-B14F-4D97-AF65-F5344CB8AC3E}">
        <p14:creationId xmlns:p14="http://schemas.microsoft.com/office/powerpoint/2010/main" val="25087782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71" name="Group 70">
            <a:extLst>
              <a:ext uri="{FF2B5EF4-FFF2-40B4-BE49-F238E27FC236}">
                <a16:creationId xmlns:a16="http://schemas.microsoft.com/office/drawing/2014/main" id="{0A47CF6F-27C2-43F3-AF69-E3D5763637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6100" y="-4763"/>
            <a:ext cx="5014912" cy="6862763"/>
            <a:chOff x="2928938" y="-4763"/>
            <a:chExt cx="5014912" cy="6862763"/>
          </a:xfrm>
        </p:grpSpPr>
        <p:sp>
          <p:nvSpPr>
            <p:cNvPr id="72" name="Freeform 6">
              <a:extLst>
                <a:ext uri="{FF2B5EF4-FFF2-40B4-BE49-F238E27FC236}">
                  <a16:creationId xmlns:a16="http://schemas.microsoft.com/office/drawing/2014/main" id="{39EB00CB-5B69-438D-944F-2E0382BA03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73" name="Freeform 7">
              <a:extLst>
                <a:ext uri="{FF2B5EF4-FFF2-40B4-BE49-F238E27FC236}">
                  <a16:creationId xmlns:a16="http://schemas.microsoft.com/office/drawing/2014/main" id="{6D931D9D-4C35-4CDF-BFF0-03DD038816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74" name="Freeform 9">
              <a:extLst>
                <a:ext uri="{FF2B5EF4-FFF2-40B4-BE49-F238E27FC236}">
                  <a16:creationId xmlns:a16="http://schemas.microsoft.com/office/drawing/2014/main" id="{26D9B8E3-CFAB-4428-9D62-576BF978EB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75" name="Freeform 10">
              <a:extLst>
                <a:ext uri="{FF2B5EF4-FFF2-40B4-BE49-F238E27FC236}">
                  <a16:creationId xmlns:a16="http://schemas.microsoft.com/office/drawing/2014/main" id="{F019DFF8-C5AB-45D0-8A70-627BFEF9A5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76" name="Freeform 11">
              <a:extLst>
                <a:ext uri="{FF2B5EF4-FFF2-40B4-BE49-F238E27FC236}">
                  <a16:creationId xmlns:a16="http://schemas.microsoft.com/office/drawing/2014/main" id="{E548346E-CCE3-4C53-B753-ABF3C098BC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77" name="Freeform 12">
              <a:extLst>
                <a:ext uri="{FF2B5EF4-FFF2-40B4-BE49-F238E27FC236}">
                  <a16:creationId xmlns:a16="http://schemas.microsoft.com/office/drawing/2014/main" id="{C19E6868-EA25-4961-B0E5-EF4F9DD20D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useBgFill="1">
        <p:nvSpPr>
          <p:cNvPr id="79" name="Rectangle 78">
            <a:extLst>
              <a:ext uri="{FF2B5EF4-FFF2-40B4-BE49-F238E27FC236}">
                <a16:creationId xmlns:a16="http://schemas.microsoft.com/office/drawing/2014/main" id="{F64080D6-34DE-4277-97CC-2FB3812846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Confusão Patrimonial: O que é? - Prolink Contábil">
            <a:extLst>
              <a:ext uri="{FF2B5EF4-FFF2-40B4-BE49-F238E27FC236}">
                <a16:creationId xmlns:a16="http://schemas.microsoft.com/office/drawing/2014/main" id="{6A6A2C96-141C-40DC-BB74-E1390B1A5FB0}"/>
              </a:ext>
            </a:extLst>
          </p:cNvPr>
          <p:cNvPicPr>
            <a:picLocks noChangeAspect="1" noChangeArrowheads="1"/>
          </p:cNvPicPr>
          <p:nvPr/>
        </p:nvPicPr>
        <p:blipFill rotWithShape="1">
          <a:blip r:embed="rId2">
            <a:alphaModFix amt="40000"/>
            <a:extLst>
              <a:ext uri="{28A0092B-C50C-407E-A947-70E740481C1C}">
                <a14:useLocalDpi xmlns:a14="http://schemas.microsoft.com/office/drawing/2010/main" val="0"/>
              </a:ext>
            </a:extLst>
          </a:blip>
          <a:srcRect b="3846"/>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C62DB156-7528-47BC-B7B5-3961A155AA1F}"/>
              </a:ext>
            </a:extLst>
          </p:cNvPr>
          <p:cNvSpPr>
            <a:spLocks noGrp="1"/>
          </p:cNvSpPr>
          <p:nvPr>
            <p:ph type="title"/>
          </p:nvPr>
        </p:nvSpPr>
        <p:spPr>
          <a:xfrm>
            <a:off x="2928401" y="1380068"/>
            <a:ext cx="8574622" cy="2616199"/>
          </a:xfrm>
        </p:spPr>
        <p:txBody>
          <a:bodyPr vert="horz" lIns="91440" tIns="45720" rIns="91440" bIns="45720" rtlCol="0" anchor="b">
            <a:normAutofit/>
          </a:bodyPr>
          <a:lstStyle/>
          <a:p>
            <a:pPr algn="r"/>
            <a:r>
              <a:rPr lang="en-US" sz="6000"/>
              <a:t>Ainda está confuso? Vamos exemplificar </a:t>
            </a:r>
          </a:p>
        </p:txBody>
      </p:sp>
    </p:spTree>
    <p:extLst>
      <p:ext uri="{BB962C8B-B14F-4D97-AF65-F5344CB8AC3E}">
        <p14:creationId xmlns:p14="http://schemas.microsoft.com/office/powerpoint/2010/main" val="3376435459"/>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2DB156-7528-47BC-B7B5-3961A155AA1F}"/>
              </a:ext>
            </a:extLst>
          </p:cNvPr>
          <p:cNvSpPr>
            <a:spLocks noGrp="1"/>
          </p:cNvSpPr>
          <p:nvPr>
            <p:ph type="title"/>
          </p:nvPr>
        </p:nvSpPr>
        <p:spPr/>
        <p:txBody>
          <a:bodyPr/>
          <a:lstStyle/>
          <a:p>
            <a:r>
              <a:rPr lang="pt-BR" dirty="0"/>
              <a:t>Objetos</a:t>
            </a:r>
          </a:p>
        </p:txBody>
      </p:sp>
      <p:sp>
        <p:nvSpPr>
          <p:cNvPr id="3" name="Espaço Reservado para Conteúdo 2">
            <a:extLst>
              <a:ext uri="{FF2B5EF4-FFF2-40B4-BE49-F238E27FC236}">
                <a16:creationId xmlns:a16="http://schemas.microsoft.com/office/drawing/2014/main" id="{AB973ACC-6D23-476B-80B2-0C917252BE9F}"/>
              </a:ext>
            </a:extLst>
          </p:cNvPr>
          <p:cNvSpPr>
            <a:spLocks noGrp="1"/>
          </p:cNvSpPr>
          <p:nvPr>
            <p:ph idx="1"/>
          </p:nvPr>
        </p:nvSpPr>
        <p:spPr/>
        <p:txBody>
          <a:bodyPr/>
          <a:lstStyle/>
          <a:p>
            <a:r>
              <a:rPr lang="pt-BR" sz="1800" b="0" i="0" u="none" strike="noStrike" baseline="0" dirty="0">
                <a:solidFill>
                  <a:srgbClr val="000000"/>
                </a:solidFill>
                <a:latin typeface="Arial" panose="020B0604020202020204" pitchFamily="34" charset="0"/>
              </a:rPr>
              <a:t>São elementos que pertencem ao mundo real, ou imaginário, e que podemos de alguma forma, identificar, como uma pessoa, uma caneta, uma carteira, entre outros. </a:t>
            </a:r>
          </a:p>
          <a:p>
            <a:r>
              <a:rPr lang="pt-BR" sz="1800" b="0" i="0" u="none" strike="noStrike" baseline="0" dirty="0">
                <a:solidFill>
                  <a:srgbClr val="000000"/>
                </a:solidFill>
                <a:latin typeface="Arial" panose="020B0604020202020204" pitchFamily="34" charset="0"/>
              </a:rPr>
              <a:t>Dentro do objeto são armazenadas informações em determinadas propriedades, que são chamadas, também de atributos. O objeto interage com o meio e, em função dos estímulos a que é exposto, realiza determinadas ações que alteram o estado e/ou informações de seus atributos. </a:t>
            </a:r>
            <a:endParaRPr lang="pt-BR" dirty="0"/>
          </a:p>
        </p:txBody>
      </p:sp>
    </p:spTree>
    <p:extLst>
      <p:ext uri="{BB962C8B-B14F-4D97-AF65-F5344CB8AC3E}">
        <p14:creationId xmlns:p14="http://schemas.microsoft.com/office/powerpoint/2010/main" val="42665888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6D3068-9729-4AFA-A152-DB4890ACD3AC}"/>
              </a:ext>
            </a:extLst>
          </p:cNvPr>
          <p:cNvSpPr>
            <a:spLocks noGrp="1"/>
          </p:cNvSpPr>
          <p:nvPr>
            <p:ph type="title"/>
          </p:nvPr>
        </p:nvSpPr>
        <p:spPr/>
        <p:txBody>
          <a:bodyPr/>
          <a:lstStyle/>
          <a:p>
            <a:r>
              <a:rPr lang="pt-BR" dirty="0"/>
              <a:t>Classes</a:t>
            </a:r>
          </a:p>
        </p:txBody>
      </p:sp>
      <p:sp>
        <p:nvSpPr>
          <p:cNvPr id="3" name="Espaço Reservado para Conteúdo 2">
            <a:extLst>
              <a:ext uri="{FF2B5EF4-FFF2-40B4-BE49-F238E27FC236}">
                <a16:creationId xmlns:a16="http://schemas.microsoft.com/office/drawing/2014/main" id="{646D6304-9E3A-492F-B1ED-3672FBC02189}"/>
              </a:ext>
            </a:extLst>
          </p:cNvPr>
          <p:cNvSpPr>
            <a:spLocks noGrp="1"/>
          </p:cNvSpPr>
          <p:nvPr>
            <p:ph idx="1"/>
          </p:nvPr>
        </p:nvSpPr>
        <p:spPr/>
        <p:txBody>
          <a:bodyPr/>
          <a:lstStyle/>
          <a:p>
            <a:r>
              <a:rPr lang="pt-BR" sz="1800" b="0" i="0" u="none" strike="noStrike" baseline="0" dirty="0">
                <a:solidFill>
                  <a:srgbClr val="000000"/>
                </a:solidFill>
                <a:latin typeface="Arial" panose="020B0604020202020204" pitchFamily="34" charset="0"/>
              </a:rPr>
              <a:t>Representa um conjunto de objetos com características semelhantes. Uma classe define o comportamento dos objetos por meio de métodos, definindo, os estados que ele é capaz de manter mediante atributos. Por exemplo, a classe “Pessoa” poderia ter os objetos “Fabiana”, “Ligia”, ”Paulo”, ”Marcos” e “Ana”. É possível criar quantos objetos forem necessários a partir de uma mesma classe, e todos terão as mesmas funcionalidades que foram definidas na classe. </a:t>
            </a:r>
            <a:endParaRPr lang="pt-BR" dirty="0"/>
          </a:p>
        </p:txBody>
      </p:sp>
    </p:spTree>
    <p:extLst>
      <p:ext uri="{BB962C8B-B14F-4D97-AF65-F5344CB8AC3E}">
        <p14:creationId xmlns:p14="http://schemas.microsoft.com/office/powerpoint/2010/main" val="3011399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71" name="Group 70">
            <a:extLst>
              <a:ext uri="{FF2B5EF4-FFF2-40B4-BE49-F238E27FC236}">
                <a16:creationId xmlns:a16="http://schemas.microsoft.com/office/drawing/2014/main" id="{0A47CF6F-27C2-43F3-AF69-E3D5763637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6100" y="-4763"/>
            <a:ext cx="5014912" cy="6862763"/>
            <a:chOff x="2928938" y="-4763"/>
            <a:chExt cx="5014912" cy="6862763"/>
          </a:xfrm>
        </p:grpSpPr>
        <p:sp>
          <p:nvSpPr>
            <p:cNvPr id="72" name="Freeform 6">
              <a:extLst>
                <a:ext uri="{FF2B5EF4-FFF2-40B4-BE49-F238E27FC236}">
                  <a16:creationId xmlns:a16="http://schemas.microsoft.com/office/drawing/2014/main" id="{39EB00CB-5B69-438D-944F-2E0382BA03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73" name="Freeform 7">
              <a:extLst>
                <a:ext uri="{FF2B5EF4-FFF2-40B4-BE49-F238E27FC236}">
                  <a16:creationId xmlns:a16="http://schemas.microsoft.com/office/drawing/2014/main" id="{6D931D9D-4C35-4CDF-BFF0-03DD038816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74" name="Freeform 9">
              <a:extLst>
                <a:ext uri="{FF2B5EF4-FFF2-40B4-BE49-F238E27FC236}">
                  <a16:creationId xmlns:a16="http://schemas.microsoft.com/office/drawing/2014/main" id="{26D9B8E3-CFAB-4428-9D62-576BF978EB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75" name="Freeform 10">
              <a:extLst>
                <a:ext uri="{FF2B5EF4-FFF2-40B4-BE49-F238E27FC236}">
                  <a16:creationId xmlns:a16="http://schemas.microsoft.com/office/drawing/2014/main" id="{F019DFF8-C5AB-45D0-8A70-627BFEF9A5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76" name="Freeform 11">
              <a:extLst>
                <a:ext uri="{FF2B5EF4-FFF2-40B4-BE49-F238E27FC236}">
                  <a16:creationId xmlns:a16="http://schemas.microsoft.com/office/drawing/2014/main" id="{E548346E-CCE3-4C53-B753-ABF3C098BC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77" name="Freeform 12">
              <a:extLst>
                <a:ext uri="{FF2B5EF4-FFF2-40B4-BE49-F238E27FC236}">
                  <a16:creationId xmlns:a16="http://schemas.microsoft.com/office/drawing/2014/main" id="{C19E6868-EA25-4961-B0E5-EF4F9DD20D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useBgFill="1">
        <p:nvSpPr>
          <p:cNvPr id="79" name="Rectangle 78">
            <a:extLst>
              <a:ext uri="{FF2B5EF4-FFF2-40B4-BE49-F238E27FC236}">
                <a16:creationId xmlns:a16="http://schemas.microsoft.com/office/drawing/2014/main" id="{A9BAE969-AB5B-40E1-B33B-79C2DC3654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Como fazer uma conclusão? - Toda Matéria">
            <a:extLst>
              <a:ext uri="{FF2B5EF4-FFF2-40B4-BE49-F238E27FC236}">
                <a16:creationId xmlns:a16="http://schemas.microsoft.com/office/drawing/2014/main" id="{5CF3F360-2BE9-4BB3-9B0C-4189D7B2922B}"/>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l="14808" r="2082" b="1"/>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81" name="Freeform 13">
            <a:extLst>
              <a:ext uri="{FF2B5EF4-FFF2-40B4-BE49-F238E27FC236}">
                <a16:creationId xmlns:a16="http://schemas.microsoft.com/office/drawing/2014/main" id="{B0D396E6-2FD6-49D9-946F-4FABC88B6A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6933" y="-16933"/>
            <a:ext cx="7340600" cy="6883400"/>
          </a:xfrm>
          <a:custGeom>
            <a:avLst/>
            <a:gdLst>
              <a:gd name="connsiteX0" fmla="*/ 5427133 w 7340600"/>
              <a:gd name="connsiteY0" fmla="*/ 8466 h 6883400"/>
              <a:gd name="connsiteX1" fmla="*/ 4783666 w 7340600"/>
              <a:gd name="connsiteY1" fmla="*/ 2573866 h 6883400"/>
              <a:gd name="connsiteX2" fmla="*/ 7340600 w 7340600"/>
              <a:gd name="connsiteY2" fmla="*/ 6874933 h 6883400"/>
              <a:gd name="connsiteX3" fmla="*/ 0 w 7340600"/>
              <a:gd name="connsiteY3" fmla="*/ 6883400 h 6883400"/>
              <a:gd name="connsiteX4" fmla="*/ 8466 w 7340600"/>
              <a:gd name="connsiteY4" fmla="*/ 0 h 6883400"/>
              <a:gd name="connsiteX5" fmla="*/ 5427133 w 7340600"/>
              <a:gd name="connsiteY5" fmla="*/ 8466 h 688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40600" h="6883400">
                <a:moveTo>
                  <a:pt x="5427133" y="8466"/>
                </a:moveTo>
                <a:lnTo>
                  <a:pt x="4783666" y="2573866"/>
                </a:lnTo>
                <a:lnTo>
                  <a:pt x="7340600" y="6874933"/>
                </a:lnTo>
                <a:lnTo>
                  <a:pt x="0" y="6883400"/>
                </a:lnTo>
                <a:lnTo>
                  <a:pt x="8466" y="0"/>
                </a:lnTo>
                <a:lnTo>
                  <a:pt x="5427133" y="8466"/>
                </a:lnTo>
                <a:close/>
              </a:path>
            </a:pathLst>
          </a:custGeom>
          <a:solidFill>
            <a:schemeClr val="tx1">
              <a:lumMod val="95000"/>
              <a:lumOff val="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AF8A18F-547C-4667-9C5A-AC0B9233447C}"/>
              </a:ext>
            </a:extLst>
          </p:cNvPr>
          <p:cNvSpPr>
            <a:spLocks noGrp="1"/>
          </p:cNvSpPr>
          <p:nvPr>
            <p:ph type="title"/>
          </p:nvPr>
        </p:nvSpPr>
        <p:spPr>
          <a:xfrm>
            <a:off x="685800" y="1634067"/>
            <a:ext cx="4080932" cy="3310468"/>
          </a:xfrm>
        </p:spPr>
        <p:txBody>
          <a:bodyPr vert="horz" lIns="91440" tIns="45720" rIns="91440" bIns="45720" rtlCol="0" anchor="b">
            <a:normAutofit/>
          </a:bodyPr>
          <a:lstStyle/>
          <a:p>
            <a:pPr algn="l"/>
            <a:r>
              <a:rPr lang="en-US" sz="5400">
                <a:solidFill>
                  <a:schemeClr val="bg1"/>
                </a:solidFill>
              </a:rPr>
              <a:t>Conclusão</a:t>
            </a:r>
          </a:p>
        </p:txBody>
      </p:sp>
      <p:grpSp>
        <p:nvGrpSpPr>
          <p:cNvPr id="83" name="Group 82">
            <a:extLst>
              <a:ext uri="{FF2B5EF4-FFF2-40B4-BE49-F238E27FC236}">
                <a16:creationId xmlns:a16="http://schemas.microsoft.com/office/drawing/2014/main" id="{EA356820-4B8B-4A1F-B190-A3FF1AEB671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864100" y="-4763"/>
            <a:ext cx="5014912" cy="6862763"/>
            <a:chOff x="2928938" y="-4763"/>
            <a:chExt cx="5014912" cy="6862763"/>
          </a:xfrm>
        </p:grpSpPr>
        <p:sp>
          <p:nvSpPr>
            <p:cNvPr id="84" name="Freeform 6">
              <a:extLst>
                <a:ext uri="{FF2B5EF4-FFF2-40B4-BE49-F238E27FC236}">
                  <a16:creationId xmlns:a16="http://schemas.microsoft.com/office/drawing/2014/main" id="{6C6DBA71-9F7F-483C-A094-173525755C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85" name="Freeform 7">
              <a:extLst>
                <a:ext uri="{FF2B5EF4-FFF2-40B4-BE49-F238E27FC236}">
                  <a16:creationId xmlns:a16="http://schemas.microsoft.com/office/drawing/2014/main" id="{01948618-5E91-41FD-A5C3-CC96415CB7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86" name="Freeform 9">
              <a:extLst>
                <a:ext uri="{FF2B5EF4-FFF2-40B4-BE49-F238E27FC236}">
                  <a16:creationId xmlns:a16="http://schemas.microsoft.com/office/drawing/2014/main" id="{0985A142-9BC7-43B2-9F46-B1DB84A9AB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87" name="Freeform 10">
              <a:extLst>
                <a:ext uri="{FF2B5EF4-FFF2-40B4-BE49-F238E27FC236}">
                  <a16:creationId xmlns:a16="http://schemas.microsoft.com/office/drawing/2014/main" id="{39EE8BB4-A150-45FB-8052-35D979A2E5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88" name="Freeform 11">
              <a:extLst>
                <a:ext uri="{FF2B5EF4-FFF2-40B4-BE49-F238E27FC236}">
                  <a16:creationId xmlns:a16="http://schemas.microsoft.com/office/drawing/2014/main" id="{89257A2A-0F80-48CF-A63A-E5A0417C07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89" name="Freeform 12">
              <a:extLst>
                <a:ext uri="{FF2B5EF4-FFF2-40B4-BE49-F238E27FC236}">
                  <a16:creationId xmlns:a16="http://schemas.microsoft.com/office/drawing/2014/main" id="{3654CBD8-A68E-461A-888C-5DC245D599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Tree>
    <p:extLst>
      <p:ext uri="{BB962C8B-B14F-4D97-AF65-F5344CB8AC3E}">
        <p14:creationId xmlns:p14="http://schemas.microsoft.com/office/powerpoint/2010/main" val="8669509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01EF7837-0477-4987-91E8-5A76DB9ABA04}"/>
              </a:ext>
            </a:extLst>
          </p:cNvPr>
          <p:cNvSpPr>
            <a:spLocks noGrp="1"/>
          </p:cNvSpPr>
          <p:nvPr>
            <p:ph idx="1"/>
          </p:nvPr>
        </p:nvSpPr>
        <p:spPr>
          <a:xfrm>
            <a:off x="1883137" y="-168965"/>
            <a:ext cx="10149837" cy="7195930"/>
          </a:xfrm>
        </p:spPr>
        <p:txBody>
          <a:bodyPr>
            <a:normAutofit/>
          </a:bodyPr>
          <a:lstStyle/>
          <a:p>
            <a:r>
              <a:rPr lang="pt-BR" sz="1800" b="0" i="0" u="none" strike="noStrike" baseline="0" dirty="0">
                <a:solidFill>
                  <a:srgbClr val="000000"/>
                </a:solidFill>
                <a:latin typeface="Arial" panose="020B0604020202020204" pitchFamily="34" charset="0"/>
              </a:rPr>
              <a:t>Conclui-se que um objeto, por sua vez, é uma instância de uma classe. </a:t>
            </a:r>
          </a:p>
          <a:p>
            <a:r>
              <a:rPr lang="pt-BR" sz="1800" b="0" i="0" u="none" strike="noStrike" baseline="0" dirty="0">
                <a:solidFill>
                  <a:srgbClr val="000000"/>
                </a:solidFill>
                <a:latin typeface="Arial" panose="020B0604020202020204" pitchFamily="34" charset="0"/>
              </a:rPr>
              <a:t>Exemplo: A partir de um mesmo modelo podem ser construídos n veículos com as mesmas funcionalidades e características básicas, porém, cada carro construído terá suas próprias características específicas, como a cor, acessórios, motorização, etc.</a:t>
            </a:r>
          </a:p>
          <a:p>
            <a:endParaRPr lang="pt-BR" sz="1800" dirty="0">
              <a:solidFill>
                <a:srgbClr val="000000"/>
              </a:solidFill>
              <a:latin typeface="Arial" panose="020B0604020202020204" pitchFamily="34" charset="0"/>
            </a:endParaRPr>
          </a:p>
          <a:p>
            <a:endParaRPr lang="pt-BR" sz="1800" dirty="0">
              <a:solidFill>
                <a:srgbClr val="000000"/>
              </a:solidFill>
              <a:latin typeface="Arial" panose="020B0604020202020204" pitchFamily="34" charset="0"/>
            </a:endParaRPr>
          </a:p>
          <a:p>
            <a:endParaRPr lang="pt-BR" sz="1800" dirty="0">
              <a:solidFill>
                <a:srgbClr val="000000"/>
              </a:solidFill>
              <a:latin typeface="Arial" panose="020B0604020202020204" pitchFamily="34" charset="0"/>
            </a:endParaRPr>
          </a:p>
          <a:p>
            <a:pPr marL="0" indent="0">
              <a:buNone/>
            </a:pPr>
            <a:endParaRPr lang="pt-BR" sz="1800" dirty="0">
              <a:solidFill>
                <a:srgbClr val="000000"/>
              </a:solidFill>
              <a:latin typeface="Arial" panose="020B0604020202020204" pitchFamily="34" charset="0"/>
            </a:endParaRPr>
          </a:p>
          <a:p>
            <a:endParaRPr lang="pt-BR" sz="1800" dirty="0">
              <a:solidFill>
                <a:srgbClr val="000000"/>
              </a:solidFill>
              <a:latin typeface="Arial" panose="020B0604020202020204" pitchFamily="34" charset="0"/>
            </a:endParaRPr>
          </a:p>
          <a:p>
            <a:endParaRPr lang="pt-BR" sz="1800" dirty="0">
              <a:solidFill>
                <a:srgbClr val="000000"/>
              </a:solidFill>
              <a:latin typeface="Arial" panose="020B0604020202020204" pitchFamily="34" charset="0"/>
            </a:endParaRPr>
          </a:p>
          <a:p>
            <a:endParaRPr lang="pt-BR" sz="1800" dirty="0">
              <a:solidFill>
                <a:srgbClr val="000000"/>
              </a:solidFill>
              <a:latin typeface="Arial" panose="020B0604020202020204" pitchFamily="34" charset="0"/>
            </a:endParaRPr>
          </a:p>
          <a:p>
            <a:endParaRPr lang="pt-BR" sz="1800" dirty="0">
              <a:solidFill>
                <a:srgbClr val="000000"/>
              </a:solidFill>
              <a:latin typeface="Arial" panose="020B0604020202020204" pitchFamily="34" charset="0"/>
            </a:endParaRPr>
          </a:p>
          <a:p>
            <a:r>
              <a:rPr lang="pt-BR" sz="1800" b="0" i="0" u="none" strike="noStrike" baseline="0" dirty="0">
                <a:solidFill>
                  <a:srgbClr val="000000"/>
                </a:solidFill>
                <a:latin typeface="Arial" panose="020B0604020202020204" pitchFamily="34" charset="0"/>
              </a:rPr>
              <a:t>Um objeto é uma entidade única capaz de reunir atributos e métodos, ou seja, ele reúne as propriedades dos objetos e as reações aos estímulos sofridas.  </a:t>
            </a:r>
            <a:endParaRPr lang="pt-BR" dirty="0"/>
          </a:p>
        </p:txBody>
      </p:sp>
      <p:pic>
        <p:nvPicPr>
          <p:cNvPr id="5" name="Imagem 4">
            <a:extLst>
              <a:ext uri="{FF2B5EF4-FFF2-40B4-BE49-F238E27FC236}">
                <a16:creationId xmlns:a16="http://schemas.microsoft.com/office/drawing/2014/main" id="{99C3796F-488D-4093-8797-504847420F20}"/>
              </a:ext>
            </a:extLst>
          </p:cNvPr>
          <p:cNvPicPr>
            <a:picLocks noChangeAspect="1"/>
          </p:cNvPicPr>
          <p:nvPr/>
        </p:nvPicPr>
        <p:blipFill>
          <a:blip r:embed="rId2"/>
          <a:stretch>
            <a:fillRect/>
          </a:stretch>
        </p:blipFill>
        <p:spPr>
          <a:xfrm>
            <a:off x="2483848" y="2213113"/>
            <a:ext cx="8258175" cy="2895600"/>
          </a:xfrm>
          <a:prstGeom prst="rect">
            <a:avLst/>
          </a:prstGeom>
        </p:spPr>
      </p:pic>
    </p:spTree>
    <p:extLst>
      <p:ext uri="{BB962C8B-B14F-4D97-AF65-F5344CB8AC3E}">
        <p14:creationId xmlns:p14="http://schemas.microsoft.com/office/powerpoint/2010/main" val="34004316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FCC990-C1D5-43B8-83FB-5BE72DA67BCE}"/>
              </a:ext>
            </a:extLst>
          </p:cNvPr>
          <p:cNvSpPr>
            <a:spLocks noGrp="1"/>
          </p:cNvSpPr>
          <p:nvPr>
            <p:ph type="title"/>
          </p:nvPr>
        </p:nvSpPr>
        <p:spPr/>
        <p:txBody>
          <a:bodyPr/>
          <a:lstStyle/>
          <a:p>
            <a:r>
              <a:rPr lang="pt-BR" dirty="0"/>
              <a:t>Atributos (ou Propriedades) </a:t>
            </a:r>
          </a:p>
        </p:txBody>
      </p:sp>
      <p:sp>
        <p:nvSpPr>
          <p:cNvPr id="3" name="Espaço Reservado para Conteúdo 2">
            <a:extLst>
              <a:ext uri="{FF2B5EF4-FFF2-40B4-BE49-F238E27FC236}">
                <a16:creationId xmlns:a16="http://schemas.microsoft.com/office/drawing/2014/main" id="{35E79593-DD1A-4423-80C3-5A42999845CF}"/>
              </a:ext>
            </a:extLst>
          </p:cNvPr>
          <p:cNvSpPr>
            <a:spLocks noGrp="1"/>
          </p:cNvSpPr>
          <p:nvPr>
            <p:ph idx="1"/>
          </p:nvPr>
        </p:nvSpPr>
        <p:spPr/>
        <p:txBody>
          <a:bodyPr/>
          <a:lstStyle/>
          <a:p>
            <a:r>
              <a:rPr lang="pt-BR" sz="1800" b="0" i="0" u="none" strike="noStrike" baseline="0" dirty="0">
                <a:solidFill>
                  <a:srgbClr val="000000"/>
                </a:solidFill>
                <a:latin typeface="Arial" panose="020B0604020202020204" pitchFamily="34" charset="0"/>
              </a:rPr>
              <a:t>Todo objeto pode ter alguns atributos (propriedades) relacionados a ele. No exemplo anterior, em um carro, a cor do veículo, a cor dos para-lamas e o modelo de capô são os principais atributos. Cada objeto do tipo carro armazena uma informação diferente para cada um dos seus atributos. </a:t>
            </a:r>
            <a:endParaRPr lang="pt-BR" dirty="0"/>
          </a:p>
        </p:txBody>
      </p:sp>
    </p:spTree>
    <p:extLst>
      <p:ext uri="{BB962C8B-B14F-4D97-AF65-F5344CB8AC3E}">
        <p14:creationId xmlns:p14="http://schemas.microsoft.com/office/powerpoint/2010/main" val="16543201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FD03F3-2686-4B51-8656-73F392BCC7E9}"/>
              </a:ext>
            </a:extLst>
          </p:cNvPr>
          <p:cNvSpPr>
            <a:spLocks noGrp="1"/>
          </p:cNvSpPr>
          <p:nvPr>
            <p:ph type="title"/>
          </p:nvPr>
        </p:nvSpPr>
        <p:spPr/>
        <p:txBody>
          <a:bodyPr/>
          <a:lstStyle/>
          <a:p>
            <a:r>
              <a:rPr lang="pt-BR" dirty="0"/>
              <a:t>Métodos (ou comportamentos) </a:t>
            </a:r>
          </a:p>
        </p:txBody>
      </p:sp>
      <p:sp>
        <p:nvSpPr>
          <p:cNvPr id="3" name="Espaço Reservado para Conteúdo 2">
            <a:extLst>
              <a:ext uri="{FF2B5EF4-FFF2-40B4-BE49-F238E27FC236}">
                <a16:creationId xmlns:a16="http://schemas.microsoft.com/office/drawing/2014/main" id="{F61B6B81-6359-4CA6-9712-BDE236BF92D8}"/>
              </a:ext>
            </a:extLst>
          </p:cNvPr>
          <p:cNvSpPr>
            <a:spLocks noGrp="1"/>
          </p:cNvSpPr>
          <p:nvPr>
            <p:ph idx="1"/>
          </p:nvPr>
        </p:nvSpPr>
        <p:spPr/>
        <p:txBody>
          <a:bodyPr/>
          <a:lstStyle/>
          <a:p>
            <a:r>
              <a:rPr lang="pt-BR" sz="1800" b="0" i="0" u="none" strike="noStrike" baseline="0" dirty="0">
                <a:solidFill>
                  <a:srgbClr val="000000"/>
                </a:solidFill>
                <a:latin typeface="Arial" panose="020B0604020202020204" pitchFamily="34" charset="0"/>
              </a:rPr>
              <a:t>Os objetos também podem ter determinados comportamentos relacionados a si. Os métodos são funcionalidades que poderão ser executadas pelo objeto, manipulando ou alterando os valores armazenados nos atributos </a:t>
            </a:r>
          </a:p>
          <a:p>
            <a:r>
              <a:rPr lang="pt-BR" sz="1800" b="0" i="0" u="none" strike="noStrike" baseline="0" dirty="0">
                <a:solidFill>
                  <a:srgbClr val="000000"/>
                </a:solidFill>
                <a:latin typeface="Arial" panose="020B0604020202020204" pitchFamily="34" charset="0"/>
              </a:rPr>
              <a:t>Como alguns exemplos, podemos citar os objetos e suas ações: </a:t>
            </a:r>
          </a:p>
          <a:p>
            <a:pPr lvl="1"/>
            <a:r>
              <a:rPr lang="pt-BR" sz="1400" b="0" i="0" u="none" strike="noStrike" baseline="0" dirty="0">
                <a:solidFill>
                  <a:srgbClr val="000000"/>
                </a:solidFill>
                <a:latin typeface="Arial" panose="020B0604020202020204" pitchFamily="34" charset="0"/>
              </a:rPr>
              <a:t>Um carro tem o comportamento de acelerar; </a:t>
            </a:r>
          </a:p>
          <a:p>
            <a:pPr lvl="1"/>
            <a:r>
              <a:rPr lang="pt-BR" sz="1400" b="0" i="0" u="none" strike="noStrike" baseline="0" dirty="0">
                <a:solidFill>
                  <a:srgbClr val="000000"/>
                </a:solidFill>
                <a:latin typeface="Arial" panose="020B0604020202020204" pitchFamily="34" charset="0"/>
              </a:rPr>
              <a:t>Um celular, o de fazer ligações; </a:t>
            </a:r>
          </a:p>
          <a:p>
            <a:pPr lvl="1"/>
            <a:r>
              <a:rPr lang="pt-BR" sz="1400" b="0" i="0" u="none" strike="noStrike" baseline="0" dirty="0">
                <a:solidFill>
                  <a:srgbClr val="000000"/>
                </a:solidFill>
                <a:latin typeface="Arial" panose="020B0604020202020204" pitchFamily="34" charset="0"/>
              </a:rPr>
              <a:t>Um guarda-chuva, o de proteger da chuva. </a:t>
            </a:r>
            <a:endParaRPr lang="pt-BR" dirty="0"/>
          </a:p>
        </p:txBody>
      </p:sp>
    </p:spTree>
    <p:extLst>
      <p:ext uri="{BB962C8B-B14F-4D97-AF65-F5344CB8AC3E}">
        <p14:creationId xmlns:p14="http://schemas.microsoft.com/office/powerpoint/2010/main" val="322491615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axe">
  <a:themeElements>
    <a:clrScheme name="Paralaxe">
      <a:dk1>
        <a:sysClr val="windowText" lastClr="000000"/>
      </a:dk1>
      <a:lt1>
        <a:sysClr val="window" lastClr="FFFFFF"/>
      </a:lt1>
      <a:dk2>
        <a:srgbClr val="212121"/>
      </a:dk2>
      <a:lt2>
        <a:srgbClr val="CDD0D1"/>
      </a:lt2>
      <a:accent1>
        <a:srgbClr val="BC1C1C"/>
      </a:accent1>
      <a:accent2>
        <a:srgbClr val="F67534"/>
      </a:accent2>
      <a:accent3>
        <a:srgbClr val="EAAC35"/>
      </a:accent3>
      <a:accent4>
        <a:srgbClr val="9BAF68"/>
      </a:accent4>
      <a:accent5>
        <a:srgbClr val="68B9A6"/>
      </a:accent5>
      <a:accent6>
        <a:srgbClr val="50B1D4"/>
      </a:accent6>
      <a:hlink>
        <a:srgbClr val="E46416"/>
      </a:hlink>
      <a:folHlink>
        <a:srgbClr val="EE9340"/>
      </a:folHlink>
    </a:clrScheme>
    <a:fontScheme name="Paralaxe">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axe">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93B4CCAC-FD5A-4D59-B1AC-EAF45910B5A9}"/>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63F95C65FCE67A42B1DD4942EF3BCF87" ma:contentTypeVersion="2" ma:contentTypeDescription="Crie um novo documento." ma:contentTypeScope="" ma:versionID="55eca17348f36998ed59d09c7c6d01e6">
  <xsd:schema xmlns:xsd="http://www.w3.org/2001/XMLSchema" xmlns:xs="http://www.w3.org/2001/XMLSchema" xmlns:p="http://schemas.microsoft.com/office/2006/metadata/properties" xmlns:ns2="2a14d617-4b87-411b-a777-c3b3f30b92ee" targetNamespace="http://schemas.microsoft.com/office/2006/metadata/properties" ma:root="true" ma:fieldsID="0f5f38b92ea01ac4ae6d449655b95cab" ns2:_="">
    <xsd:import namespace="2a14d617-4b87-411b-a777-c3b3f30b92ee"/>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a14d617-4b87-411b-a777-c3b3f30b92e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0298E63-DE99-4202-9681-E17DA5134B4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a14d617-4b87-411b-a777-c3b3f30b92e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29FE7FE-FD32-4C92-8626-91FF0EF3E2B5}">
  <ds:schemaRefs>
    <ds:schemaRef ds:uri="http://schemas.microsoft.com/sharepoint/v3/contenttype/forms"/>
  </ds:schemaRefs>
</ds:datastoreItem>
</file>

<file path=customXml/itemProps3.xml><?xml version="1.0" encoding="utf-8"?>
<ds:datastoreItem xmlns:ds="http://schemas.openxmlformats.org/officeDocument/2006/customXml" ds:itemID="{E894736F-AB10-4472-95F8-B55C379B1385}">
  <ds:schemaRefs>
    <ds:schemaRef ds:uri="http://schemas.microsoft.com/office/2006/documentManagement/types"/>
    <ds:schemaRef ds:uri="http://schemas.microsoft.com/office/2006/metadata/properties"/>
    <ds:schemaRef ds:uri="http://purl.org/dc/terms/"/>
    <ds:schemaRef ds:uri="http://schemas.openxmlformats.org/package/2006/metadata/core-properties"/>
    <ds:schemaRef ds:uri="http://purl.org/dc/dcmitype/"/>
    <ds:schemaRef ds:uri="2a14d617-4b87-411b-a777-c3b3f30b92ee"/>
    <ds:schemaRef ds:uri="http://schemas.microsoft.com/office/infopath/2007/PartnerControls"/>
    <ds:schemaRef ds:uri="http://www.w3.org/XML/1998/namespace"/>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5</TotalTime>
  <Words>723</Words>
  <Application>Microsoft Office PowerPoint</Application>
  <PresentationFormat>Widescreen</PresentationFormat>
  <Paragraphs>46</Paragraphs>
  <Slides>15</Slides>
  <Notes>0</Notes>
  <HiddenSlides>0</HiddenSlides>
  <MMClips>0</MMClips>
  <ScaleCrop>false</ScaleCrop>
  <HeadingPairs>
    <vt:vector size="6" baseType="variant">
      <vt:variant>
        <vt:lpstr>Fontes usadas</vt:lpstr>
      </vt:variant>
      <vt:variant>
        <vt:i4>2</vt:i4>
      </vt:variant>
      <vt:variant>
        <vt:lpstr>Tema</vt:lpstr>
      </vt:variant>
      <vt:variant>
        <vt:i4>1</vt:i4>
      </vt:variant>
      <vt:variant>
        <vt:lpstr>Títulos de slides</vt:lpstr>
      </vt:variant>
      <vt:variant>
        <vt:i4>15</vt:i4>
      </vt:variant>
    </vt:vector>
  </HeadingPairs>
  <TitlesOfParts>
    <vt:vector size="18" baseType="lpstr">
      <vt:lpstr>Arial</vt:lpstr>
      <vt:lpstr>Corbel</vt:lpstr>
      <vt:lpstr>Paralaxe</vt:lpstr>
      <vt:lpstr>Orientação a Objetos Conceito</vt:lpstr>
      <vt:lpstr>Objetivo</vt:lpstr>
      <vt:lpstr>O que é objeto?</vt:lpstr>
      <vt:lpstr>Programação Orientada a Objeto</vt:lpstr>
      <vt:lpstr>Programação Orientada a Objeto</vt:lpstr>
      <vt:lpstr>Programação Orientada a Objeto</vt:lpstr>
      <vt:lpstr>Abstração </vt:lpstr>
      <vt:lpstr>Classe</vt:lpstr>
      <vt:lpstr>Ainda está confuso? Vamos exemplificar </vt:lpstr>
      <vt:lpstr>Objetos</vt:lpstr>
      <vt:lpstr>Classes</vt:lpstr>
      <vt:lpstr>Conclusão</vt:lpstr>
      <vt:lpstr>Apresentação do PowerPoint</vt:lpstr>
      <vt:lpstr>Atributos (ou Propriedades) </vt:lpstr>
      <vt:lpstr>Métodos (ou comportamentos)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Orientação a Objetos Conceito</dc:title>
  <dc:creator>JULIANA GODOY DE SA</dc:creator>
  <cp:lastModifiedBy>JULIANA GODOY DE SA</cp:lastModifiedBy>
  <cp:revision>2</cp:revision>
  <dcterms:created xsi:type="dcterms:W3CDTF">2020-09-14T18:47:46Z</dcterms:created>
  <dcterms:modified xsi:type="dcterms:W3CDTF">2020-09-14T18:53:44Z</dcterms:modified>
</cp:coreProperties>
</file>