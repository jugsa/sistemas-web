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4"/>
  </p:sldMasterIdLst>
  <p:sldIdLst>
    <p:sldId id="271" r:id="rId5"/>
    <p:sldId id="262" r:id="rId6"/>
    <p:sldId id="263" r:id="rId7"/>
    <p:sldId id="264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40" autoAdjust="0"/>
    <p:restoredTop sz="94660"/>
  </p:normalViewPr>
  <p:slideViewPr>
    <p:cSldViewPr snapToGrid="0">
      <p:cViewPr varScale="1">
        <p:scale>
          <a:sx n="72" d="100"/>
          <a:sy n="72" d="100"/>
        </p:scale>
        <p:origin x="57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64E7D-DAAD-4FC2-BD68-4BAEAD2EAB37}" type="datetimeFigureOut">
              <a:rPr lang="pt-BR" smtClean="0"/>
              <a:t>13/10/2020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7C601-698B-451C-A431-04A42B27C505}" type="slidenum">
              <a:rPr lang="pt-BR" smtClean="0"/>
              <a:t>‹nº›</a:t>
            </a:fld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8DFB1E4A-CF2F-4C01-A98D-9103E059F2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21" y="4779205"/>
            <a:ext cx="2272666" cy="2097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304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64E7D-DAAD-4FC2-BD68-4BAEAD2EAB37}" type="datetimeFigureOut">
              <a:rPr lang="pt-BR" smtClean="0"/>
              <a:t>13/10/2020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A47C601-698B-451C-A431-04A42B27C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6083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64E7D-DAAD-4FC2-BD68-4BAEAD2EAB37}" type="datetimeFigureOut">
              <a:rPr lang="pt-BR" smtClean="0"/>
              <a:t>13/10/2020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7C601-698B-451C-A431-04A42B27C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8179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64E7D-DAAD-4FC2-BD68-4BAEAD2EAB37}" type="datetimeFigureOut">
              <a:rPr lang="pt-BR" smtClean="0"/>
              <a:t>13/10/2020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7C601-698B-451C-A431-04A42B27C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3106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64E7D-DAAD-4FC2-BD68-4BAEAD2EAB37}" type="datetimeFigureOut">
              <a:rPr lang="pt-BR" smtClean="0"/>
              <a:t>13/10/2020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7C601-698B-451C-A431-04A42B27C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6420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64E7D-DAAD-4FC2-BD68-4BAEAD2EAB37}" type="datetimeFigureOut">
              <a:rPr lang="pt-BR" smtClean="0"/>
              <a:t>13/10/2020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7C601-698B-451C-A431-04A42B27C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8475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64E7D-DAAD-4FC2-BD68-4BAEAD2EAB37}" type="datetimeFigureOut">
              <a:rPr lang="pt-BR" smtClean="0"/>
              <a:t>13/10/2020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7C601-698B-451C-A431-04A42B27C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6201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64E7D-DAAD-4FC2-BD68-4BAEAD2EAB37}" type="datetimeFigureOut">
              <a:rPr lang="pt-BR" smtClean="0"/>
              <a:t>13/10/2020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7C601-698B-451C-A431-04A42B27C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856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64E7D-DAAD-4FC2-BD68-4BAEAD2EAB37}" type="datetimeFigureOut">
              <a:rPr lang="pt-BR" smtClean="0"/>
              <a:t>13/10/2020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7C601-698B-451C-A431-04A42B27C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4470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64E7D-DAAD-4FC2-BD68-4BAEAD2EAB37}" type="datetimeFigureOut">
              <a:rPr lang="pt-BR" smtClean="0"/>
              <a:t>13/10/2020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7C601-698B-451C-A431-04A42B27C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2151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64E7D-DAAD-4FC2-BD68-4BAEAD2EAB37}" type="datetimeFigureOut">
              <a:rPr lang="pt-BR" smtClean="0"/>
              <a:t>13/10/2020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7C601-698B-451C-A431-04A42B27C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47931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64E7D-DAAD-4FC2-BD68-4BAEAD2EAB37}" type="datetimeFigureOut">
              <a:rPr lang="pt-BR" smtClean="0"/>
              <a:t>13/10/2020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7C601-698B-451C-A431-04A42B27C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35294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64E7D-DAAD-4FC2-BD68-4BAEAD2EAB37}" type="datetimeFigureOut">
              <a:rPr lang="pt-BR" smtClean="0"/>
              <a:t>13/10/2020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7C601-698B-451C-A431-04A42B27C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65750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64E7D-DAAD-4FC2-BD68-4BAEAD2EAB37}" type="datetimeFigureOut">
              <a:rPr lang="pt-BR" smtClean="0"/>
              <a:t>13/10/2020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7C601-698B-451C-A431-04A42B27C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36547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64E7D-DAAD-4FC2-BD68-4BAEAD2EAB37}" type="datetimeFigureOut">
              <a:rPr lang="pt-BR" smtClean="0"/>
              <a:t>13/10/2020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7C601-698B-451C-A431-04A42B27C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80051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64E7D-DAAD-4FC2-BD68-4BAEAD2EAB37}" type="datetimeFigureOut">
              <a:rPr lang="pt-BR" smtClean="0"/>
              <a:t>13/10/2020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7C601-698B-451C-A431-04A42B27C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30533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64E7D-DAAD-4FC2-BD68-4BAEAD2EAB37}" type="datetimeFigureOut">
              <a:rPr lang="pt-BR" smtClean="0"/>
              <a:t>13/10/2020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7C601-698B-451C-A431-04A42B27C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5197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4D64E7D-DAAD-4FC2-BD68-4BAEAD2EAB37}" type="datetimeFigureOut">
              <a:rPr lang="pt-BR" smtClean="0"/>
              <a:t>13/10/2020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A47C601-698B-451C-A431-04A42B27C505}" type="slidenum">
              <a:rPr lang="pt-BR" smtClean="0"/>
              <a:t>‹nº›</a:t>
            </a:fld>
            <a:endParaRPr lang="pt-BR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065FAD68-07DC-4FAB-9FDF-0DC891EAB741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3938"/>
            <a:ext cx="914400" cy="844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404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Encapsulamento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Juliana de Sá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4D6EE5E6-5559-438D-A97B-10DDD7D9E448}"/>
              </a:ext>
            </a:extLst>
          </p:cNvPr>
          <p:cNvSpPr txBox="1"/>
          <p:nvPr/>
        </p:nvSpPr>
        <p:spPr>
          <a:xfrm>
            <a:off x="4531089" y="1408114"/>
            <a:ext cx="295837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pt-BR" sz="2400" b="1" dirty="0">
                <a:latin typeface="+mj-lt"/>
              </a:rPr>
              <a:t>ENCAPSULAMENTO</a:t>
            </a:r>
          </a:p>
        </p:txBody>
      </p:sp>
      <p:sp>
        <p:nvSpPr>
          <p:cNvPr id="38915" name="Retângulo 3">
            <a:extLst>
              <a:ext uri="{FF2B5EF4-FFF2-40B4-BE49-F238E27FC236}">
                <a16:creationId xmlns:a16="http://schemas.microsoft.com/office/drawing/2014/main" id="{88D9A047-8ACF-409E-8329-ED3A53ACBD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2000" y="2070100"/>
            <a:ext cx="8242300" cy="3354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defRPr/>
            </a:pPr>
            <a:r>
              <a:rPr lang="pt-BR" sz="2000" dirty="0"/>
              <a:t>É um conceito que propõe que os atributos de uma classe sejam protegidos e ocultados das demais classes do projeto. Possibilitando o controle de acesso dos mesmos através de métodos e garantindo que as regras definidas na própria classe sejam cumpridas.</a:t>
            </a:r>
          </a:p>
          <a:p>
            <a:pPr>
              <a:defRPr/>
            </a:pPr>
            <a:endParaRPr lang="pt-BR" sz="2000" dirty="0"/>
          </a:p>
          <a:p>
            <a:pPr algn="just">
              <a:defRPr/>
            </a:pPr>
            <a:r>
              <a:rPr lang="pt-BR" sz="2000" dirty="0"/>
              <a:t>Ou seja, se for necessário armazenar uma informação dentro de um determinado atributo de uma instância de um objeto, deve-se chamar um método e passar a mesma por parâmetro. Proporcionando acesso somente as funções do objeto que compete ao “cliente”.</a:t>
            </a:r>
            <a:endParaRPr lang="pt-BR" sz="1600" dirty="0"/>
          </a:p>
          <a:p>
            <a:pPr>
              <a:defRPr/>
            </a:pPr>
            <a:endParaRPr lang="pt-BR" sz="1600" dirty="0"/>
          </a:p>
          <a:p>
            <a:pPr>
              <a:defRPr/>
            </a:pPr>
            <a:endParaRPr lang="pt-BR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55C19F59-FCF1-4AE0-8620-7A62ECDAC8DB}"/>
              </a:ext>
            </a:extLst>
          </p:cNvPr>
          <p:cNvSpPr txBox="1"/>
          <p:nvPr/>
        </p:nvSpPr>
        <p:spPr>
          <a:xfrm>
            <a:off x="4531089" y="1408114"/>
            <a:ext cx="295837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pt-BR" sz="2400" b="1" dirty="0">
                <a:latin typeface="+mj-lt"/>
              </a:rPr>
              <a:t>ENCAPSULAMENTO</a:t>
            </a:r>
          </a:p>
        </p:txBody>
      </p:sp>
      <p:sp>
        <p:nvSpPr>
          <p:cNvPr id="38915" name="Retângulo 3">
            <a:extLst>
              <a:ext uri="{FF2B5EF4-FFF2-40B4-BE49-F238E27FC236}">
                <a16:creationId xmlns:a16="http://schemas.microsoft.com/office/drawing/2014/main" id="{610202D3-F3CE-4BD0-9205-9B82FA185B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2000" y="2070101"/>
            <a:ext cx="8242300" cy="4031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pt-BR" sz="1600" dirty="0"/>
              <a:t>Cada atributo encapsulado, possui dois métodos públicos de acesso:</a:t>
            </a:r>
          </a:p>
          <a:p>
            <a:pPr>
              <a:defRPr/>
            </a:pPr>
            <a:endParaRPr lang="pt-BR" sz="1600" dirty="0"/>
          </a:p>
          <a:p>
            <a:pPr>
              <a:defRPr/>
            </a:pPr>
            <a:r>
              <a:rPr lang="pt-BR" sz="1600" b="1" dirty="0" err="1"/>
              <a:t>Get</a:t>
            </a:r>
            <a:r>
              <a:rPr lang="pt-BR" sz="1600" b="1" dirty="0"/>
              <a:t>: </a:t>
            </a:r>
            <a:r>
              <a:rPr lang="pt-BR" sz="1600" dirty="0"/>
              <a:t>lê o conteúdo do atributo e retorna a informação</a:t>
            </a:r>
          </a:p>
          <a:p>
            <a:pPr>
              <a:defRPr/>
            </a:pPr>
            <a:endParaRPr lang="pt-BR" sz="1600" dirty="0"/>
          </a:p>
          <a:p>
            <a:pPr>
              <a:defRPr/>
            </a:pPr>
            <a:r>
              <a:rPr lang="pt-BR" sz="1600" b="1" dirty="0"/>
              <a:t>Set: </a:t>
            </a:r>
            <a:r>
              <a:rPr lang="pt-BR" sz="1600" dirty="0"/>
              <a:t>armazena a informação passada por parâmetro no atributo</a:t>
            </a:r>
          </a:p>
          <a:p>
            <a:pPr>
              <a:defRPr/>
            </a:pPr>
            <a:endParaRPr lang="pt-BR" sz="1600" dirty="0"/>
          </a:p>
          <a:p>
            <a:pPr>
              <a:defRPr/>
            </a:pPr>
            <a:r>
              <a:rPr lang="pt-BR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Exemplo:</a:t>
            </a:r>
          </a:p>
          <a:p>
            <a:pPr>
              <a:defRPr/>
            </a:pPr>
            <a:endParaRPr lang="pt-BR" sz="1600" dirty="0"/>
          </a:p>
          <a:p>
            <a:pPr>
              <a:defRPr/>
            </a:pPr>
            <a:r>
              <a:rPr lang="pt-BR" sz="1600" dirty="0" err="1"/>
              <a:t>public</a:t>
            </a:r>
            <a:r>
              <a:rPr lang="pt-BR" sz="1600" dirty="0"/>
              <a:t> </a:t>
            </a:r>
            <a:r>
              <a:rPr lang="pt-BR" sz="1600" dirty="0" err="1"/>
              <a:t>function</a:t>
            </a:r>
            <a:r>
              <a:rPr lang="pt-BR" sz="1600" dirty="0"/>
              <a:t> </a:t>
            </a:r>
            <a:r>
              <a:rPr lang="pt-BR" sz="1600" dirty="0" err="1"/>
              <a:t>setNomeAtributo</a:t>
            </a:r>
            <a:r>
              <a:rPr lang="pt-BR" sz="1600" dirty="0"/>
              <a:t>($nome){</a:t>
            </a:r>
          </a:p>
          <a:p>
            <a:pPr>
              <a:defRPr/>
            </a:pPr>
            <a:r>
              <a:rPr lang="pt-BR" sz="1600" dirty="0"/>
              <a:t>	$</a:t>
            </a:r>
            <a:r>
              <a:rPr lang="pt-BR" sz="1600" dirty="0" err="1"/>
              <a:t>this</a:t>
            </a:r>
            <a:r>
              <a:rPr lang="pt-BR" sz="1600" dirty="0"/>
              <a:t>-&gt;nome = $nome;</a:t>
            </a:r>
          </a:p>
          <a:p>
            <a:pPr>
              <a:defRPr/>
            </a:pPr>
            <a:r>
              <a:rPr lang="pt-BR" sz="1600" dirty="0"/>
              <a:t>}</a:t>
            </a:r>
          </a:p>
          <a:p>
            <a:pPr>
              <a:defRPr/>
            </a:pPr>
            <a:endParaRPr lang="pt-BR" sz="1600" dirty="0"/>
          </a:p>
          <a:p>
            <a:pPr>
              <a:defRPr/>
            </a:pPr>
            <a:r>
              <a:rPr lang="pt-BR" sz="1600" dirty="0" err="1"/>
              <a:t>public</a:t>
            </a:r>
            <a:r>
              <a:rPr lang="pt-BR" sz="1600" dirty="0"/>
              <a:t> </a:t>
            </a:r>
            <a:r>
              <a:rPr lang="pt-BR" sz="1600" dirty="0" err="1"/>
              <a:t>function</a:t>
            </a:r>
            <a:r>
              <a:rPr lang="pt-BR" sz="1600" dirty="0"/>
              <a:t> </a:t>
            </a:r>
            <a:r>
              <a:rPr lang="pt-BR" sz="1600" dirty="0" err="1"/>
              <a:t>getNomeAtributo</a:t>
            </a:r>
            <a:r>
              <a:rPr lang="pt-BR" sz="1600" dirty="0"/>
              <a:t>(){</a:t>
            </a:r>
          </a:p>
          <a:p>
            <a:pPr>
              <a:defRPr/>
            </a:pPr>
            <a:r>
              <a:rPr lang="pt-BR" sz="1600" dirty="0"/>
              <a:t>	</a:t>
            </a:r>
            <a:r>
              <a:rPr lang="pt-BR" sz="1600" dirty="0" err="1"/>
              <a:t>return</a:t>
            </a:r>
            <a:r>
              <a:rPr lang="pt-BR" sz="1600" dirty="0"/>
              <a:t> $</a:t>
            </a:r>
            <a:r>
              <a:rPr lang="pt-BR" sz="1600" dirty="0" err="1"/>
              <a:t>this</a:t>
            </a:r>
            <a:r>
              <a:rPr lang="pt-BR" sz="1600" dirty="0"/>
              <a:t>-&gt;nome;</a:t>
            </a:r>
          </a:p>
          <a:p>
            <a:pPr>
              <a:defRPr/>
            </a:pPr>
            <a:r>
              <a:rPr lang="pt-BR" sz="1600" dirty="0"/>
              <a:t>}</a:t>
            </a:r>
          </a:p>
          <a:p>
            <a:pPr>
              <a:defRPr/>
            </a:pPr>
            <a:endParaRPr lang="pt-BR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655BD8CD-30D7-475A-968E-D5FBF9B6E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7826" y="2638734"/>
            <a:ext cx="4169932" cy="2494931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5B9C04F2-5E6C-45CA-BD79-B4BCB01E23E6}"/>
              </a:ext>
            </a:extLst>
          </p:cNvPr>
          <p:cNvSpPr txBox="1"/>
          <p:nvPr/>
        </p:nvSpPr>
        <p:spPr>
          <a:xfrm>
            <a:off x="4847201" y="1408114"/>
            <a:ext cx="232615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pt-BR" sz="2400" b="1" dirty="0">
                <a:latin typeface="+mj-lt"/>
              </a:rPr>
              <a:t>INSTÂNCIAÇÃO</a:t>
            </a:r>
          </a:p>
        </p:txBody>
      </p:sp>
      <p:sp>
        <p:nvSpPr>
          <p:cNvPr id="38915" name="Retângulo 3">
            <a:extLst>
              <a:ext uri="{FF2B5EF4-FFF2-40B4-BE49-F238E27FC236}">
                <a16:creationId xmlns:a16="http://schemas.microsoft.com/office/drawing/2014/main" id="{2BBC4546-900F-4746-A2B9-4B2F9706F0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2000" y="2070100"/>
            <a:ext cx="8242300" cy="181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defRPr/>
            </a:pPr>
            <a:r>
              <a:rPr lang="pt-BR" sz="2000" dirty="0"/>
              <a:t>É a declaração de um objeto de uma determinada classe.</a:t>
            </a:r>
          </a:p>
          <a:p>
            <a:pPr algn="just">
              <a:defRPr/>
            </a:pPr>
            <a:endParaRPr lang="pt-BR" sz="2000" dirty="0"/>
          </a:p>
          <a:p>
            <a:pPr algn="just">
              <a:defRPr/>
            </a:pPr>
            <a:r>
              <a:rPr lang="pt-BR" sz="2000" dirty="0"/>
              <a:t>Exemplo:</a:t>
            </a:r>
          </a:p>
          <a:p>
            <a:pPr algn="just">
              <a:defRPr/>
            </a:pPr>
            <a:endParaRPr lang="pt-BR" sz="2000" dirty="0"/>
          </a:p>
          <a:p>
            <a:pPr algn="just">
              <a:defRPr/>
            </a:pPr>
            <a:endParaRPr lang="pt-BR" sz="1600" dirty="0"/>
          </a:p>
          <a:p>
            <a:pPr>
              <a:defRPr/>
            </a:pPr>
            <a:endParaRPr lang="pt-BR" sz="1600" dirty="0"/>
          </a:p>
        </p:txBody>
      </p:sp>
      <p:pic>
        <p:nvPicPr>
          <p:cNvPr id="6149" name="Picture 4">
            <a:extLst>
              <a:ext uri="{FF2B5EF4-FFF2-40B4-BE49-F238E27FC236}">
                <a16:creationId xmlns:a16="http://schemas.microsoft.com/office/drawing/2014/main" id="{F5EC23BE-ED74-4848-9C66-DA6D1BC6FF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3613" y="3355976"/>
            <a:ext cx="2443162" cy="282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50" name="CaixaDeTexto 5">
            <a:extLst>
              <a:ext uri="{FF2B5EF4-FFF2-40B4-BE49-F238E27FC236}">
                <a16:creationId xmlns:a16="http://schemas.microsoft.com/office/drawing/2014/main" id="{B902E57D-280B-4E50-AB62-C74FA38110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0088" y="5241926"/>
            <a:ext cx="4006850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pt-BR" altLang="pt-BR" sz="1800">
                <a:latin typeface="Arial" panose="020B0604020202020204" pitchFamily="34" charset="0"/>
                <a:ea typeface="ヒラギノ角ゴ Pro W3" charset="-128"/>
              </a:rPr>
              <a:t>Observe que a atribuição do nome “Maria” ao atributo nome faz-se pelo método de acesso set, devido ao modificador de acesso, vamos ver um pouco mais sobre isso.</a:t>
            </a:r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09EAE345-02D6-447B-9A65-462600E3EDA3}"/>
              </a:ext>
            </a:extLst>
          </p:cNvPr>
          <p:cNvCxnSpPr/>
          <p:nvPr/>
        </p:nvCxnSpPr>
        <p:spPr>
          <a:xfrm flipH="1">
            <a:off x="5343526" y="4364038"/>
            <a:ext cx="1216025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707DE8CD-E6AA-4BB7-BC34-22300CCD2046}"/>
              </a:ext>
            </a:extLst>
          </p:cNvPr>
          <p:cNvCxnSpPr/>
          <p:nvPr/>
        </p:nvCxnSpPr>
        <p:spPr>
          <a:xfrm>
            <a:off x="5343525" y="4364038"/>
            <a:ext cx="0" cy="149225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B0B4D1BC-F7F3-4269-98CF-686E22CB4940}"/>
              </a:ext>
            </a:extLst>
          </p:cNvPr>
          <p:cNvCxnSpPr/>
          <p:nvPr/>
        </p:nvCxnSpPr>
        <p:spPr>
          <a:xfrm>
            <a:off x="5343526" y="5856288"/>
            <a:ext cx="436563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337CBF2-00F7-4230-AA3E-B25081D7550E}"/>
              </a:ext>
            </a:extLst>
          </p:cNvPr>
          <p:cNvSpPr txBox="1"/>
          <p:nvPr/>
        </p:nvSpPr>
        <p:spPr>
          <a:xfrm>
            <a:off x="3048000" y="310914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pt-B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871384AE-F01D-4356-B0F3-E24DD70C491E}"/>
              </a:ext>
            </a:extLst>
          </p:cNvPr>
          <p:cNvSpPr txBox="1"/>
          <p:nvPr/>
        </p:nvSpPr>
        <p:spPr>
          <a:xfrm>
            <a:off x="3048000" y="310914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pt-B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31A2CCB1-D09C-4137-9C60-17037BD9C0F0}"/>
              </a:ext>
            </a:extLst>
          </p:cNvPr>
          <p:cNvSpPr txBox="1"/>
          <p:nvPr/>
        </p:nvSpPr>
        <p:spPr>
          <a:xfrm>
            <a:off x="3905628" y="1408114"/>
            <a:ext cx="420929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pt-BR" sz="2400" b="1" dirty="0">
                <a:latin typeface="+mj-lt"/>
              </a:rPr>
              <a:t>MODIFICADORES DE ACESSO</a:t>
            </a:r>
          </a:p>
        </p:txBody>
      </p:sp>
      <p:sp>
        <p:nvSpPr>
          <p:cNvPr id="38915" name="Retângulo 3">
            <a:extLst>
              <a:ext uri="{FF2B5EF4-FFF2-40B4-BE49-F238E27FC236}">
                <a16:creationId xmlns:a16="http://schemas.microsoft.com/office/drawing/2014/main" id="{58A4E66E-B13E-4CA0-B673-E0A58322A1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2000" y="2070100"/>
            <a:ext cx="8242300" cy="3108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defRPr/>
            </a:pPr>
            <a:r>
              <a:rPr lang="pt-BR" sz="2000" dirty="0"/>
              <a:t>Os modificadores de acesso permitem alterar a visibilidade dos elementos dentro de uma determinada classe. Existem quatro tipos, são: </a:t>
            </a:r>
          </a:p>
          <a:p>
            <a:pPr algn="just">
              <a:defRPr/>
            </a:pPr>
            <a:endParaRPr lang="pt-BR" sz="2000" dirty="0"/>
          </a:p>
          <a:p>
            <a:pPr algn="just">
              <a:buFont typeface="Arial" pitchFamily="34" charset="0"/>
              <a:buChar char="•"/>
              <a:defRPr/>
            </a:pPr>
            <a:r>
              <a:rPr lang="pt-BR" sz="2000" dirty="0"/>
              <a:t> </a:t>
            </a:r>
            <a:r>
              <a:rPr lang="pt-BR" sz="2000" b="1" dirty="0" err="1"/>
              <a:t>public</a:t>
            </a:r>
            <a:r>
              <a:rPr lang="pt-BR" sz="2000" dirty="0"/>
              <a:t> – que permite que os elementos sejam acessados tanto internamente como externamente</a:t>
            </a:r>
          </a:p>
          <a:p>
            <a:pPr algn="just">
              <a:buFont typeface="Arial" pitchFamily="34" charset="0"/>
              <a:buChar char="•"/>
              <a:defRPr/>
            </a:pPr>
            <a:r>
              <a:rPr lang="pt-BR" sz="2000" dirty="0"/>
              <a:t> </a:t>
            </a:r>
            <a:r>
              <a:rPr lang="pt-BR" sz="2000" b="1" dirty="0" err="1"/>
              <a:t>private</a:t>
            </a:r>
            <a:r>
              <a:rPr lang="pt-BR" sz="2000" dirty="0"/>
              <a:t> – que permite que os elementos sejam acessados somente na classe que os possui</a:t>
            </a:r>
          </a:p>
          <a:p>
            <a:pPr algn="just">
              <a:buFont typeface="Arial" pitchFamily="34" charset="0"/>
              <a:buChar char="•"/>
              <a:defRPr/>
            </a:pPr>
            <a:r>
              <a:rPr lang="pt-BR" sz="2000" dirty="0"/>
              <a:t> </a:t>
            </a:r>
            <a:r>
              <a:rPr lang="pt-BR" sz="2000" b="1" dirty="0" err="1"/>
              <a:t>protected</a:t>
            </a:r>
            <a:r>
              <a:rPr lang="pt-BR" sz="2000" dirty="0"/>
              <a:t> – que permite que os elementos sejam acessados apenas por classes no mesmo pacote</a:t>
            </a:r>
            <a:endParaRPr lang="pt-BR" sz="1600" dirty="0"/>
          </a:p>
          <a:p>
            <a:pPr>
              <a:defRPr/>
            </a:pPr>
            <a:endParaRPr lang="pt-BR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6CB3D68-30CD-49FA-8BF6-FE34A2FF55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059" y="717142"/>
            <a:ext cx="3705742" cy="5849166"/>
          </a:xfrm>
          <a:prstGeom prst="rect">
            <a:avLst/>
          </a:prstGeom>
        </p:spPr>
      </p:pic>
      <p:sp>
        <p:nvSpPr>
          <p:cNvPr id="8195" name="CaixaDeTexto 4">
            <a:extLst>
              <a:ext uri="{FF2B5EF4-FFF2-40B4-BE49-F238E27FC236}">
                <a16:creationId xmlns:a16="http://schemas.microsoft.com/office/drawing/2014/main" id="{C829E701-522A-4D3F-A015-EA9281214D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1138" y="1481139"/>
            <a:ext cx="36480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dirty="0">
                <a:solidFill>
                  <a:schemeClr val="accent2"/>
                </a:solidFill>
                <a:latin typeface="Arial" panose="020B0604020202020204" pitchFamily="34" charset="0"/>
                <a:ea typeface="ヒラギノ角ゴ Pro W3" charset="-128"/>
              </a:rPr>
              <a:t>Acesso somente dentro da classe</a:t>
            </a:r>
          </a:p>
        </p:txBody>
      </p:sp>
      <p:sp>
        <p:nvSpPr>
          <p:cNvPr id="8196" name="CaixaDeTexto 6">
            <a:extLst>
              <a:ext uri="{FF2B5EF4-FFF2-40B4-BE49-F238E27FC236}">
                <a16:creationId xmlns:a16="http://schemas.microsoft.com/office/drawing/2014/main" id="{ED4FF941-C512-4CD3-B84C-77E085D3B8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3376" y="3279739"/>
            <a:ext cx="2865437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pt-BR" altLang="pt-BR" sz="1800" dirty="0">
                <a:solidFill>
                  <a:schemeClr val="accent2"/>
                </a:solidFill>
                <a:latin typeface="Arial" panose="020B0604020202020204" pitchFamily="34" charset="0"/>
                <a:ea typeface="ヒラギノ角ゴ Pro W3" charset="-128"/>
              </a:rPr>
              <a:t>Podem ser acessados por outras classes</a:t>
            </a:r>
          </a:p>
        </p:txBody>
      </p:sp>
      <p:sp>
        <p:nvSpPr>
          <p:cNvPr id="8197" name="CaixaDeTexto 7">
            <a:extLst>
              <a:ext uri="{FF2B5EF4-FFF2-40B4-BE49-F238E27FC236}">
                <a16:creationId xmlns:a16="http://schemas.microsoft.com/office/drawing/2014/main" id="{8223B518-58E0-464F-B208-F33FC7866F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3725" y="5019675"/>
            <a:ext cx="3068638" cy="92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pt-BR" altLang="pt-BR" sz="1800">
                <a:solidFill>
                  <a:schemeClr val="accent2"/>
                </a:solidFill>
                <a:latin typeface="Arial" panose="020B0604020202020204" pitchFamily="34" charset="0"/>
                <a:ea typeface="ヒラギノ角ゴ Pro W3" charset="-128"/>
              </a:rPr>
              <a:t>Acesso somente para classes dentro do mesmo pacote</a:t>
            </a:r>
          </a:p>
        </p:txBody>
      </p:sp>
      <p:sp>
        <p:nvSpPr>
          <p:cNvPr id="10" name="Chave direita 9">
            <a:extLst>
              <a:ext uri="{FF2B5EF4-FFF2-40B4-BE49-F238E27FC236}">
                <a16:creationId xmlns:a16="http://schemas.microsoft.com/office/drawing/2014/main" id="{20A75166-319D-4822-9278-C9D22A669A42}"/>
              </a:ext>
            </a:extLst>
          </p:cNvPr>
          <p:cNvSpPr/>
          <p:nvPr/>
        </p:nvSpPr>
        <p:spPr>
          <a:xfrm>
            <a:off x="3616930" y="1498188"/>
            <a:ext cx="311150" cy="369887"/>
          </a:xfrm>
          <a:prstGeom prst="rightBrac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1" name="Chave direita 10">
            <a:extLst>
              <a:ext uri="{FF2B5EF4-FFF2-40B4-BE49-F238E27FC236}">
                <a16:creationId xmlns:a16="http://schemas.microsoft.com/office/drawing/2014/main" id="{2A885C75-3D82-4BFD-AA0D-D6FA24FFF091}"/>
              </a:ext>
            </a:extLst>
          </p:cNvPr>
          <p:cNvSpPr/>
          <p:nvPr/>
        </p:nvSpPr>
        <p:spPr>
          <a:xfrm>
            <a:off x="5397913" y="2168525"/>
            <a:ext cx="525463" cy="2838450"/>
          </a:xfrm>
          <a:prstGeom prst="rightBrac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8A55B83E-AAA6-4FB7-B0EA-37E72A4CC0B5}"/>
              </a:ext>
            </a:extLst>
          </p:cNvPr>
          <p:cNvCxnSpPr>
            <a:cxnSpLocks/>
          </p:cNvCxnSpPr>
          <p:nvPr/>
        </p:nvCxnSpPr>
        <p:spPr>
          <a:xfrm flipH="1">
            <a:off x="5248276" y="5203049"/>
            <a:ext cx="1695449" cy="499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DAF46655-4F99-4095-9D69-9DF63E82733B}"/>
              </a:ext>
            </a:extLst>
          </p:cNvPr>
          <p:cNvSpPr txBox="1"/>
          <p:nvPr/>
        </p:nvSpPr>
        <p:spPr>
          <a:xfrm>
            <a:off x="3905628" y="1408114"/>
            <a:ext cx="420929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pt-BR" sz="2400" b="1" dirty="0">
                <a:latin typeface="+mj-lt"/>
              </a:rPr>
              <a:t>MODIFICADORES DE ACESSO</a:t>
            </a:r>
          </a:p>
        </p:txBody>
      </p:sp>
      <p:sp>
        <p:nvSpPr>
          <p:cNvPr id="38915" name="Retângulo 3">
            <a:extLst>
              <a:ext uri="{FF2B5EF4-FFF2-40B4-BE49-F238E27FC236}">
                <a16:creationId xmlns:a16="http://schemas.microsoft.com/office/drawing/2014/main" id="{CB9BDAAD-452F-43CC-9F1E-9D213883F3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2000" y="2070100"/>
            <a:ext cx="8242300" cy="323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defRPr/>
            </a:pPr>
            <a:r>
              <a:rPr lang="pt-BR" sz="2000" dirty="0"/>
              <a:t>Observando o exemplo anterior, ao instanciar um objeto da classe Acesso não será possível atribuir  e/ou ler um valor do atributo diretamente, somente pelos métodos de acesso GET e SET.</a:t>
            </a:r>
          </a:p>
          <a:p>
            <a:pPr algn="just">
              <a:defRPr/>
            </a:pPr>
            <a:endParaRPr lang="pt-BR" sz="2000" dirty="0"/>
          </a:p>
          <a:p>
            <a:pPr algn="just">
              <a:defRPr/>
            </a:pPr>
            <a:endParaRPr lang="pt-BR" sz="2000" dirty="0"/>
          </a:p>
          <a:p>
            <a:pPr algn="just">
              <a:defRPr/>
            </a:pPr>
            <a:r>
              <a:rPr lang="pt-BR" sz="2000" dirty="0"/>
              <a:t>Exemplo:</a:t>
            </a:r>
          </a:p>
          <a:p>
            <a:pPr algn="just">
              <a:defRPr/>
            </a:pPr>
            <a:r>
              <a:rPr lang="pt-BR" sz="1600" dirty="0"/>
              <a:t>$a = new Acesso();</a:t>
            </a:r>
          </a:p>
          <a:p>
            <a:pPr algn="just">
              <a:defRPr/>
            </a:pPr>
            <a:endParaRPr lang="pt-BR" sz="1600" dirty="0"/>
          </a:p>
          <a:p>
            <a:pPr algn="just">
              <a:defRPr/>
            </a:pPr>
            <a:r>
              <a:rPr lang="pt-BR" sz="1600" dirty="0"/>
              <a:t>$</a:t>
            </a:r>
            <a:r>
              <a:rPr lang="pt-BR" sz="1600" dirty="0" err="1"/>
              <a:t>a.setUsuario</a:t>
            </a:r>
            <a:r>
              <a:rPr lang="pt-BR" sz="1600" dirty="0"/>
              <a:t>(“</a:t>
            </a:r>
            <a:r>
              <a:rPr lang="pt-BR" sz="1600" dirty="0" err="1"/>
              <a:t>UserLogin</a:t>
            </a:r>
            <a:r>
              <a:rPr lang="pt-BR" sz="1600" dirty="0"/>
              <a:t>”);</a:t>
            </a:r>
          </a:p>
          <a:p>
            <a:pPr algn="just">
              <a:defRPr/>
            </a:pPr>
            <a:endParaRPr lang="pt-BR" sz="1600" dirty="0"/>
          </a:p>
          <a:p>
            <a:pPr algn="just">
              <a:defRPr/>
            </a:pPr>
            <a:r>
              <a:rPr lang="pt-BR" sz="1600" dirty="0" err="1"/>
              <a:t>Echo</a:t>
            </a:r>
            <a:r>
              <a:rPr lang="pt-BR" sz="1600" dirty="0"/>
              <a:t> $</a:t>
            </a:r>
            <a:r>
              <a:rPr lang="pt-BR" sz="1600" dirty="0" err="1"/>
              <a:t>a.getUsuario</a:t>
            </a:r>
            <a:r>
              <a:rPr lang="pt-BR" sz="1600" dirty="0"/>
              <a:t>();</a:t>
            </a:r>
            <a:endParaRPr lang="pt-BR" sz="2000" dirty="0"/>
          </a:p>
        </p:txBody>
      </p:sp>
      <p:sp>
        <p:nvSpPr>
          <p:cNvPr id="9220" name="CaixaDeTexto 3">
            <a:extLst>
              <a:ext uri="{FF2B5EF4-FFF2-40B4-BE49-F238E27FC236}">
                <a16:creationId xmlns:a16="http://schemas.microsoft.com/office/drawing/2014/main" id="{02FB471D-BE8B-4F07-8C76-190EFD1A16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8076" y="3878263"/>
            <a:ext cx="38782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>
                <a:latin typeface="Arial" panose="020B0604020202020204" pitchFamily="34" charset="0"/>
                <a:ea typeface="ヒラギノ角ゴ Pro W3" charset="-128"/>
              </a:rPr>
              <a:t>Instância do objeto a do tipo Acesso</a:t>
            </a:r>
          </a:p>
        </p:txBody>
      </p:sp>
      <p:sp>
        <p:nvSpPr>
          <p:cNvPr id="9221" name="CaixaDeTexto 4">
            <a:extLst>
              <a:ext uri="{FF2B5EF4-FFF2-40B4-BE49-F238E27FC236}">
                <a16:creationId xmlns:a16="http://schemas.microsoft.com/office/drawing/2014/main" id="{1FD16402-9369-4D26-AAD7-825CEAF7FF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4589" y="4422775"/>
            <a:ext cx="35829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>
                <a:latin typeface="Arial" panose="020B0604020202020204" pitchFamily="34" charset="0"/>
                <a:ea typeface="ヒラギノ角ゴ Pro W3" charset="-128"/>
              </a:rPr>
              <a:t>Atribuindo informação ao atributo</a:t>
            </a:r>
          </a:p>
        </p:txBody>
      </p:sp>
      <p:sp>
        <p:nvSpPr>
          <p:cNvPr id="9222" name="CaixaDeTexto 5">
            <a:extLst>
              <a:ext uri="{FF2B5EF4-FFF2-40B4-BE49-F238E27FC236}">
                <a16:creationId xmlns:a16="http://schemas.microsoft.com/office/drawing/2014/main" id="{2313E77A-0459-485D-BF63-2EE5C98F95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5063" y="4875214"/>
            <a:ext cx="42338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>
                <a:latin typeface="Arial" panose="020B0604020202020204" pitchFamily="34" charset="0"/>
                <a:ea typeface="ヒラギノ角ゴ Pro W3" charset="-128"/>
              </a:rPr>
              <a:t>Visualizando a informação armazenada</a:t>
            </a: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8B9DAF13-34EB-4885-B83F-E58C9CB6C371}"/>
              </a:ext>
            </a:extLst>
          </p:cNvPr>
          <p:cNvCxnSpPr>
            <a:endCxn id="9220" idx="1"/>
          </p:cNvCxnSpPr>
          <p:nvPr/>
        </p:nvCxnSpPr>
        <p:spPr>
          <a:xfrm>
            <a:off x="4232275" y="4062413"/>
            <a:ext cx="19558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295F7C2D-881A-410E-A0F5-09BD6167ED23}"/>
              </a:ext>
            </a:extLst>
          </p:cNvPr>
          <p:cNvCxnSpPr>
            <a:cxnSpLocks/>
            <a:endCxn id="9221" idx="1"/>
          </p:cNvCxnSpPr>
          <p:nvPr/>
        </p:nvCxnSpPr>
        <p:spPr>
          <a:xfrm>
            <a:off x="4625009" y="4606925"/>
            <a:ext cx="159958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2B9D1F5D-A60B-4CBB-8A36-4F86CB5CCDAE}"/>
              </a:ext>
            </a:extLst>
          </p:cNvPr>
          <p:cNvCxnSpPr>
            <a:cxnSpLocks/>
          </p:cNvCxnSpPr>
          <p:nvPr/>
        </p:nvCxnSpPr>
        <p:spPr>
          <a:xfrm>
            <a:off x="4081670" y="5060950"/>
            <a:ext cx="210640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axe">
  <a:themeElements>
    <a:clrScheme name="Paralaxe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BC1C1C"/>
      </a:accent1>
      <a:accent2>
        <a:srgbClr val="F67534"/>
      </a:accent2>
      <a:accent3>
        <a:srgbClr val="EAAC35"/>
      </a:accent3>
      <a:accent4>
        <a:srgbClr val="9BAF68"/>
      </a:accent4>
      <a:accent5>
        <a:srgbClr val="68B9A6"/>
      </a:accent5>
      <a:accent6>
        <a:srgbClr val="50B1D4"/>
      </a:accent6>
      <a:hlink>
        <a:srgbClr val="E46416"/>
      </a:hlink>
      <a:folHlink>
        <a:srgbClr val="EE9340"/>
      </a:folHlink>
    </a:clrScheme>
    <a:fontScheme name="Paralaxe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ax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93B4CCAC-FD5A-4D59-B1AC-EAF45910B5A9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3F95C65FCE67A42B1DD4942EF3BCF87" ma:contentTypeVersion="2" ma:contentTypeDescription="Crie um novo documento." ma:contentTypeScope="" ma:versionID="55eca17348f36998ed59d09c7c6d01e6">
  <xsd:schema xmlns:xsd="http://www.w3.org/2001/XMLSchema" xmlns:xs="http://www.w3.org/2001/XMLSchema" xmlns:p="http://schemas.microsoft.com/office/2006/metadata/properties" xmlns:ns2="2a14d617-4b87-411b-a777-c3b3f30b92ee" targetNamespace="http://schemas.microsoft.com/office/2006/metadata/properties" ma:root="true" ma:fieldsID="0f5f38b92ea01ac4ae6d449655b95cab" ns2:_="">
    <xsd:import namespace="2a14d617-4b87-411b-a777-c3b3f30b92e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14d617-4b87-411b-a777-c3b3f30b92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894736F-AB10-4472-95F8-B55C379B1385}">
  <ds:schemaRefs>
    <ds:schemaRef ds:uri="http://schemas.microsoft.com/office/2006/documentManagement/types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purl.org/dc/dcmitype/"/>
    <ds:schemaRef ds:uri="2a14d617-4b87-411b-a777-c3b3f30b92ee"/>
    <ds:schemaRef ds:uri="http://schemas.microsoft.com/office/infopath/2007/PartnerControls"/>
    <ds:schemaRef ds:uri="http://www.w3.org/XML/1998/namespac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E29FE7FE-FD32-4C92-8626-91FF0EF3E2B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0298E63-DE99-4202-9681-E17DA5134B4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a14d617-4b87-411b-a777-c3b3f30b92e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371</Words>
  <Application>Microsoft Office PowerPoint</Application>
  <PresentationFormat>Widescreen</PresentationFormat>
  <Paragraphs>52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Consolas</vt:lpstr>
      <vt:lpstr>Corbel</vt:lpstr>
      <vt:lpstr>Paralaxe</vt:lpstr>
      <vt:lpstr>Encapsulamento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Orientação a Objetos PHP</dc:title>
  <dc:creator>JULIANA GODOY DE SA</dc:creator>
  <cp:lastModifiedBy>JULIANA GODOY DE SA</cp:lastModifiedBy>
  <cp:revision>8</cp:revision>
  <dcterms:created xsi:type="dcterms:W3CDTF">2020-09-17T18:46:04Z</dcterms:created>
  <dcterms:modified xsi:type="dcterms:W3CDTF">2020-10-13T18:03:10Z</dcterms:modified>
</cp:coreProperties>
</file>