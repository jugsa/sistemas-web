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sldIdLst>
    <p:sldId id="256" r:id="rId5"/>
    <p:sldId id="257" r:id="rId6"/>
    <p:sldId id="258" r:id="rId7"/>
    <p:sldId id="259" r:id="rId8"/>
    <p:sldId id="260" r:id="rId9"/>
    <p:sldId id="261" r:id="rId10"/>
    <p:sldId id="263" r:id="rId11"/>
    <p:sldId id="264" r:id="rId12"/>
    <p:sldId id="262" r:id="rId13"/>
    <p:sldId id="265"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40" autoAdjust="0"/>
    <p:restoredTop sz="94660"/>
  </p:normalViewPr>
  <p:slideViewPr>
    <p:cSldViewPr snapToGrid="0">
      <p:cViewPr varScale="1">
        <p:scale>
          <a:sx n="66" d="100"/>
          <a:sy n="66" d="100"/>
        </p:scale>
        <p:origin x="96" y="1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pt-BR"/>
              <a:t>Clique para editar o título mestre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A4D64E7D-DAAD-4FC2-BD68-4BAEAD2EAB37}" type="datetimeFigureOut">
              <a:rPr lang="pt-BR" smtClean="0"/>
              <a:t>14/09/2020</a:t>
            </a:fld>
            <a:endParaRPr lang="pt-BR"/>
          </a:p>
        </p:txBody>
      </p:sp>
      <p:sp>
        <p:nvSpPr>
          <p:cNvPr id="5" name="Footer Placeholder 4"/>
          <p:cNvSpPr>
            <a:spLocks noGrp="1"/>
          </p:cNvSpPr>
          <p:nvPr>
            <p:ph type="ftr" sz="quarter" idx="11"/>
          </p:nvPr>
        </p:nvSpPr>
        <p:spPr>
          <a:xfrm>
            <a:off x="5332412" y="5883275"/>
            <a:ext cx="4324044" cy="365125"/>
          </a:xfrm>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pic>
        <p:nvPicPr>
          <p:cNvPr id="10" name="Imagem 9">
            <a:extLst>
              <a:ext uri="{FF2B5EF4-FFF2-40B4-BE49-F238E27FC236}">
                <a16:creationId xmlns:a16="http://schemas.microsoft.com/office/drawing/2014/main" id="{8DFB1E4A-CF2F-4C01-A98D-9103E059F2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721" y="4779205"/>
            <a:ext cx="2272666" cy="2097845"/>
          </a:xfrm>
          <a:prstGeom prst="rect">
            <a:avLst/>
          </a:prstGeom>
        </p:spPr>
      </p:pic>
    </p:spTree>
    <p:extLst>
      <p:ext uri="{BB962C8B-B14F-4D97-AF65-F5344CB8AC3E}">
        <p14:creationId xmlns:p14="http://schemas.microsoft.com/office/powerpoint/2010/main" val="1001304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nchor="ct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4D64E7D-DAAD-4FC2-BD68-4BAEAD2EAB37}" type="datetimeFigureOut">
              <a:rPr lang="pt-BR" smtClean="0"/>
              <a:t>14/09/2020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a:xfrm>
            <a:off x="10951856" y="5867131"/>
            <a:ext cx="551167" cy="365125"/>
          </a:xfrm>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3196083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pt-BR"/>
              <a:t>Clique para editar o título mestre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A4D64E7D-DAAD-4FC2-BD68-4BAEAD2EAB37}" type="datetimeFigureOut">
              <a:rPr lang="pt-BR" smtClean="0"/>
              <a:t>14/09/2020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2468179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pt-BR"/>
              <a:t>Clique para editar o título mestre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A4D64E7D-DAAD-4FC2-BD68-4BAEAD2EAB37}" type="datetimeFigureOut">
              <a:rPr lang="pt-BR" smtClean="0"/>
              <a:t>14/09/2020</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3413106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a:t>Clique para editar o título mestre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A4D64E7D-DAAD-4FC2-BD68-4BAEAD2EAB37}" type="datetimeFigureOut">
              <a:rPr lang="pt-BR" smtClean="0"/>
              <a:t>14/09/2020</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2696420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A4D64E7D-DAAD-4FC2-BD68-4BAEAD2EAB37}" type="datetimeFigureOut">
              <a:rPr lang="pt-BR" smtClean="0"/>
              <a:t>14/09/2020</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2418475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D64E7D-DAAD-4FC2-BD68-4BAEAD2EAB37}" type="datetimeFigureOut">
              <a:rPr lang="pt-BR" smtClean="0"/>
              <a:t>14/09/2020</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2956201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pt-BR"/>
              <a:t>Clique para editar o título mestre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p>
            <a:fld id="{A4D64E7D-DAAD-4FC2-BD68-4BAEAD2EAB37}" type="datetimeFigureOut">
              <a:rPr lang="pt-BR" smtClean="0"/>
              <a:t>14/09/2020</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131856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pt-BR"/>
              <a:t>Clique para editar o título mestre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p>
            <a:fld id="{A4D64E7D-DAAD-4FC2-BD68-4BAEAD2EAB37}" type="datetimeFigureOut">
              <a:rPr lang="pt-BR" smtClean="0"/>
              <a:t>14/09/2020</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1694470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p>
            <a:fld id="{A4D64E7D-DAAD-4FC2-BD68-4BAEAD2EAB37}" type="datetimeFigureOut">
              <a:rPr lang="pt-BR" smtClean="0"/>
              <a:t>14/09/2020</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792151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pt-BR"/>
              <a:t>Clique para editar o título mestre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A4D64E7D-DAAD-4FC2-BD68-4BAEAD2EAB37}" type="datetimeFigureOut">
              <a:rPr lang="pt-BR" smtClean="0"/>
              <a:t>14/09/2020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19747931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pt-BR"/>
              <a:t>Clique para editar o título mestre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Editar estilos de texto Mestre</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A4D64E7D-DAAD-4FC2-BD68-4BAEAD2EAB37}" type="datetimeFigureOut">
              <a:rPr lang="pt-BR" smtClean="0"/>
              <a:t>14/09/2020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18835294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pt-BR"/>
              <a:t>Clique para editar o título mestre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A4D64E7D-DAAD-4FC2-BD68-4BAEAD2EAB37}" type="datetimeFigureOut">
              <a:rPr lang="pt-BR" smtClean="0"/>
              <a:t>14/09/2020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21065750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o Cartão de Nome">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pt-BR"/>
              <a:t>Clique para editar o título mestre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pt-BR"/>
              <a:t>Editar estilos de texto Mestre</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A4D64E7D-DAAD-4FC2-BD68-4BAEAD2EAB37}" type="datetimeFigureOut">
              <a:rPr lang="pt-BR" smtClean="0"/>
              <a:t>14/09/2020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41736547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iro ou Falso">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pt-BR"/>
              <a:t>Clique para editar o título mestre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pt-BR"/>
              <a:t>Editar estilos de texto Mestre</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A4D64E7D-DAAD-4FC2-BD68-4BAEAD2EAB37}" type="datetimeFigureOut">
              <a:rPr lang="pt-BR" smtClean="0"/>
              <a:t>14/09/2020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19280051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4D64E7D-DAAD-4FC2-BD68-4BAEAD2EAB37}" type="datetimeFigureOut">
              <a:rPr lang="pt-BR" smtClean="0"/>
              <a:t>14/09/2020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23230533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4D64E7D-DAAD-4FC2-BD68-4BAEAD2EAB37}" type="datetimeFigureOut">
              <a:rPr lang="pt-BR" smtClean="0"/>
              <a:t>14/09/2020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2585197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4D64E7D-DAAD-4FC2-BD68-4BAEAD2EAB37}" type="datetimeFigureOut">
              <a:rPr lang="pt-BR" smtClean="0"/>
              <a:t>14/09/2020</a:t>
            </a:fld>
            <a:endParaRPr lang="pt-BR"/>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pt-BR"/>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A47C601-698B-451C-A431-04A42B27C505}" type="slidenum">
              <a:rPr lang="pt-BR" smtClean="0"/>
              <a:t>‹nº›</a:t>
            </a:fld>
            <a:endParaRPr lang="pt-BR"/>
          </a:p>
        </p:txBody>
      </p:sp>
      <p:pic>
        <p:nvPicPr>
          <p:cNvPr id="14" name="Imagem 13">
            <a:extLst>
              <a:ext uri="{FF2B5EF4-FFF2-40B4-BE49-F238E27FC236}">
                <a16:creationId xmlns:a16="http://schemas.microsoft.com/office/drawing/2014/main" id="{065FAD68-07DC-4FAB-9FDF-0DC891EAB741}"/>
              </a:ext>
            </a:extLst>
          </p:cNvPr>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0" y="6013938"/>
            <a:ext cx="914400" cy="844062"/>
          </a:xfrm>
          <a:prstGeom prst="rect">
            <a:avLst/>
          </a:prstGeom>
        </p:spPr>
      </p:pic>
    </p:spTree>
    <p:extLst>
      <p:ext uri="{BB962C8B-B14F-4D97-AF65-F5344CB8AC3E}">
        <p14:creationId xmlns:p14="http://schemas.microsoft.com/office/powerpoint/2010/main" val="267540488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a:bodyPr>
          <a:lstStyle/>
          <a:p>
            <a:r>
              <a:rPr lang="pt-BR" dirty="0"/>
              <a:t>Diagrama de classe </a:t>
            </a:r>
          </a:p>
        </p:txBody>
      </p:sp>
      <p:sp>
        <p:nvSpPr>
          <p:cNvPr id="3" name="Subtítulo 2"/>
          <p:cNvSpPr>
            <a:spLocks noGrp="1"/>
          </p:cNvSpPr>
          <p:nvPr>
            <p:ph type="subTitle" idx="1"/>
          </p:nvPr>
        </p:nvSpPr>
        <p:spPr/>
        <p:txBody>
          <a:bodyPr/>
          <a:lstStyle/>
          <a:p>
            <a:r>
              <a:rPr lang="pt-BR" dirty="0"/>
              <a:t>Prof. Juliana de Sá</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4F14C3-7EAE-4327-9F21-64B7E9044F41}"/>
              </a:ext>
            </a:extLst>
          </p:cNvPr>
          <p:cNvSpPr>
            <a:spLocks noGrp="1"/>
          </p:cNvSpPr>
          <p:nvPr>
            <p:ph type="title"/>
          </p:nvPr>
        </p:nvSpPr>
        <p:spPr/>
        <p:txBody>
          <a:bodyPr/>
          <a:lstStyle/>
          <a:p>
            <a:r>
              <a:rPr lang="pt-BR" dirty="0"/>
              <a:t>Diagrama de Classe</a:t>
            </a:r>
          </a:p>
        </p:txBody>
      </p:sp>
      <p:sp>
        <p:nvSpPr>
          <p:cNvPr id="3" name="Espaço Reservado para Conteúdo 2">
            <a:extLst>
              <a:ext uri="{FF2B5EF4-FFF2-40B4-BE49-F238E27FC236}">
                <a16:creationId xmlns:a16="http://schemas.microsoft.com/office/drawing/2014/main" id="{B5405B44-D5D7-46B1-A19A-BC4E5752C773}"/>
              </a:ext>
            </a:extLst>
          </p:cNvPr>
          <p:cNvSpPr>
            <a:spLocks noGrp="1"/>
          </p:cNvSpPr>
          <p:nvPr>
            <p:ph idx="1"/>
          </p:nvPr>
        </p:nvSpPr>
        <p:spPr/>
        <p:txBody>
          <a:bodyPr/>
          <a:lstStyle/>
          <a:p>
            <a:pPr algn="just"/>
            <a:r>
              <a:rPr lang="pt-BR" sz="1800" b="0" i="0" u="none" strike="noStrike" baseline="0" dirty="0">
                <a:solidFill>
                  <a:srgbClr val="000000"/>
                </a:solidFill>
                <a:latin typeface="Arial" panose="020B0604020202020204" pitchFamily="34" charset="0"/>
              </a:rPr>
              <a:t>O diagrama de classe auxilia na modelagem das classes do sistema de acordo com suas características e relacionamentos. Apesar das classes serem declaradas no diagrama de classes, as mesmas são utilizadas em outros diagramas da UML. </a:t>
            </a:r>
            <a:endParaRPr lang="pt-BR" dirty="0"/>
          </a:p>
        </p:txBody>
      </p:sp>
    </p:spTree>
    <p:extLst>
      <p:ext uri="{BB962C8B-B14F-4D97-AF65-F5344CB8AC3E}">
        <p14:creationId xmlns:p14="http://schemas.microsoft.com/office/powerpoint/2010/main" val="190580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F55BE1-D8C0-4841-9B0F-64AD6FCDD10B}"/>
              </a:ext>
            </a:extLst>
          </p:cNvPr>
          <p:cNvSpPr>
            <a:spLocks noGrp="1"/>
          </p:cNvSpPr>
          <p:nvPr>
            <p:ph type="title"/>
          </p:nvPr>
        </p:nvSpPr>
        <p:spPr/>
        <p:txBody>
          <a:bodyPr/>
          <a:lstStyle/>
          <a:p>
            <a:r>
              <a:rPr lang="pt-BR" dirty="0"/>
              <a:t>Representação</a:t>
            </a:r>
          </a:p>
        </p:txBody>
      </p:sp>
      <p:sp>
        <p:nvSpPr>
          <p:cNvPr id="3" name="Espaço Reservado para Conteúdo 2">
            <a:extLst>
              <a:ext uri="{FF2B5EF4-FFF2-40B4-BE49-F238E27FC236}">
                <a16:creationId xmlns:a16="http://schemas.microsoft.com/office/drawing/2014/main" id="{84FC2238-6681-4F12-A483-3E20EF83819C}"/>
              </a:ext>
            </a:extLst>
          </p:cNvPr>
          <p:cNvSpPr>
            <a:spLocks noGrp="1"/>
          </p:cNvSpPr>
          <p:nvPr>
            <p:ph idx="1"/>
          </p:nvPr>
        </p:nvSpPr>
        <p:spPr/>
        <p:txBody>
          <a:bodyPr>
            <a:normAutofit fontScale="85000" lnSpcReduction="20000"/>
          </a:bodyPr>
          <a:lstStyle/>
          <a:p>
            <a:r>
              <a:rPr lang="pt-BR" sz="1800" b="0" i="0" u="none" strike="noStrike" baseline="0" dirty="0">
                <a:solidFill>
                  <a:srgbClr val="000000"/>
                </a:solidFill>
                <a:latin typeface="Arial" panose="020B0604020202020204" pitchFamily="34" charset="0"/>
              </a:rPr>
              <a:t>A representação de uma classe é um retângulo subdividido em três compartimentos, separados por linhas horizontais que nesta ordem armazenam: </a:t>
            </a:r>
          </a:p>
          <a:p>
            <a:pPr lvl="1"/>
            <a:r>
              <a:rPr lang="pt-BR" sz="1400" b="0" i="0" u="none" strike="noStrike" baseline="0" dirty="0">
                <a:solidFill>
                  <a:srgbClr val="000000"/>
                </a:solidFill>
                <a:latin typeface="Arial" panose="020B0604020202020204" pitchFamily="34" charset="0"/>
              </a:rPr>
              <a:t>O nome da classe; </a:t>
            </a:r>
          </a:p>
          <a:p>
            <a:pPr lvl="1"/>
            <a:r>
              <a:rPr lang="pt-BR" sz="1400" b="0" i="0" u="none" strike="noStrike" baseline="0" dirty="0">
                <a:solidFill>
                  <a:srgbClr val="000000"/>
                </a:solidFill>
                <a:latin typeface="Arial" panose="020B0604020202020204" pitchFamily="34" charset="0"/>
              </a:rPr>
              <a:t>Os atributos; </a:t>
            </a:r>
          </a:p>
          <a:p>
            <a:pPr lvl="1"/>
            <a:r>
              <a:rPr lang="pt-BR" sz="1400" b="0" i="0" u="none" strike="noStrike" baseline="0" dirty="0">
                <a:solidFill>
                  <a:srgbClr val="000000"/>
                </a:solidFill>
                <a:latin typeface="Arial" panose="020B0604020202020204" pitchFamily="34" charset="0"/>
              </a:rPr>
              <a:t>Os métodos </a:t>
            </a:r>
          </a:p>
          <a:p>
            <a:endParaRPr lang="pt-BR" sz="1800" b="0" i="0" u="none" strike="noStrike" baseline="0" dirty="0">
              <a:solidFill>
                <a:srgbClr val="000000"/>
              </a:solidFill>
              <a:latin typeface="Arial" panose="020B0604020202020204" pitchFamily="34" charset="0"/>
            </a:endParaRPr>
          </a:p>
          <a:p>
            <a:r>
              <a:rPr lang="pt-BR" sz="1800" b="0" i="0" u="none" strike="noStrike" baseline="0" dirty="0">
                <a:solidFill>
                  <a:srgbClr val="000000"/>
                </a:solidFill>
                <a:latin typeface="Arial" panose="020B0604020202020204" pitchFamily="34" charset="0"/>
              </a:rPr>
              <a:t>Os tipos de relacionamentos entre as classes são: </a:t>
            </a:r>
          </a:p>
          <a:p>
            <a:pPr lvl="1"/>
            <a:r>
              <a:rPr lang="pt-BR" sz="1400" b="0" i="0" u="none" strike="noStrike" baseline="0" dirty="0">
                <a:solidFill>
                  <a:srgbClr val="000000"/>
                </a:solidFill>
                <a:latin typeface="Arial" panose="020B0604020202020204" pitchFamily="34" charset="0"/>
              </a:rPr>
              <a:t>associação (conectadas entre si), </a:t>
            </a:r>
          </a:p>
          <a:p>
            <a:pPr lvl="1"/>
            <a:r>
              <a:rPr lang="pt-BR" sz="1400" b="0" i="0" u="none" strike="noStrike" baseline="0" dirty="0">
                <a:solidFill>
                  <a:srgbClr val="000000"/>
                </a:solidFill>
                <a:latin typeface="Arial" panose="020B0604020202020204" pitchFamily="34" charset="0"/>
              </a:rPr>
              <a:t>dependência (uma classe depende ou usa outra classe), </a:t>
            </a:r>
          </a:p>
          <a:p>
            <a:pPr lvl="1"/>
            <a:r>
              <a:rPr lang="pt-BR" sz="1400" b="0" i="0" u="none" strike="noStrike" baseline="0" dirty="0">
                <a:solidFill>
                  <a:srgbClr val="000000"/>
                </a:solidFill>
                <a:latin typeface="Arial" panose="020B0604020202020204" pitchFamily="34" charset="0"/>
              </a:rPr>
              <a:t>especialização (uma classe é uma especialização de outra classe), </a:t>
            </a:r>
          </a:p>
          <a:p>
            <a:pPr lvl="1"/>
            <a:r>
              <a:rPr lang="pt-BR" sz="1400" b="0" i="0" u="none" strike="noStrike" baseline="0" dirty="0">
                <a:solidFill>
                  <a:srgbClr val="000000"/>
                </a:solidFill>
                <a:latin typeface="Arial" panose="020B0604020202020204" pitchFamily="34" charset="0"/>
              </a:rPr>
              <a:t>entre outros que veremos a seguir </a:t>
            </a:r>
          </a:p>
          <a:p>
            <a:endParaRPr lang="pt-BR" dirty="0"/>
          </a:p>
        </p:txBody>
      </p:sp>
      <p:pic>
        <p:nvPicPr>
          <p:cNvPr id="5" name="Imagem 4">
            <a:extLst>
              <a:ext uri="{FF2B5EF4-FFF2-40B4-BE49-F238E27FC236}">
                <a16:creationId xmlns:a16="http://schemas.microsoft.com/office/drawing/2014/main" id="{5A5C550F-DE20-4B63-B895-24BD8B29515A}"/>
              </a:ext>
            </a:extLst>
          </p:cNvPr>
          <p:cNvPicPr>
            <a:picLocks noChangeAspect="1"/>
          </p:cNvPicPr>
          <p:nvPr/>
        </p:nvPicPr>
        <p:blipFill>
          <a:blip r:embed="rId2"/>
          <a:stretch>
            <a:fillRect/>
          </a:stretch>
        </p:blipFill>
        <p:spPr>
          <a:xfrm>
            <a:off x="8638746" y="3110261"/>
            <a:ext cx="2448323" cy="3096409"/>
          </a:xfrm>
          <a:prstGeom prst="rect">
            <a:avLst/>
          </a:prstGeom>
        </p:spPr>
      </p:pic>
    </p:spTree>
    <p:extLst>
      <p:ext uri="{BB962C8B-B14F-4D97-AF65-F5344CB8AC3E}">
        <p14:creationId xmlns:p14="http://schemas.microsoft.com/office/powerpoint/2010/main" val="3127045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729D1C44-1DC2-46A3-AF4D-6CF3F03E7AE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100" y="-4763"/>
            <a:ext cx="5014912" cy="6862763"/>
            <a:chOff x="2928938" y="-4763"/>
            <a:chExt cx="5014912" cy="6862763"/>
          </a:xfrm>
        </p:grpSpPr>
        <p:sp>
          <p:nvSpPr>
            <p:cNvPr id="11" name="Freeform 6">
              <a:extLst>
                <a:ext uri="{FF2B5EF4-FFF2-40B4-BE49-F238E27FC236}">
                  <a16:creationId xmlns:a16="http://schemas.microsoft.com/office/drawing/2014/main" id="{38441D71-9427-4E52-9D00-DA5DCD608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2" name="Freeform 7">
              <a:extLst>
                <a:ext uri="{FF2B5EF4-FFF2-40B4-BE49-F238E27FC236}">
                  <a16:creationId xmlns:a16="http://schemas.microsoft.com/office/drawing/2014/main" id="{99D64EDB-A847-4FFD-A1A0-F682EFB878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13" name="Freeform 9">
              <a:extLst>
                <a:ext uri="{FF2B5EF4-FFF2-40B4-BE49-F238E27FC236}">
                  <a16:creationId xmlns:a16="http://schemas.microsoft.com/office/drawing/2014/main" id="{E1462D21-CAC4-4C52-95C9-E5C0DE3E9C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14" name="Freeform 10">
              <a:extLst>
                <a:ext uri="{FF2B5EF4-FFF2-40B4-BE49-F238E27FC236}">
                  <a16:creationId xmlns:a16="http://schemas.microsoft.com/office/drawing/2014/main" id="{9A48DF8F-07DF-48F2-944C-97808BBD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15" name="Freeform 11">
              <a:extLst>
                <a:ext uri="{FF2B5EF4-FFF2-40B4-BE49-F238E27FC236}">
                  <a16:creationId xmlns:a16="http://schemas.microsoft.com/office/drawing/2014/main" id="{1DBC7527-D323-4A52-8055-50480E532B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16" name="Freeform 12">
              <a:extLst>
                <a:ext uri="{FF2B5EF4-FFF2-40B4-BE49-F238E27FC236}">
                  <a16:creationId xmlns:a16="http://schemas.microsoft.com/office/drawing/2014/main" id="{7FDC9880-BEB7-4458-9A76-FD74CA58DA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useBgFill="1">
        <p:nvSpPr>
          <p:cNvPr id="18" name="Rectangle 17">
            <a:extLst>
              <a:ext uri="{FF2B5EF4-FFF2-40B4-BE49-F238E27FC236}">
                <a16:creationId xmlns:a16="http://schemas.microsoft.com/office/drawing/2014/main" id="{84036FF9-87DD-4353-B2F0-489C22FD66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A4C8A2C-16C7-4FCC-8B5A-97B35EF5936E}"/>
              </a:ext>
            </a:extLst>
          </p:cNvPr>
          <p:cNvSpPr>
            <a:spLocks noGrp="1"/>
          </p:cNvSpPr>
          <p:nvPr>
            <p:ph type="title"/>
          </p:nvPr>
        </p:nvSpPr>
        <p:spPr>
          <a:xfrm>
            <a:off x="8041742" y="648930"/>
            <a:ext cx="3461281" cy="3347337"/>
          </a:xfrm>
        </p:spPr>
        <p:txBody>
          <a:bodyPr vert="horz" lIns="91440" tIns="45720" rIns="91440" bIns="45720" rtlCol="0" anchor="b">
            <a:normAutofit/>
          </a:bodyPr>
          <a:lstStyle/>
          <a:p>
            <a:pPr algn="r"/>
            <a:r>
              <a:rPr lang="en-US" sz="4800"/>
              <a:t>Exemplo</a:t>
            </a:r>
          </a:p>
        </p:txBody>
      </p:sp>
      <p:grpSp>
        <p:nvGrpSpPr>
          <p:cNvPr id="20" name="Group 19">
            <a:extLst>
              <a:ext uri="{FF2B5EF4-FFF2-40B4-BE49-F238E27FC236}">
                <a16:creationId xmlns:a16="http://schemas.microsoft.com/office/drawing/2014/main" id="{E04E07E5-1F56-421C-8C94-997C1C4687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86714" y="-4763"/>
            <a:ext cx="5014912" cy="6862763"/>
            <a:chOff x="2928938" y="-4763"/>
            <a:chExt cx="5014912" cy="6862763"/>
          </a:xfrm>
        </p:grpSpPr>
        <p:sp>
          <p:nvSpPr>
            <p:cNvPr id="21" name="Freeform 6">
              <a:extLst>
                <a:ext uri="{FF2B5EF4-FFF2-40B4-BE49-F238E27FC236}">
                  <a16:creationId xmlns:a16="http://schemas.microsoft.com/office/drawing/2014/main" id="{2DFE285C-9557-40E8-A605-6B1D892ABF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2" name="Freeform 7">
              <a:extLst>
                <a:ext uri="{FF2B5EF4-FFF2-40B4-BE49-F238E27FC236}">
                  <a16:creationId xmlns:a16="http://schemas.microsoft.com/office/drawing/2014/main" id="{631B8C5C-DAD6-40EA-A047-258B2864F2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3" name="Freeform 25">
              <a:extLst>
                <a:ext uri="{FF2B5EF4-FFF2-40B4-BE49-F238E27FC236}">
                  <a16:creationId xmlns:a16="http://schemas.microsoft.com/office/drawing/2014/main" id="{B3B8CF04-FBFF-4E4B-AFF7-F08823A535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4" name="Freeform 26">
              <a:extLst>
                <a:ext uri="{FF2B5EF4-FFF2-40B4-BE49-F238E27FC236}">
                  <a16:creationId xmlns:a16="http://schemas.microsoft.com/office/drawing/2014/main" id="{94FA41BA-3E89-4178-9DC5-7964323B1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5" name="Freeform 27">
              <a:extLst>
                <a:ext uri="{FF2B5EF4-FFF2-40B4-BE49-F238E27FC236}">
                  <a16:creationId xmlns:a16="http://schemas.microsoft.com/office/drawing/2014/main" id="{AE921036-12D7-4BCA-87D0-9B7E8B347D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6" name="Freeform 28">
              <a:extLst>
                <a:ext uri="{FF2B5EF4-FFF2-40B4-BE49-F238E27FC236}">
                  <a16:creationId xmlns:a16="http://schemas.microsoft.com/office/drawing/2014/main" id="{90552932-5D46-4AEB-BFEF-98EDCAAF4F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8" name="Rounded Rectangle 16">
            <a:extLst>
              <a:ext uri="{FF2B5EF4-FFF2-40B4-BE49-F238E27FC236}">
                <a16:creationId xmlns:a16="http://schemas.microsoft.com/office/drawing/2014/main" id="{1879D665-78DD-41CB-B632-09A8CCAA99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6693" y="648931"/>
            <a:ext cx="6854433"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Espaço Reservado para Conteúdo 4">
            <a:extLst>
              <a:ext uri="{FF2B5EF4-FFF2-40B4-BE49-F238E27FC236}">
                <a16:creationId xmlns:a16="http://schemas.microsoft.com/office/drawing/2014/main" id="{D26E0649-7268-40FB-8B48-B5408EB81D5E}"/>
              </a:ext>
            </a:extLst>
          </p:cNvPr>
          <p:cNvPicPr>
            <a:picLocks noGrp="1" noChangeAspect="1"/>
          </p:cNvPicPr>
          <p:nvPr>
            <p:ph idx="1"/>
          </p:nvPr>
        </p:nvPicPr>
        <p:blipFill>
          <a:blip r:embed="rId3"/>
          <a:stretch>
            <a:fillRect/>
          </a:stretch>
        </p:blipFill>
        <p:spPr>
          <a:xfrm>
            <a:off x="977550" y="1276970"/>
            <a:ext cx="6202778" cy="4016297"/>
          </a:xfrm>
          <a:prstGeom prst="rect">
            <a:avLst/>
          </a:prstGeom>
        </p:spPr>
      </p:pic>
    </p:spTree>
    <p:extLst>
      <p:ext uri="{BB962C8B-B14F-4D97-AF65-F5344CB8AC3E}">
        <p14:creationId xmlns:p14="http://schemas.microsoft.com/office/powerpoint/2010/main" val="945596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A9C76A-770E-49B7-8167-A1F8F01EE635}"/>
              </a:ext>
            </a:extLst>
          </p:cNvPr>
          <p:cNvSpPr>
            <a:spLocks noGrp="1"/>
          </p:cNvSpPr>
          <p:nvPr>
            <p:ph type="title"/>
          </p:nvPr>
        </p:nvSpPr>
        <p:spPr/>
        <p:txBody>
          <a:bodyPr/>
          <a:lstStyle/>
          <a:p>
            <a:r>
              <a:rPr lang="pt-BR" dirty="0"/>
              <a:t>Visibilidade</a:t>
            </a:r>
          </a:p>
        </p:txBody>
      </p:sp>
      <p:sp>
        <p:nvSpPr>
          <p:cNvPr id="3" name="Espaço Reservado para Conteúdo 2">
            <a:extLst>
              <a:ext uri="{FF2B5EF4-FFF2-40B4-BE49-F238E27FC236}">
                <a16:creationId xmlns:a16="http://schemas.microsoft.com/office/drawing/2014/main" id="{5E4BF96D-A9C6-45FC-98E2-97B8ED8D9373}"/>
              </a:ext>
            </a:extLst>
          </p:cNvPr>
          <p:cNvSpPr>
            <a:spLocks noGrp="1"/>
          </p:cNvSpPr>
          <p:nvPr>
            <p:ph idx="1"/>
          </p:nvPr>
        </p:nvSpPr>
        <p:spPr/>
        <p:txBody>
          <a:bodyPr/>
          <a:lstStyle/>
          <a:p>
            <a:r>
              <a:rPr lang="pt-BR" sz="1800" b="1" i="0" u="none" strike="noStrike" baseline="0" dirty="0">
                <a:solidFill>
                  <a:srgbClr val="000000"/>
                </a:solidFill>
                <a:latin typeface="Arial" panose="020B0604020202020204" pitchFamily="34" charset="0"/>
              </a:rPr>
              <a:t>- ou </a:t>
            </a:r>
            <a:r>
              <a:rPr lang="pt-BR" sz="1800" b="1" i="0" u="none" strike="noStrike" baseline="0" dirty="0" err="1">
                <a:solidFill>
                  <a:srgbClr val="000000"/>
                </a:solidFill>
                <a:latin typeface="Arial" panose="020B0604020202020204" pitchFamily="34" charset="0"/>
              </a:rPr>
              <a:t>private</a:t>
            </a:r>
            <a:r>
              <a:rPr lang="pt-BR" sz="1800" b="1" i="0" u="none" strike="noStrike" baseline="0" dirty="0">
                <a:solidFill>
                  <a:srgbClr val="000000"/>
                </a:solidFill>
                <a:latin typeface="Arial" panose="020B0604020202020204" pitchFamily="34" charset="0"/>
              </a:rPr>
              <a:t> </a:t>
            </a:r>
            <a:r>
              <a:rPr lang="pt-BR" sz="1800" b="0" i="0" u="none" strike="noStrike" baseline="0" dirty="0">
                <a:solidFill>
                  <a:srgbClr val="000000"/>
                </a:solidFill>
                <a:latin typeface="Wingdings" panose="05000000000000000000" pitchFamily="2" charset="2"/>
              </a:rPr>
              <a:t> </a:t>
            </a:r>
            <a:r>
              <a:rPr lang="pt-BR" sz="1800" b="0" i="0" u="none" strike="noStrike" baseline="0" dirty="0">
                <a:solidFill>
                  <a:srgbClr val="000000"/>
                </a:solidFill>
                <a:latin typeface="Arial" panose="020B0604020202020204" pitchFamily="34" charset="0"/>
              </a:rPr>
              <a:t>visível apenas dentro da classe em que foi criado. </a:t>
            </a:r>
          </a:p>
          <a:p>
            <a:r>
              <a:rPr lang="pt-BR" sz="1800" b="1" i="0" u="none" strike="noStrike" baseline="0" dirty="0">
                <a:solidFill>
                  <a:srgbClr val="000000"/>
                </a:solidFill>
                <a:latin typeface="Arial" panose="020B0604020202020204" pitchFamily="34" charset="0"/>
              </a:rPr>
              <a:t>+ ou </a:t>
            </a:r>
            <a:r>
              <a:rPr lang="pt-BR" sz="1800" b="1" i="0" u="none" strike="noStrike" baseline="0" dirty="0" err="1">
                <a:solidFill>
                  <a:srgbClr val="000000"/>
                </a:solidFill>
                <a:latin typeface="Arial" panose="020B0604020202020204" pitchFamily="34" charset="0"/>
              </a:rPr>
              <a:t>public</a:t>
            </a:r>
            <a:r>
              <a:rPr lang="pt-BR" sz="1800" b="1" i="0" u="none" strike="noStrike" baseline="0" dirty="0">
                <a:solidFill>
                  <a:srgbClr val="000000"/>
                </a:solidFill>
                <a:latin typeface="Arial" panose="020B0604020202020204" pitchFamily="34" charset="0"/>
              </a:rPr>
              <a:t> </a:t>
            </a:r>
            <a:r>
              <a:rPr lang="pt-BR" sz="1800" b="0" i="0" u="none" strike="noStrike" baseline="0" dirty="0">
                <a:solidFill>
                  <a:srgbClr val="000000"/>
                </a:solidFill>
                <a:latin typeface="Wingdings" panose="05000000000000000000" pitchFamily="2" charset="2"/>
              </a:rPr>
              <a:t> </a:t>
            </a:r>
            <a:r>
              <a:rPr lang="pt-BR" sz="1800" b="0" i="0" u="none" strike="noStrike" baseline="0" dirty="0">
                <a:solidFill>
                  <a:srgbClr val="000000"/>
                </a:solidFill>
                <a:latin typeface="Arial" panose="020B0604020202020204" pitchFamily="34" charset="0"/>
              </a:rPr>
              <a:t>visível a partir de qualquer classe dentro da aplicação. </a:t>
            </a:r>
          </a:p>
          <a:p>
            <a:r>
              <a:rPr lang="pt-BR" sz="1800" b="1" i="0" u="none" strike="noStrike" baseline="0" dirty="0">
                <a:solidFill>
                  <a:srgbClr val="000000"/>
                </a:solidFill>
                <a:latin typeface="Arial" panose="020B0604020202020204" pitchFamily="34" charset="0"/>
              </a:rPr>
              <a:t># ou </a:t>
            </a:r>
            <a:r>
              <a:rPr lang="pt-BR" sz="1800" b="1" i="0" u="none" strike="noStrike" baseline="0" dirty="0" err="1">
                <a:solidFill>
                  <a:srgbClr val="000000"/>
                </a:solidFill>
                <a:latin typeface="Arial" panose="020B0604020202020204" pitchFamily="34" charset="0"/>
              </a:rPr>
              <a:t>protected</a:t>
            </a:r>
            <a:r>
              <a:rPr lang="pt-BR" sz="1800" b="1" i="0" u="none" strike="noStrike" baseline="0" dirty="0">
                <a:solidFill>
                  <a:srgbClr val="000000"/>
                </a:solidFill>
                <a:latin typeface="Arial" panose="020B0604020202020204" pitchFamily="34" charset="0"/>
              </a:rPr>
              <a:t> </a:t>
            </a:r>
            <a:r>
              <a:rPr lang="pt-BR" sz="1800" b="0" i="0" u="none" strike="noStrike" baseline="0" dirty="0">
                <a:solidFill>
                  <a:srgbClr val="000000"/>
                </a:solidFill>
                <a:latin typeface="Wingdings" panose="05000000000000000000" pitchFamily="2" charset="2"/>
              </a:rPr>
              <a:t> </a:t>
            </a:r>
            <a:r>
              <a:rPr lang="pt-BR" sz="1800" b="0" i="0" u="none" strike="noStrike" baseline="0" dirty="0">
                <a:solidFill>
                  <a:srgbClr val="000000"/>
                </a:solidFill>
                <a:latin typeface="Arial" panose="020B0604020202020204" pitchFamily="34" charset="0"/>
              </a:rPr>
              <a:t>visível na própria classe em que foi criado e em suas </a:t>
            </a:r>
            <a:r>
              <a:rPr lang="pt-BR" sz="1800" b="0" i="0" u="none" strike="noStrike" baseline="0" dirty="0" err="1">
                <a:solidFill>
                  <a:srgbClr val="000000"/>
                </a:solidFill>
                <a:latin typeface="Arial" panose="020B0604020202020204" pitchFamily="34" charset="0"/>
              </a:rPr>
              <a:t>sub-classes</a:t>
            </a:r>
            <a:r>
              <a:rPr lang="pt-BR" sz="1800" b="0" i="0" u="none" strike="noStrike" baseline="0" dirty="0">
                <a:solidFill>
                  <a:srgbClr val="000000"/>
                </a:solidFill>
                <a:latin typeface="Arial" panose="020B0604020202020204" pitchFamily="34" charset="0"/>
              </a:rPr>
              <a:t>, em breve estudaremos o conceito de classes filhas ou </a:t>
            </a:r>
            <a:r>
              <a:rPr lang="pt-BR" sz="1800" b="0" i="0" u="none" strike="noStrike" baseline="0" dirty="0" err="1">
                <a:solidFill>
                  <a:srgbClr val="000000"/>
                </a:solidFill>
                <a:latin typeface="Arial" panose="020B0604020202020204" pitchFamily="34" charset="0"/>
              </a:rPr>
              <a:t>sub-classes</a:t>
            </a:r>
            <a:r>
              <a:rPr lang="pt-BR" sz="1800" b="0" i="0" u="none" strike="noStrike" baseline="0" dirty="0">
                <a:solidFill>
                  <a:srgbClr val="000000"/>
                </a:solidFill>
                <a:latin typeface="Arial" panose="020B0604020202020204" pitchFamily="34" charset="0"/>
              </a:rPr>
              <a:t>. </a:t>
            </a:r>
          </a:p>
          <a:p>
            <a:r>
              <a:rPr lang="pt-BR" sz="1800" b="1" i="0" u="none" strike="noStrike" baseline="0" dirty="0">
                <a:solidFill>
                  <a:srgbClr val="000000"/>
                </a:solidFill>
                <a:latin typeface="Arial" panose="020B0604020202020204" pitchFamily="34" charset="0"/>
              </a:rPr>
              <a:t>~ ou </a:t>
            </a:r>
            <a:r>
              <a:rPr lang="pt-BR" sz="1800" b="1" i="0" u="none" strike="noStrike" baseline="0" dirty="0" err="1">
                <a:solidFill>
                  <a:srgbClr val="000000"/>
                </a:solidFill>
                <a:latin typeface="Arial" panose="020B0604020202020204" pitchFamily="34" charset="0"/>
              </a:rPr>
              <a:t>package</a:t>
            </a:r>
            <a:r>
              <a:rPr lang="pt-BR" sz="1800" b="1" i="0" u="none" strike="noStrike" baseline="0" dirty="0">
                <a:solidFill>
                  <a:srgbClr val="000000"/>
                </a:solidFill>
                <a:latin typeface="Arial" panose="020B0604020202020204" pitchFamily="34" charset="0"/>
              </a:rPr>
              <a:t> </a:t>
            </a:r>
            <a:r>
              <a:rPr lang="pt-BR" sz="1800" b="0" i="0" u="none" strike="noStrike" baseline="0" dirty="0">
                <a:solidFill>
                  <a:srgbClr val="000000"/>
                </a:solidFill>
                <a:latin typeface="Wingdings" panose="05000000000000000000" pitchFamily="2" charset="2"/>
              </a:rPr>
              <a:t> </a:t>
            </a:r>
            <a:r>
              <a:rPr lang="pt-BR" sz="1800" b="0" i="0" u="none" strike="noStrike" baseline="0" dirty="0">
                <a:solidFill>
                  <a:srgbClr val="000000"/>
                </a:solidFill>
                <a:latin typeface="Arial" panose="020B0604020202020204" pitchFamily="34" charset="0"/>
              </a:rPr>
              <a:t>visível dentro do mesmo pacote no qual a classe está declarada. </a:t>
            </a:r>
            <a:endParaRPr lang="pt-BR" dirty="0"/>
          </a:p>
        </p:txBody>
      </p:sp>
    </p:spTree>
    <p:extLst>
      <p:ext uri="{BB962C8B-B14F-4D97-AF65-F5344CB8AC3E}">
        <p14:creationId xmlns:p14="http://schemas.microsoft.com/office/powerpoint/2010/main" val="640676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5249E5-C033-4BA4-B877-21D87096827D}"/>
              </a:ext>
            </a:extLst>
          </p:cNvPr>
          <p:cNvSpPr>
            <a:spLocks noGrp="1"/>
          </p:cNvSpPr>
          <p:nvPr>
            <p:ph type="title"/>
          </p:nvPr>
        </p:nvSpPr>
        <p:spPr/>
        <p:txBody>
          <a:bodyPr/>
          <a:lstStyle/>
          <a:p>
            <a:r>
              <a:rPr lang="pt-BR" dirty="0"/>
              <a:t>Atributos e Operações (Métodos)</a:t>
            </a:r>
          </a:p>
        </p:txBody>
      </p:sp>
      <p:sp>
        <p:nvSpPr>
          <p:cNvPr id="3" name="Espaço Reservado para Conteúdo 2">
            <a:extLst>
              <a:ext uri="{FF2B5EF4-FFF2-40B4-BE49-F238E27FC236}">
                <a16:creationId xmlns:a16="http://schemas.microsoft.com/office/drawing/2014/main" id="{4F9DC622-F470-4B24-AFD2-539224B9AC9B}"/>
              </a:ext>
            </a:extLst>
          </p:cNvPr>
          <p:cNvSpPr>
            <a:spLocks noGrp="1"/>
          </p:cNvSpPr>
          <p:nvPr>
            <p:ph idx="1"/>
          </p:nvPr>
        </p:nvSpPr>
        <p:spPr/>
        <p:txBody>
          <a:bodyPr/>
          <a:lstStyle/>
          <a:p>
            <a:r>
              <a:rPr lang="pt-BR" sz="1800" b="0" i="0" u="none" strike="noStrike" baseline="0" dirty="0">
                <a:solidFill>
                  <a:srgbClr val="000000"/>
                </a:solidFill>
                <a:latin typeface="Arial" panose="020B0604020202020204" pitchFamily="34" charset="0"/>
              </a:rPr>
              <a:t>Após identificar quais classes serão modeladas é necessário definir os atributos e/ou métodos que irão representar essas classes. </a:t>
            </a:r>
          </a:p>
          <a:p>
            <a:r>
              <a:rPr lang="pt-BR" sz="1800" b="0" i="0" u="none" strike="noStrike" baseline="0" dirty="0">
                <a:solidFill>
                  <a:srgbClr val="000000"/>
                </a:solidFill>
                <a:latin typeface="Arial" panose="020B0604020202020204" pitchFamily="34" charset="0"/>
              </a:rPr>
              <a:t>Um atributo representa uma característica que todos os objetos da classe deverão ter (por exemplo, todos ventiladores, têm uma cor, número de pás, tipo (teto, parede, piso, etc.), quantidade de velocidades, etc.). Mas cada objeto terá valores distintos para seus atributos (alguns ventiladores são azuis, outros são vermelho, etc.). O valor de um atributo pode ser alterado quando um método é executado, mas os atributos geralmente não mudam. </a:t>
            </a:r>
            <a:endParaRPr lang="pt-BR" dirty="0"/>
          </a:p>
        </p:txBody>
      </p:sp>
    </p:spTree>
    <p:extLst>
      <p:ext uri="{BB962C8B-B14F-4D97-AF65-F5344CB8AC3E}">
        <p14:creationId xmlns:p14="http://schemas.microsoft.com/office/powerpoint/2010/main" val="3750345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5249E5-C033-4BA4-B877-21D87096827D}"/>
              </a:ext>
            </a:extLst>
          </p:cNvPr>
          <p:cNvSpPr>
            <a:spLocks noGrp="1"/>
          </p:cNvSpPr>
          <p:nvPr>
            <p:ph type="title"/>
          </p:nvPr>
        </p:nvSpPr>
        <p:spPr/>
        <p:txBody>
          <a:bodyPr/>
          <a:lstStyle/>
          <a:p>
            <a:r>
              <a:rPr lang="pt-BR" dirty="0"/>
              <a:t>Atributos e Operações (Métodos)</a:t>
            </a:r>
          </a:p>
        </p:txBody>
      </p:sp>
      <p:sp>
        <p:nvSpPr>
          <p:cNvPr id="3" name="Espaço Reservado para Conteúdo 2">
            <a:extLst>
              <a:ext uri="{FF2B5EF4-FFF2-40B4-BE49-F238E27FC236}">
                <a16:creationId xmlns:a16="http://schemas.microsoft.com/office/drawing/2014/main" id="{4F9DC622-F470-4B24-AFD2-539224B9AC9B}"/>
              </a:ext>
            </a:extLst>
          </p:cNvPr>
          <p:cNvSpPr>
            <a:spLocks noGrp="1"/>
          </p:cNvSpPr>
          <p:nvPr>
            <p:ph idx="1"/>
          </p:nvPr>
        </p:nvSpPr>
        <p:spPr/>
        <p:txBody>
          <a:bodyPr/>
          <a:lstStyle/>
          <a:p>
            <a:r>
              <a:rPr lang="pt-BR" sz="1800" b="0" i="0" u="none" strike="noStrike" baseline="0" dirty="0">
                <a:solidFill>
                  <a:srgbClr val="000000"/>
                </a:solidFill>
                <a:latin typeface="Arial" panose="020B0604020202020204" pitchFamily="34" charset="0"/>
              </a:rPr>
              <a:t>Os atributos dentro de uma mesma classe devem ter nomes diferentes, mas podem ter o mesmo nome se estiverem em classes diferentes. E o seu nome não pode conter caracteres </a:t>
            </a:r>
            <a:r>
              <a:rPr lang="pt-BR" sz="1800" b="0" i="0" u="none" strike="noStrike" baseline="0" dirty="0" err="1">
                <a:solidFill>
                  <a:srgbClr val="000000"/>
                </a:solidFill>
                <a:latin typeface="Arial" panose="020B0604020202020204" pitchFamily="34" charset="0"/>
              </a:rPr>
              <a:t>especias</a:t>
            </a:r>
            <a:r>
              <a:rPr lang="pt-BR" sz="1800" b="0" i="0" u="none" strike="noStrike" baseline="0" dirty="0">
                <a:solidFill>
                  <a:srgbClr val="000000"/>
                </a:solidFill>
                <a:latin typeface="Arial" panose="020B0604020202020204" pitchFamily="34" charset="0"/>
              </a:rPr>
              <a:t> e nem iniciar com </a:t>
            </a:r>
            <a:r>
              <a:rPr lang="pt-BR" sz="1800" b="0" i="0" u="none" strike="noStrike" baseline="0" dirty="0" err="1">
                <a:solidFill>
                  <a:srgbClr val="000000"/>
                </a:solidFill>
                <a:latin typeface="Arial" panose="020B0604020202020204" pitchFamily="34" charset="0"/>
              </a:rPr>
              <a:t>numeros</a:t>
            </a:r>
            <a:r>
              <a:rPr lang="pt-BR" sz="1800" b="0" i="0" u="none" strike="noStrike" baseline="0" dirty="0">
                <a:solidFill>
                  <a:srgbClr val="000000"/>
                </a:solidFill>
                <a:latin typeface="Arial" panose="020B0604020202020204" pitchFamily="34" charset="0"/>
              </a:rPr>
              <a:t>, e quando o seu nome é formado por duas ou mais palavras deve-se capitalizar as </a:t>
            </a:r>
            <a:r>
              <a:rPr lang="pt-BR" sz="1800" b="0" i="0" u="none" strike="noStrike" baseline="0" dirty="0" err="1">
                <a:solidFill>
                  <a:srgbClr val="000000"/>
                </a:solidFill>
                <a:latin typeface="Arial" panose="020B0604020202020204" pitchFamily="34" charset="0"/>
              </a:rPr>
              <a:t>primeras</a:t>
            </a:r>
            <a:r>
              <a:rPr lang="pt-BR" sz="1800" b="0" i="0" u="none" strike="noStrike" baseline="0" dirty="0">
                <a:solidFill>
                  <a:srgbClr val="000000"/>
                </a:solidFill>
                <a:latin typeface="Arial" panose="020B0604020202020204" pitchFamily="34" charset="0"/>
              </a:rPr>
              <a:t> letras das palavras, exceto da primeira palavras (</a:t>
            </a:r>
            <a:r>
              <a:rPr lang="pt-BR" sz="1800" b="0" i="0" u="none" strike="noStrike" baseline="0" dirty="0" err="1">
                <a:solidFill>
                  <a:srgbClr val="000000"/>
                </a:solidFill>
                <a:latin typeface="Arial" panose="020B0604020202020204" pitchFamily="34" charset="0"/>
              </a:rPr>
              <a:t>ex</a:t>
            </a:r>
            <a:r>
              <a:rPr lang="pt-BR" sz="1800" b="0" i="0" u="none" strike="noStrike" baseline="0" dirty="0">
                <a:solidFill>
                  <a:srgbClr val="000000"/>
                </a:solidFill>
                <a:latin typeface="Arial" panose="020B0604020202020204" pitchFamily="34" charset="0"/>
              </a:rPr>
              <a:t>: “nome”; “</a:t>
            </a:r>
            <a:r>
              <a:rPr lang="pt-BR" sz="1800" b="0" i="0" u="none" strike="noStrike" baseline="0" dirty="0" err="1">
                <a:solidFill>
                  <a:srgbClr val="000000"/>
                </a:solidFill>
                <a:latin typeface="Arial" panose="020B0604020202020204" pitchFamily="34" charset="0"/>
              </a:rPr>
              <a:t>nomeCompleto</a:t>
            </a:r>
            <a:r>
              <a:rPr lang="pt-BR" sz="1800" b="0" i="0" u="none" strike="noStrike" baseline="0" dirty="0">
                <a:solidFill>
                  <a:srgbClr val="000000"/>
                </a:solidFill>
                <a:latin typeface="Arial" panose="020B0604020202020204" pitchFamily="34" charset="0"/>
              </a:rPr>
              <a:t>”). </a:t>
            </a:r>
            <a:endParaRPr lang="pt-BR" dirty="0"/>
          </a:p>
        </p:txBody>
      </p:sp>
    </p:spTree>
    <p:extLst>
      <p:ext uri="{BB962C8B-B14F-4D97-AF65-F5344CB8AC3E}">
        <p14:creationId xmlns:p14="http://schemas.microsoft.com/office/powerpoint/2010/main" val="746880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5249E5-C033-4BA4-B877-21D87096827D}"/>
              </a:ext>
            </a:extLst>
          </p:cNvPr>
          <p:cNvSpPr>
            <a:spLocks noGrp="1"/>
          </p:cNvSpPr>
          <p:nvPr>
            <p:ph type="title"/>
          </p:nvPr>
        </p:nvSpPr>
        <p:spPr/>
        <p:txBody>
          <a:bodyPr/>
          <a:lstStyle/>
          <a:p>
            <a:r>
              <a:rPr lang="pt-BR" dirty="0"/>
              <a:t>Atributos e Operações (Métodos)</a:t>
            </a:r>
          </a:p>
        </p:txBody>
      </p:sp>
      <p:sp>
        <p:nvSpPr>
          <p:cNvPr id="3" name="Espaço Reservado para Conteúdo 2">
            <a:extLst>
              <a:ext uri="{FF2B5EF4-FFF2-40B4-BE49-F238E27FC236}">
                <a16:creationId xmlns:a16="http://schemas.microsoft.com/office/drawing/2014/main" id="{4F9DC622-F470-4B24-AFD2-539224B9AC9B}"/>
              </a:ext>
            </a:extLst>
          </p:cNvPr>
          <p:cNvSpPr>
            <a:spLocks noGrp="1"/>
          </p:cNvSpPr>
          <p:nvPr>
            <p:ph idx="1"/>
          </p:nvPr>
        </p:nvSpPr>
        <p:spPr/>
        <p:txBody>
          <a:bodyPr/>
          <a:lstStyle/>
          <a:p>
            <a:r>
              <a:rPr lang="pt-BR" sz="1800" b="0" i="0" u="none" strike="noStrike" baseline="0" dirty="0">
                <a:solidFill>
                  <a:srgbClr val="000000"/>
                </a:solidFill>
                <a:latin typeface="Arial" panose="020B0604020202020204" pitchFamily="34" charset="0"/>
              </a:rPr>
              <a:t>Os atributos dentro de uma mesma classe devem ter nomes diferentes, mas podem ter o mesmo nome se estiverem em classes diferentes. E o seu nome não pode conter caracteres </a:t>
            </a:r>
            <a:r>
              <a:rPr lang="pt-BR" sz="1800" b="0" i="0" u="none" strike="noStrike" baseline="0" dirty="0" err="1">
                <a:solidFill>
                  <a:srgbClr val="000000"/>
                </a:solidFill>
                <a:latin typeface="Arial" panose="020B0604020202020204" pitchFamily="34" charset="0"/>
              </a:rPr>
              <a:t>especias</a:t>
            </a:r>
            <a:r>
              <a:rPr lang="pt-BR" sz="1800" b="0" i="0" u="none" strike="noStrike" baseline="0" dirty="0">
                <a:solidFill>
                  <a:srgbClr val="000000"/>
                </a:solidFill>
                <a:latin typeface="Arial" panose="020B0604020202020204" pitchFamily="34" charset="0"/>
              </a:rPr>
              <a:t> e nem iniciar com </a:t>
            </a:r>
            <a:r>
              <a:rPr lang="pt-BR" sz="1800" b="0" i="0" u="none" strike="noStrike" baseline="0" dirty="0" err="1">
                <a:solidFill>
                  <a:srgbClr val="000000"/>
                </a:solidFill>
                <a:latin typeface="Arial" panose="020B0604020202020204" pitchFamily="34" charset="0"/>
              </a:rPr>
              <a:t>numeros</a:t>
            </a:r>
            <a:r>
              <a:rPr lang="pt-BR" sz="1800" b="0" i="0" u="none" strike="noStrike" baseline="0" dirty="0">
                <a:solidFill>
                  <a:srgbClr val="000000"/>
                </a:solidFill>
                <a:latin typeface="Arial" panose="020B0604020202020204" pitchFamily="34" charset="0"/>
              </a:rPr>
              <a:t>, e quando o seu nome é formado por duas ou mais palavras deve-se capitalizar as </a:t>
            </a:r>
            <a:r>
              <a:rPr lang="pt-BR" sz="1800" b="0" i="0" u="none" strike="noStrike" baseline="0" dirty="0" err="1">
                <a:solidFill>
                  <a:srgbClr val="000000"/>
                </a:solidFill>
                <a:latin typeface="Arial" panose="020B0604020202020204" pitchFamily="34" charset="0"/>
              </a:rPr>
              <a:t>primeras</a:t>
            </a:r>
            <a:r>
              <a:rPr lang="pt-BR" sz="1800" b="0" i="0" u="none" strike="noStrike" baseline="0" dirty="0">
                <a:solidFill>
                  <a:srgbClr val="000000"/>
                </a:solidFill>
                <a:latin typeface="Arial" panose="020B0604020202020204" pitchFamily="34" charset="0"/>
              </a:rPr>
              <a:t> letras das palavras, exceto da primeira palavras (</a:t>
            </a:r>
            <a:r>
              <a:rPr lang="pt-BR" sz="1800" b="0" i="0" u="none" strike="noStrike" baseline="0" dirty="0" err="1">
                <a:solidFill>
                  <a:srgbClr val="000000"/>
                </a:solidFill>
                <a:latin typeface="Arial" panose="020B0604020202020204" pitchFamily="34" charset="0"/>
              </a:rPr>
              <a:t>ex</a:t>
            </a:r>
            <a:r>
              <a:rPr lang="pt-BR" sz="1800" b="0" i="0" u="none" strike="noStrike" baseline="0" dirty="0">
                <a:solidFill>
                  <a:srgbClr val="000000"/>
                </a:solidFill>
                <a:latin typeface="Arial" panose="020B0604020202020204" pitchFamily="34" charset="0"/>
              </a:rPr>
              <a:t>: “nome”; “</a:t>
            </a:r>
            <a:r>
              <a:rPr lang="pt-BR" sz="1800" b="0" i="0" u="none" strike="noStrike" baseline="0" dirty="0" err="1">
                <a:solidFill>
                  <a:srgbClr val="000000"/>
                </a:solidFill>
                <a:latin typeface="Arial" panose="020B0604020202020204" pitchFamily="34" charset="0"/>
              </a:rPr>
              <a:t>nomeCompleto</a:t>
            </a:r>
            <a:r>
              <a:rPr lang="pt-BR" sz="1800" b="0" i="0" u="none" strike="noStrike" baseline="0" dirty="0">
                <a:solidFill>
                  <a:srgbClr val="000000"/>
                </a:solidFill>
                <a:latin typeface="Arial" panose="020B0604020202020204" pitchFamily="34" charset="0"/>
              </a:rPr>
              <a:t>”). </a:t>
            </a:r>
            <a:endParaRPr lang="pt-BR" dirty="0"/>
          </a:p>
        </p:txBody>
      </p:sp>
    </p:spTree>
    <p:extLst>
      <p:ext uri="{BB962C8B-B14F-4D97-AF65-F5344CB8AC3E}">
        <p14:creationId xmlns:p14="http://schemas.microsoft.com/office/powerpoint/2010/main" val="25650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8C9A01-493E-4961-BB83-414179514699}"/>
              </a:ext>
            </a:extLst>
          </p:cNvPr>
          <p:cNvSpPr>
            <a:spLocks noGrp="1"/>
          </p:cNvSpPr>
          <p:nvPr>
            <p:ph type="title"/>
          </p:nvPr>
        </p:nvSpPr>
        <p:spPr/>
        <p:txBody>
          <a:bodyPr/>
          <a:lstStyle/>
          <a:p>
            <a:r>
              <a:rPr lang="pt-BR" dirty="0"/>
              <a:t>Classe</a:t>
            </a:r>
          </a:p>
        </p:txBody>
      </p:sp>
      <p:sp>
        <p:nvSpPr>
          <p:cNvPr id="3" name="Espaço Reservado para Conteúdo 2">
            <a:extLst>
              <a:ext uri="{FF2B5EF4-FFF2-40B4-BE49-F238E27FC236}">
                <a16:creationId xmlns:a16="http://schemas.microsoft.com/office/drawing/2014/main" id="{5219E9DF-26F6-4A71-89A3-D74D5D24FFDD}"/>
              </a:ext>
            </a:extLst>
          </p:cNvPr>
          <p:cNvSpPr>
            <a:spLocks noGrp="1"/>
          </p:cNvSpPr>
          <p:nvPr>
            <p:ph idx="1"/>
          </p:nvPr>
        </p:nvSpPr>
        <p:spPr>
          <a:xfrm>
            <a:off x="1484310" y="2666999"/>
            <a:ext cx="10018713" cy="1573697"/>
          </a:xfrm>
        </p:spPr>
        <p:txBody>
          <a:bodyPr/>
          <a:lstStyle/>
          <a:p>
            <a:r>
              <a:rPr lang="pt-BR" sz="1800" b="0" i="0" u="none" strike="noStrike" baseline="0" dirty="0">
                <a:solidFill>
                  <a:srgbClr val="000000"/>
                </a:solidFill>
                <a:latin typeface="Arial" panose="020B0604020202020204" pitchFamily="34" charset="0"/>
              </a:rPr>
              <a:t>É uma abstração de informações da realidade. </a:t>
            </a:r>
            <a:endParaRPr lang="pt-BR" dirty="0"/>
          </a:p>
          <a:p>
            <a:r>
              <a:rPr lang="pt-BR" sz="1800" dirty="0">
                <a:solidFill>
                  <a:srgbClr val="000000"/>
                </a:solidFill>
                <a:latin typeface="Arial" panose="020B0604020202020204" pitchFamily="34" charset="0"/>
              </a:rPr>
              <a:t>Representação:</a:t>
            </a:r>
          </a:p>
        </p:txBody>
      </p:sp>
      <p:pic>
        <p:nvPicPr>
          <p:cNvPr id="5" name="Imagem 4">
            <a:extLst>
              <a:ext uri="{FF2B5EF4-FFF2-40B4-BE49-F238E27FC236}">
                <a16:creationId xmlns:a16="http://schemas.microsoft.com/office/drawing/2014/main" id="{07E17C69-AD7F-4F80-871F-47E7868D39D0}"/>
              </a:ext>
            </a:extLst>
          </p:cNvPr>
          <p:cNvPicPr>
            <a:picLocks noChangeAspect="1"/>
          </p:cNvPicPr>
          <p:nvPr/>
        </p:nvPicPr>
        <p:blipFill>
          <a:blip r:embed="rId2"/>
          <a:stretch>
            <a:fillRect/>
          </a:stretch>
        </p:blipFill>
        <p:spPr>
          <a:xfrm>
            <a:off x="4559369" y="4504083"/>
            <a:ext cx="2543175" cy="1905000"/>
          </a:xfrm>
          <a:prstGeom prst="rect">
            <a:avLst/>
          </a:prstGeom>
        </p:spPr>
      </p:pic>
    </p:spTree>
    <p:extLst>
      <p:ext uri="{BB962C8B-B14F-4D97-AF65-F5344CB8AC3E}">
        <p14:creationId xmlns:p14="http://schemas.microsoft.com/office/powerpoint/2010/main" val="1104855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1A3CCD-6F41-4DCC-8339-00CD5E4E69B0}"/>
              </a:ext>
            </a:extLst>
          </p:cNvPr>
          <p:cNvSpPr>
            <a:spLocks noGrp="1"/>
          </p:cNvSpPr>
          <p:nvPr>
            <p:ph type="title"/>
          </p:nvPr>
        </p:nvSpPr>
        <p:spPr/>
        <p:txBody>
          <a:bodyPr/>
          <a:lstStyle/>
          <a:p>
            <a:r>
              <a:rPr lang="pt-BR" dirty="0"/>
              <a:t>Associação Simples </a:t>
            </a:r>
          </a:p>
        </p:txBody>
      </p:sp>
      <p:sp>
        <p:nvSpPr>
          <p:cNvPr id="3" name="Espaço Reservado para Conteúdo 2">
            <a:extLst>
              <a:ext uri="{FF2B5EF4-FFF2-40B4-BE49-F238E27FC236}">
                <a16:creationId xmlns:a16="http://schemas.microsoft.com/office/drawing/2014/main" id="{DC2BF5DB-2046-43AB-ABF0-2DB4E97083D5}"/>
              </a:ext>
            </a:extLst>
          </p:cNvPr>
          <p:cNvSpPr>
            <a:spLocks noGrp="1"/>
          </p:cNvSpPr>
          <p:nvPr>
            <p:ph idx="1"/>
          </p:nvPr>
        </p:nvSpPr>
        <p:spPr>
          <a:xfrm>
            <a:off x="1484310" y="2667000"/>
            <a:ext cx="10018713" cy="884584"/>
          </a:xfrm>
        </p:spPr>
        <p:txBody>
          <a:bodyPr/>
          <a:lstStyle/>
          <a:p>
            <a:r>
              <a:rPr lang="pt-BR" sz="1800" b="0" i="0" u="none" strike="noStrike" baseline="0" dirty="0">
                <a:solidFill>
                  <a:srgbClr val="000000"/>
                </a:solidFill>
                <a:latin typeface="Arial" panose="020B0604020202020204" pitchFamily="34" charset="0"/>
              </a:rPr>
              <a:t>É um relacionamento ou conexão entre duas classes </a:t>
            </a:r>
            <a:endParaRPr lang="pt-BR" dirty="0"/>
          </a:p>
        </p:txBody>
      </p:sp>
      <p:pic>
        <p:nvPicPr>
          <p:cNvPr id="5" name="Imagem 4">
            <a:extLst>
              <a:ext uri="{FF2B5EF4-FFF2-40B4-BE49-F238E27FC236}">
                <a16:creationId xmlns:a16="http://schemas.microsoft.com/office/drawing/2014/main" id="{3A8798BA-53ED-4967-B300-192A2C63F1E8}"/>
              </a:ext>
            </a:extLst>
          </p:cNvPr>
          <p:cNvPicPr>
            <a:picLocks noChangeAspect="1"/>
          </p:cNvPicPr>
          <p:nvPr/>
        </p:nvPicPr>
        <p:blipFill>
          <a:blip r:embed="rId2"/>
          <a:stretch>
            <a:fillRect/>
          </a:stretch>
        </p:blipFill>
        <p:spPr>
          <a:xfrm>
            <a:off x="2881312" y="3780185"/>
            <a:ext cx="6429375" cy="1952625"/>
          </a:xfrm>
          <a:prstGeom prst="rect">
            <a:avLst/>
          </a:prstGeom>
        </p:spPr>
      </p:pic>
    </p:spTree>
    <p:extLst>
      <p:ext uri="{BB962C8B-B14F-4D97-AF65-F5344CB8AC3E}">
        <p14:creationId xmlns:p14="http://schemas.microsoft.com/office/powerpoint/2010/main" val="3430178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7AD3E0-CA9D-4C17-A3F2-A22E514C0C66}"/>
              </a:ext>
            </a:extLst>
          </p:cNvPr>
          <p:cNvSpPr>
            <a:spLocks noGrp="1"/>
          </p:cNvSpPr>
          <p:nvPr>
            <p:ph type="title"/>
          </p:nvPr>
        </p:nvSpPr>
        <p:spPr/>
        <p:txBody>
          <a:bodyPr/>
          <a:lstStyle/>
          <a:p>
            <a:r>
              <a:rPr lang="pt-BR"/>
              <a:t>Generalização/Especialização </a:t>
            </a:r>
            <a:endParaRPr lang="pt-BR" dirty="0"/>
          </a:p>
        </p:txBody>
      </p:sp>
      <p:sp>
        <p:nvSpPr>
          <p:cNvPr id="3" name="Espaço Reservado para Conteúdo 2">
            <a:extLst>
              <a:ext uri="{FF2B5EF4-FFF2-40B4-BE49-F238E27FC236}">
                <a16:creationId xmlns:a16="http://schemas.microsoft.com/office/drawing/2014/main" id="{2C80549F-B108-48F7-AA8E-9CB453F87AED}"/>
              </a:ext>
            </a:extLst>
          </p:cNvPr>
          <p:cNvSpPr>
            <a:spLocks noGrp="1"/>
          </p:cNvSpPr>
          <p:nvPr>
            <p:ph idx="1"/>
          </p:nvPr>
        </p:nvSpPr>
        <p:spPr>
          <a:xfrm>
            <a:off x="1484310" y="2667000"/>
            <a:ext cx="10018713" cy="1070114"/>
          </a:xfrm>
        </p:spPr>
        <p:txBody>
          <a:bodyPr/>
          <a:lstStyle/>
          <a:p>
            <a:r>
              <a:rPr lang="pt-BR" sz="1800" b="0" i="0" u="none" strike="noStrike" baseline="0">
                <a:solidFill>
                  <a:srgbClr val="000000"/>
                </a:solidFill>
                <a:latin typeface="Arial" panose="020B0604020202020204" pitchFamily="34" charset="0"/>
              </a:rPr>
              <a:t>É um relacionamento onde as classes específicas herdam as características e ações da classe geral. </a:t>
            </a:r>
            <a:endParaRPr lang="pt-BR" dirty="0"/>
          </a:p>
        </p:txBody>
      </p:sp>
      <p:pic>
        <p:nvPicPr>
          <p:cNvPr id="5" name="Imagem 4">
            <a:extLst>
              <a:ext uri="{FF2B5EF4-FFF2-40B4-BE49-F238E27FC236}">
                <a16:creationId xmlns:a16="http://schemas.microsoft.com/office/drawing/2014/main" id="{0B0E4109-8131-499B-BE20-3529C8B06B93}"/>
              </a:ext>
            </a:extLst>
          </p:cNvPr>
          <p:cNvPicPr>
            <a:picLocks noChangeAspect="1"/>
          </p:cNvPicPr>
          <p:nvPr/>
        </p:nvPicPr>
        <p:blipFill>
          <a:blip r:embed="rId2"/>
          <a:stretch>
            <a:fillRect/>
          </a:stretch>
        </p:blipFill>
        <p:spPr>
          <a:xfrm>
            <a:off x="3190875" y="3429000"/>
            <a:ext cx="5810250" cy="3009900"/>
          </a:xfrm>
          <a:prstGeom prst="rect">
            <a:avLst/>
          </a:prstGeom>
        </p:spPr>
      </p:pic>
    </p:spTree>
    <p:extLst>
      <p:ext uri="{BB962C8B-B14F-4D97-AF65-F5344CB8AC3E}">
        <p14:creationId xmlns:p14="http://schemas.microsoft.com/office/powerpoint/2010/main" val="30205605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axe">
  <a:themeElements>
    <a:clrScheme name="Paralaxe">
      <a:dk1>
        <a:sysClr val="windowText" lastClr="000000"/>
      </a:dk1>
      <a:lt1>
        <a:sysClr val="window" lastClr="FFFFFF"/>
      </a:lt1>
      <a:dk2>
        <a:srgbClr val="212121"/>
      </a:dk2>
      <a:lt2>
        <a:srgbClr val="CDD0D1"/>
      </a:lt2>
      <a:accent1>
        <a:srgbClr val="BC1C1C"/>
      </a:accent1>
      <a:accent2>
        <a:srgbClr val="F67534"/>
      </a:accent2>
      <a:accent3>
        <a:srgbClr val="EAAC35"/>
      </a:accent3>
      <a:accent4>
        <a:srgbClr val="9BAF68"/>
      </a:accent4>
      <a:accent5>
        <a:srgbClr val="68B9A6"/>
      </a:accent5>
      <a:accent6>
        <a:srgbClr val="50B1D4"/>
      </a:accent6>
      <a:hlink>
        <a:srgbClr val="E46416"/>
      </a:hlink>
      <a:folHlink>
        <a:srgbClr val="EE9340"/>
      </a:folHlink>
    </a:clrScheme>
    <a:fontScheme name="Paralaxe">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axe">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93B4CCAC-FD5A-4D59-B1AC-EAF45910B5A9}"/>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63F95C65FCE67A42B1DD4942EF3BCF87" ma:contentTypeVersion="2" ma:contentTypeDescription="Crie um novo documento." ma:contentTypeScope="" ma:versionID="55eca17348f36998ed59d09c7c6d01e6">
  <xsd:schema xmlns:xsd="http://www.w3.org/2001/XMLSchema" xmlns:xs="http://www.w3.org/2001/XMLSchema" xmlns:p="http://schemas.microsoft.com/office/2006/metadata/properties" xmlns:ns2="2a14d617-4b87-411b-a777-c3b3f30b92ee" targetNamespace="http://schemas.microsoft.com/office/2006/metadata/properties" ma:root="true" ma:fieldsID="0f5f38b92ea01ac4ae6d449655b95cab" ns2:_="">
    <xsd:import namespace="2a14d617-4b87-411b-a777-c3b3f30b92ee"/>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a14d617-4b87-411b-a777-c3b3f30b92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0298E63-DE99-4202-9681-E17DA5134B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a14d617-4b87-411b-a777-c3b3f30b92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29FE7FE-FD32-4C92-8626-91FF0EF3E2B5}">
  <ds:schemaRefs>
    <ds:schemaRef ds:uri="http://schemas.microsoft.com/sharepoint/v3/contenttype/forms"/>
  </ds:schemaRefs>
</ds:datastoreItem>
</file>

<file path=customXml/itemProps3.xml><?xml version="1.0" encoding="utf-8"?>
<ds:datastoreItem xmlns:ds="http://schemas.openxmlformats.org/officeDocument/2006/customXml" ds:itemID="{E894736F-AB10-4472-95F8-B55C379B1385}">
  <ds:schemaRefs>
    <ds:schemaRef ds:uri="http://schemas.microsoft.com/office/2006/documentManagement/types"/>
    <ds:schemaRef ds:uri="http://schemas.microsoft.com/office/2006/metadata/properties"/>
    <ds:schemaRef ds:uri="http://purl.org/dc/terms/"/>
    <ds:schemaRef ds:uri="http://schemas.openxmlformats.org/package/2006/metadata/core-properties"/>
    <ds:schemaRef ds:uri="http://purl.org/dc/dcmitype/"/>
    <ds:schemaRef ds:uri="2a14d617-4b87-411b-a777-c3b3f30b92ee"/>
    <ds:schemaRef ds:uri="http://schemas.microsoft.com/office/infopath/2007/PartnerControl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120</TotalTime>
  <Words>508</Words>
  <Application>Microsoft Office PowerPoint</Application>
  <PresentationFormat>Widescreen</PresentationFormat>
  <Paragraphs>35</Paragraphs>
  <Slides>11</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11</vt:i4>
      </vt:variant>
    </vt:vector>
  </HeadingPairs>
  <TitlesOfParts>
    <vt:vector size="15" baseType="lpstr">
      <vt:lpstr>Arial</vt:lpstr>
      <vt:lpstr>Corbel</vt:lpstr>
      <vt:lpstr>Wingdings</vt:lpstr>
      <vt:lpstr>Paralaxe</vt:lpstr>
      <vt:lpstr>Diagrama de classe </vt:lpstr>
      <vt:lpstr>Diagrama de Classe</vt:lpstr>
      <vt:lpstr>Representação</vt:lpstr>
      <vt:lpstr>Exemplo</vt:lpstr>
      <vt:lpstr>Visibilidade</vt:lpstr>
      <vt:lpstr>Atributos e Operações (Métodos)</vt:lpstr>
      <vt:lpstr>Atributos e Operações (Métodos)</vt:lpstr>
      <vt:lpstr>Atributos e Operações (Métodos)</vt:lpstr>
      <vt:lpstr>Classe</vt:lpstr>
      <vt:lpstr>Associação Simples </vt:lpstr>
      <vt:lpstr>Generalização/Especialização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Diagrama de classe </dc:title>
  <dc:creator>JULIANA GODOY DE SA</dc:creator>
  <cp:lastModifiedBy>JULIANA GODOY DE SA</cp:lastModifiedBy>
  <cp:revision>4</cp:revision>
  <dcterms:created xsi:type="dcterms:W3CDTF">2020-09-14T18:59:31Z</dcterms:created>
  <dcterms:modified xsi:type="dcterms:W3CDTF">2020-09-14T21:03:38Z</dcterms:modified>
</cp:coreProperties>
</file>