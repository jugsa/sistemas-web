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y="6858000" cx="12192000"/>
  <p:notesSz cx="6858000" cy="9144000"/>
  <p:embeddedFontLst>
    <p:embeddedFont>
      <p:font typeface="Lato"/>
      <p:regular r:id="rId18"/>
      <p:bold r:id="rId19"/>
      <p:italic r:id="rId20"/>
      <p:boldItalic r:id="rId21"/>
    </p:embeddedFont>
    <p:embeddedFont>
      <p:font typeface="Poppins"/>
      <p:regular r:id="rId22"/>
      <p:bold r:id="rId23"/>
      <p:italic r:id="rId24"/>
      <p:boldItalic r:id="rId2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Lato-italic.fntdata"/><Relationship Id="rId22" Type="http://schemas.openxmlformats.org/officeDocument/2006/relationships/font" Target="fonts/Poppins-regular.fntdata"/><Relationship Id="rId21" Type="http://schemas.openxmlformats.org/officeDocument/2006/relationships/font" Target="fonts/Lato-boldItalic.fntdata"/><Relationship Id="rId24" Type="http://schemas.openxmlformats.org/officeDocument/2006/relationships/font" Target="fonts/Poppins-italic.fntdata"/><Relationship Id="rId23" Type="http://schemas.openxmlformats.org/officeDocument/2006/relationships/font" Target="fonts/Poppins-bold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5" Type="http://schemas.openxmlformats.org/officeDocument/2006/relationships/font" Target="fonts/Poppins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font" Target="fonts/Lato-bold.fntdata"/><Relationship Id="rId18" Type="http://schemas.openxmlformats.org/officeDocument/2006/relationships/font" Target="fonts/Lato-regular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" name="Google Shape;149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" name="Google Shape;169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" name="Google Shape;179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" name="Google Shape;192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" name="Google Shape;205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9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9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9.png"/><Relationship Id="rId4" Type="http://schemas.openxmlformats.org/officeDocument/2006/relationships/image" Target="../media/image10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9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9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9.png"/><Relationship Id="rId4" Type="http://schemas.openxmlformats.org/officeDocument/2006/relationships/image" Target="../media/image4.png"/><Relationship Id="rId9" Type="http://schemas.openxmlformats.org/officeDocument/2006/relationships/image" Target="../media/image6.png"/><Relationship Id="rId5" Type="http://schemas.openxmlformats.org/officeDocument/2006/relationships/image" Target="../media/image8.png"/><Relationship Id="rId6" Type="http://schemas.openxmlformats.org/officeDocument/2006/relationships/image" Target="../media/image2.png"/><Relationship Id="rId7" Type="http://schemas.openxmlformats.org/officeDocument/2006/relationships/image" Target="../media/image5.png"/><Relationship Id="rId8" Type="http://schemas.openxmlformats.org/officeDocument/2006/relationships/image" Target="../media/image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9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9.png"/><Relationship Id="rId4" Type="http://schemas.openxmlformats.org/officeDocument/2006/relationships/image" Target="../media/image3.png"/><Relationship Id="rId5" Type="http://schemas.openxmlformats.org/officeDocument/2006/relationships/image" Target="../media/image1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9.png"/><Relationship Id="rId4" Type="http://schemas.openxmlformats.org/officeDocument/2006/relationships/image" Target="../media/image7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9.png"/><Relationship Id="rId4" Type="http://schemas.openxmlformats.org/officeDocument/2006/relationships/image" Target="../media/image11.png"/><Relationship Id="rId5" Type="http://schemas.openxmlformats.org/officeDocument/2006/relationships/image" Target="../media/image13.png"/><Relationship Id="rId6" Type="http://schemas.openxmlformats.org/officeDocument/2006/relationships/image" Target="../media/image15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6.png"/><Relationship Id="rId4" Type="http://schemas.openxmlformats.org/officeDocument/2006/relationships/image" Target="../media/image18.png"/><Relationship Id="rId5" Type="http://schemas.openxmlformats.org/officeDocument/2006/relationships/image" Target="../media/image17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293B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4" name="Google Shape;8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 txBox="1"/>
          <p:nvPr/>
        </p:nvSpPr>
        <p:spPr>
          <a:xfrm>
            <a:off x="876300" y="2047875"/>
            <a:ext cx="10439400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22D3EE"/>
                </a:solidFill>
                <a:latin typeface="Lato"/>
                <a:ea typeface="Lato"/>
                <a:cs typeface="Lato"/>
                <a:sym typeface="Lato"/>
              </a:rPr>
              <a:t>SISTEMAS WEB I</a:t>
            </a:r>
            <a:endParaRPr/>
          </a:p>
        </p:txBody>
      </p:sp>
      <p:sp>
        <p:nvSpPr>
          <p:cNvPr id="86" name="Google Shape;86;p13"/>
          <p:cNvSpPr txBox="1"/>
          <p:nvPr/>
        </p:nvSpPr>
        <p:spPr>
          <a:xfrm>
            <a:off x="615315" y="2505075"/>
            <a:ext cx="1096137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0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PHP: Origens e Simbolismo</a:t>
            </a:r>
            <a:endParaRPr/>
          </a:p>
        </p:txBody>
      </p:sp>
      <p:sp>
        <p:nvSpPr>
          <p:cNvPr id="87" name="Google Shape;87;p13"/>
          <p:cNvSpPr txBox="1"/>
          <p:nvPr/>
        </p:nvSpPr>
        <p:spPr>
          <a:xfrm>
            <a:off x="876300" y="3838575"/>
            <a:ext cx="10439400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Desvendando o nome e o mascote da linguagem.</a:t>
            </a:r>
            <a:endParaRPr/>
          </a:p>
        </p:txBody>
      </p:sp>
      <p:sp>
        <p:nvSpPr>
          <p:cNvPr id="88" name="Google Shape;88;p13"/>
          <p:cNvSpPr txBox="1"/>
          <p:nvPr/>
        </p:nvSpPr>
        <p:spPr>
          <a:xfrm>
            <a:off x="876300" y="4629150"/>
            <a:ext cx="10439400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Profª Juliana de Sá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293B"/>
        </a:solidFill>
      </p:bgPr>
    </p:bg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3" name="Google Shape;93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p14"/>
          <p:cNvSpPr/>
          <p:nvPr/>
        </p:nvSpPr>
        <p:spPr>
          <a:xfrm>
            <a:off x="5619750" y="2643187"/>
            <a:ext cx="952500" cy="7620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14"/>
          <p:cNvSpPr txBox="1"/>
          <p:nvPr/>
        </p:nvSpPr>
        <p:spPr>
          <a:xfrm>
            <a:off x="2680573" y="3005137"/>
            <a:ext cx="6830853" cy="1009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25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 História do Nome</a:t>
            </a:r>
            <a:endParaRPr/>
          </a:p>
        </p:txBody>
      </p:sp>
      <p:sp>
        <p:nvSpPr>
          <p:cNvPr id="96" name="Google Shape;96;p14"/>
          <p:cNvSpPr txBox="1"/>
          <p:nvPr/>
        </p:nvSpPr>
        <p:spPr>
          <a:xfrm>
            <a:off x="2843212" y="4014787"/>
            <a:ext cx="6505575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De um currículo pessoal à web moderna.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293B"/>
        </a:solidFill>
      </p:bgPr>
    </p:bg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01" name="Google Shape;101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15"/>
          <p:cNvSpPr txBox="1"/>
          <p:nvPr/>
        </p:nvSpPr>
        <p:spPr>
          <a:xfrm>
            <a:off x="571500" y="2557462"/>
            <a:ext cx="5550693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22D3EE"/>
                </a:solidFill>
                <a:latin typeface="Poppins"/>
                <a:ea typeface="Poppins"/>
                <a:cs typeface="Poppins"/>
                <a:sym typeface="Poppins"/>
              </a:rPr>
              <a:t>Criação em 1994</a:t>
            </a:r>
            <a:endParaRPr/>
          </a:p>
        </p:txBody>
      </p:sp>
      <p:sp>
        <p:nvSpPr>
          <p:cNvPr id="103" name="Google Shape;103;p15"/>
          <p:cNvSpPr txBox="1"/>
          <p:nvPr/>
        </p:nvSpPr>
        <p:spPr>
          <a:xfrm>
            <a:off x="571500" y="3157537"/>
            <a:ext cx="5286375" cy="1257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O PHP não foi criado para ser uma linguagem de programação. Rasmus Lerdorf desenvolveu um conjunto de scripts em C para monitorar quem visitava seu currículo online.</a:t>
            </a:r>
            <a:endParaRPr/>
          </a:p>
        </p:txBody>
      </p:sp>
      <p:sp>
        <p:nvSpPr>
          <p:cNvPr id="104" name="Google Shape;104;p15"/>
          <p:cNvSpPr txBox="1"/>
          <p:nvPr/>
        </p:nvSpPr>
        <p:spPr>
          <a:xfrm>
            <a:off x="571500" y="4557712"/>
            <a:ext cx="5286375" cy="628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Ele chamou esse conjunto de ferramentas de </a:t>
            </a:r>
            <a:r>
              <a:rPr b="1" i="0" lang="en-US" sz="165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PHP/FI</a:t>
            </a:r>
            <a:r>
              <a:rPr b="0" i="0" lang="en-US" sz="165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 (Personal Home Page / Forms Interpreter).</a:t>
            </a:r>
            <a:endParaRPr/>
          </a:p>
        </p:txBody>
      </p:sp>
      <p:sp>
        <p:nvSpPr>
          <p:cNvPr id="105" name="Google Shape;105;p15"/>
          <p:cNvSpPr txBox="1"/>
          <p:nvPr/>
        </p:nvSpPr>
        <p:spPr>
          <a:xfrm>
            <a:off x="762000" y="571500"/>
            <a:ext cx="11401425" cy="64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75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Rasmus Lerdorf: O Início</a:t>
            </a:r>
            <a:endParaRPr/>
          </a:p>
        </p:txBody>
      </p:sp>
      <p:sp>
        <p:nvSpPr>
          <p:cNvPr id="106" name="Google Shape;106;p15"/>
          <p:cNvSpPr/>
          <p:nvPr/>
        </p:nvSpPr>
        <p:spPr>
          <a:xfrm>
            <a:off x="571500" y="571500"/>
            <a:ext cx="95250" cy="64770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7" name="Google Shape;107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364679" y="1558400"/>
            <a:ext cx="3159975" cy="44555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293B"/>
        </a:solidFill>
      </p:bgPr>
    </p:bg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12" name="Google Shape;112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3" name="Google Shape;113;p16"/>
          <p:cNvSpPr txBox="1"/>
          <p:nvPr/>
        </p:nvSpPr>
        <p:spPr>
          <a:xfrm>
            <a:off x="571500" y="2947987"/>
            <a:ext cx="4419600" cy="171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250" u="none" cap="none" strike="noStrike">
                <a:solidFill>
                  <a:srgbClr val="22D3EE"/>
                </a:solidFill>
                <a:latin typeface="Lato"/>
                <a:ea typeface="Lato"/>
                <a:cs typeface="Lato"/>
                <a:sym typeface="Lato"/>
              </a:rPr>
              <a:t>PHP</a:t>
            </a:r>
            <a:endParaRPr/>
          </a:p>
        </p:txBody>
      </p:sp>
      <p:sp>
        <p:nvSpPr>
          <p:cNvPr id="114" name="Google Shape;114;p16"/>
          <p:cNvSpPr txBox="1"/>
          <p:nvPr/>
        </p:nvSpPr>
        <p:spPr>
          <a:xfrm>
            <a:off x="571500" y="4662487"/>
            <a:ext cx="4419600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1994 - 1997</a:t>
            </a:r>
            <a:endParaRPr/>
          </a:p>
        </p:txBody>
      </p:sp>
      <p:sp>
        <p:nvSpPr>
          <p:cNvPr id="115" name="Google Shape;115;p16"/>
          <p:cNvSpPr txBox="1"/>
          <p:nvPr/>
        </p:nvSpPr>
        <p:spPr>
          <a:xfrm>
            <a:off x="5059944" y="3028950"/>
            <a:ext cx="6724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22D3EE"/>
                </a:solidFill>
                <a:latin typeface="Poppins"/>
                <a:ea typeface="Poppins"/>
                <a:cs typeface="Poppins"/>
                <a:sym typeface="Poppins"/>
              </a:rPr>
              <a:t>Personal Home Page</a:t>
            </a:r>
            <a:endParaRPr/>
          </a:p>
        </p:txBody>
      </p:sp>
      <p:sp>
        <p:nvSpPr>
          <p:cNvPr id="116" name="Google Shape;116;p16"/>
          <p:cNvSpPr txBox="1"/>
          <p:nvPr/>
        </p:nvSpPr>
        <p:spPr>
          <a:xfrm>
            <a:off x="5059944" y="3629025"/>
            <a:ext cx="66294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Originalmente, a sigla significava exatamente isso: </a:t>
            </a:r>
            <a:r>
              <a:rPr b="1" i="0" lang="en-US" sz="165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P</a:t>
            </a:r>
            <a:r>
              <a:rPr b="0" i="0" lang="en-US" sz="165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ersonal </a:t>
            </a:r>
            <a:r>
              <a:rPr b="1" i="0" lang="en-US" sz="165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H</a:t>
            </a:r>
            <a:r>
              <a:rPr b="0" i="0" lang="en-US" sz="165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ome </a:t>
            </a:r>
            <a:r>
              <a:rPr b="1" i="0" lang="en-US" sz="165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P</a:t>
            </a:r>
            <a:r>
              <a:rPr b="0" i="0" lang="en-US" sz="165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age.</a:t>
            </a:r>
            <a:endParaRPr/>
          </a:p>
        </p:txBody>
      </p:sp>
      <p:sp>
        <p:nvSpPr>
          <p:cNvPr id="117" name="Google Shape;117;p16"/>
          <p:cNvSpPr txBox="1"/>
          <p:nvPr/>
        </p:nvSpPr>
        <p:spPr>
          <a:xfrm>
            <a:off x="5059944" y="4086225"/>
            <a:ext cx="6629400" cy="63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O objetivo era simples: automatizar tarefas em páginas da web pessoais, como contadores de visitas e processamento de formulários básicos.</a:t>
            </a:r>
            <a:endParaRPr/>
          </a:p>
        </p:txBody>
      </p:sp>
      <p:sp>
        <p:nvSpPr>
          <p:cNvPr id="118" name="Google Shape;118;p16"/>
          <p:cNvSpPr txBox="1"/>
          <p:nvPr/>
        </p:nvSpPr>
        <p:spPr>
          <a:xfrm>
            <a:off x="762000" y="571500"/>
            <a:ext cx="11401425" cy="64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75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O Significado Original</a:t>
            </a:r>
            <a:endParaRPr/>
          </a:p>
        </p:txBody>
      </p:sp>
      <p:sp>
        <p:nvSpPr>
          <p:cNvPr id="119" name="Google Shape;119;p16"/>
          <p:cNvSpPr/>
          <p:nvPr/>
        </p:nvSpPr>
        <p:spPr>
          <a:xfrm>
            <a:off x="571500" y="571500"/>
            <a:ext cx="95250" cy="64770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293B"/>
        </a:solidFill>
      </p:bgPr>
    </p:bg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24" name="Google Shape;124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5" name="Google Shape;125;p17"/>
          <p:cNvSpPr/>
          <p:nvPr/>
        </p:nvSpPr>
        <p:spPr>
          <a:xfrm>
            <a:off x="5619750" y="2643187"/>
            <a:ext cx="952500" cy="7620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17"/>
          <p:cNvSpPr txBox="1"/>
          <p:nvPr/>
        </p:nvSpPr>
        <p:spPr>
          <a:xfrm>
            <a:off x="1465421" y="3005137"/>
            <a:ext cx="9261157" cy="1009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25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 Mudança de Identidade</a:t>
            </a:r>
            <a:endParaRPr/>
          </a:p>
        </p:txBody>
      </p:sp>
      <p:sp>
        <p:nvSpPr>
          <p:cNvPr id="127" name="Google Shape;127;p17"/>
          <p:cNvSpPr txBox="1"/>
          <p:nvPr/>
        </p:nvSpPr>
        <p:spPr>
          <a:xfrm>
            <a:off x="1685925" y="4014787"/>
            <a:ext cx="882015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Quando o PHP se tornou profissional.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293B"/>
        </a:solidFill>
      </p:bgPr>
    </p:bg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32" name="Google Shape;132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3" name="Google Shape;133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024062"/>
            <a:ext cx="3492549" cy="38385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4" name="Google Shape;134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49799" y="2024062"/>
            <a:ext cx="3492549" cy="38385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5" name="Google Shape;135;p1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128099" y="2024062"/>
            <a:ext cx="3492549" cy="3838575"/>
          </a:xfrm>
          <a:prstGeom prst="rect">
            <a:avLst/>
          </a:prstGeom>
          <a:noFill/>
          <a:ln>
            <a:noFill/>
          </a:ln>
        </p:spPr>
      </p:pic>
      <p:sp>
        <p:nvSpPr>
          <p:cNvPr id="136" name="Google Shape;136;p18"/>
          <p:cNvSpPr txBox="1"/>
          <p:nvPr/>
        </p:nvSpPr>
        <p:spPr>
          <a:xfrm>
            <a:off x="784223" y="3071812"/>
            <a:ext cx="3067102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22D3EE"/>
                </a:solidFill>
                <a:latin typeface="Poppins"/>
                <a:ea typeface="Poppins"/>
                <a:cs typeface="Poppins"/>
                <a:sym typeface="Poppins"/>
              </a:rPr>
              <a:t>Acrônimo Recursivo</a:t>
            </a:r>
            <a:endParaRPr/>
          </a:p>
        </p:txBody>
      </p:sp>
      <p:sp>
        <p:nvSpPr>
          <p:cNvPr id="137" name="Google Shape;137;p18"/>
          <p:cNvSpPr txBox="1"/>
          <p:nvPr/>
        </p:nvSpPr>
        <p:spPr>
          <a:xfrm>
            <a:off x="857250" y="4129087"/>
            <a:ext cx="2921049" cy="1257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Em 1997, com o PHP 3, o nome mudou para um acrônimo recursivo: </a:t>
            </a:r>
            <a:r>
              <a:rPr b="1" i="0" lang="en-US" sz="165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PHP: Hypertext Preprocessor</a:t>
            </a:r>
            <a:r>
              <a:rPr b="0" i="0" lang="en-US" sz="165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.</a:t>
            </a:r>
            <a:endParaRPr/>
          </a:p>
        </p:txBody>
      </p:sp>
      <p:sp>
        <p:nvSpPr>
          <p:cNvPr id="138" name="Google Shape;138;p18"/>
          <p:cNvSpPr txBox="1"/>
          <p:nvPr/>
        </p:nvSpPr>
        <p:spPr>
          <a:xfrm>
            <a:off x="4562523" y="3071812"/>
            <a:ext cx="3067102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22D3EE"/>
                </a:solidFill>
                <a:latin typeface="Poppins"/>
                <a:ea typeface="Poppins"/>
                <a:cs typeface="Poppins"/>
                <a:sym typeface="Poppins"/>
              </a:rPr>
              <a:t>O que é isso?</a:t>
            </a:r>
            <a:endParaRPr/>
          </a:p>
        </p:txBody>
      </p:sp>
      <p:sp>
        <p:nvSpPr>
          <p:cNvPr id="139" name="Google Shape;139;p18"/>
          <p:cNvSpPr txBox="1"/>
          <p:nvPr/>
        </p:nvSpPr>
        <p:spPr>
          <a:xfrm>
            <a:off x="4635549" y="3671887"/>
            <a:ext cx="2921049" cy="1257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Um acrônimo recursivo é aquele em que a própria sigla faz parte da sua definição. O primeiro P significa... PHP!</a:t>
            </a:r>
            <a:endParaRPr/>
          </a:p>
        </p:txBody>
      </p:sp>
      <p:sp>
        <p:nvSpPr>
          <p:cNvPr id="140" name="Google Shape;140;p18"/>
          <p:cNvSpPr txBox="1"/>
          <p:nvPr/>
        </p:nvSpPr>
        <p:spPr>
          <a:xfrm>
            <a:off x="8340822" y="3071812"/>
            <a:ext cx="3067102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22D3EE"/>
                </a:solidFill>
                <a:latin typeface="Poppins"/>
                <a:ea typeface="Poppins"/>
                <a:cs typeface="Poppins"/>
                <a:sym typeface="Poppins"/>
              </a:rPr>
              <a:t>Nova Fase</a:t>
            </a:r>
            <a:endParaRPr/>
          </a:p>
        </p:txBody>
      </p:sp>
      <p:sp>
        <p:nvSpPr>
          <p:cNvPr id="141" name="Google Shape;141;p18"/>
          <p:cNvSpPr txBox="1"/>
          <p:nvPr/>
        </p:nvSpPr>
        <p:spPr>
          <a:xfrm>
            <a:off x="8413849" y="3671887"/>
            <a:ext cx="2921049" cy="1571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A mudança refletiu o amadurecimento: de scripts simples para uma ferramenta robusta de processamento no servidor.</a:t>
            </a:r>
            <a:endParaRPr/>
          </a:p>
        </p:txBody>
      </p:sp>
      <p:pic>
        <p:nvPicPr>
          <p:cNvPr descr="image.png" id="142" name="Google Shape;142;p18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2017662" y="2357437"/>
            <a:ext cx="600075" cy="476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3" name="Google Shape;143;p18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857875" y="2357437"/>
            <a:ext cx="476250" cy="476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4" name="Google Shape;144;p18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9636174" y="2357437"/>
            <a:ext cx="476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18"/>
          <p:cNvSpPr txBox="1"/>
          <p:nvPr/>
        </p:nvSpPr>
        <p:spPr>
          <a:xfrm>
            <a:off x="762000" y="571500"/>
            <a:ext cx="11401425" cy="64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75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PHP: Hypertext Preprocessor</a:t>
            </a:r>
            <a:endParaRPr/>
          </a:p>
        </p:txBody>
      </p:sp>
      <p:sp>
        <p:nvSpPr>
          <p:cNvPr id="146" name="Google Shape;146;p18"/>
          <p:cNvSpPr/>
          <p:nvPr/>
        </p:nvSpPr>
        <p:spPr>
          <a:xfrm>
            <a:off x="571500" y="571500"/>
            <a:ext cx="95250" cy="64770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293B"/>
        </a:solidFill>
      </p:bgPr>
    </p:bg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51" name="Google Shape;151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2" name="Google Shape;152;p19"/>
          <p:cNvSpPr/>
          <p:nvPr/>
        </p:nvSpPr>
        <p:spPr>
          <a:xfrm>
            <a:off x="5619750" y="2643187"/>
            <a:ext cx="952500" cy="7620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19"/>
          <p:cNvSpPr txBox="1"/>
          <p:nvPr/>
        </p:nvSpPr>
        <p:spPr>
          <a:xfrm>
            <a:off x="1845468" y="3005137"/>
            <a:ext cx="8501062" cy="1009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25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O Mascote: O elePHPant</a:t>
            </a:r>
            <a:endParaRPr/>
          </a:p>
        </p:txBody>
      </p:sp>
      <p:sp>
        <p:nvSpPr>
          <p:cNvPr id="154" name="Google Shape;154;p19"/>
          <p:cNvSpPr txBox="1"/>
          <p:nvPr/>
        </p:nvSpPr>
        <p:spPr>
          <a:xfrm>
            <a:off x="2047875" y="4014787"/>
            <a:ext cx="809625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Por que um elefante azul?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293B"/>
        </a:solidFill>
      </p:bgPr>
    </p:bg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59" name="Google Shape;159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0" name="Google Shape;160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309687" y="2038350"/>
            <a:ext cx="3810000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1" name="Google Shape;161;p20"/>
          <p:cNvSpPr txBox="1"/>
          <p:nvPr/>
        </p:nvSpPr>
        <p:spPr>
          <a:xfrm>
            <a:off x="6334125" y="2557462"/>
            <a:ext cx="5550693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22D3EE"/>
                </a:solidFill>
                <a:latin typeface="Poppins"/>
                <a:ea typeface="Poppins"/>
                <a:cs typeface="Poppins"/>
                <a:sym typeface="Poppins"/>
              </a:rPr>
              <a:t>O Nascimento do Mascote</a:t>
            </a:r>
            <a:endParaRPr/>
          </a:p>
        </p:txBody>
      </p:sp>
      <p:sp>
        <p:nvSpPr>
          <p:cNvPr id="162" name="Google Shape;162;p20"/>
          <p:cNvSpPr txBox="1"/>
          <p:nvPr/>
        </p:nvSpPr>
        <p:spPr>
          <a:xfrm>
            <a:off x="6334125" y="3157537"/>
            <a:ext cx="5286375" cy="942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O elefante foi criado por Vincent Pontier em 1998. Na época, ele estava brincando com as letras </a:t>
            </a:r>
            <a:r>
              <a:rPr b="1" i="0" lang="en-US" sz="165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PHP</a:t>
            </a:r>
            <a:r>
              <a:rPr b="0" i="0" lang="en-US" sz="165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 em um papel e notou algo curioso.</a:t>
            </a:r>
            <a:endParaRPr/>
          </a:p>
        </p:txBody>
      </p:sp>
      <p:sp>
        <p:nvSpPr>
          <p:cNvPr id="163" name="Google Shape;163;p20"/>
          <p:cNvSpPr txBox="1"/>
          <p:nvPr/>
        </p:nvSpPr>
        <p:spPr>
          <a:xfrm>
            <a:off x="6334125" y="4243387"/>
            <a:ext cx="5286375" cy="942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Ele percebeu que, dependendo do ângulo, as letras formavam a silhueta de um elefante. Foi puro design e criatividade!</a:t>
            </a:r>
            <a:endParaRPr/>
          </a:p>
        </p:txBody>
      </p:sp>
      <p:pic>
        <p:nvPicPr>
          <p:cNvPr descr="image.png" id="164" name="Google Shape;164;p2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357312" y="2085975"/>
            <a:ext cx="3714750" cy="3714750"/>
          </a:xfrm>
          <a:prstGeom prst="rect">
            <a:avLst/>
          </a:prstGeom>
          <a:noFill/>
          <a:ln>
            <a:noFill/>
          </a:ln>
        </p:spPr>
      </p:pic>
      <p:sp>
        <p:nvSpPr>
          <p:cNvPr id="165" name="Google Shape;165;p20"/>
          <p:cNvSpPr txBox="1"/>
          <p:nvPr/>
        </p:nvSpPr>
        <p:spPr>
          <a:xfrm>
            <a:off x="762000" y="571500"/>
            <a:ext cx="11401425" cy="64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75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Vincent Pontier (1998)</a:t>
            </a:r>
            <a:endParaRPr/>
          </a:p>
        </p:txBody>
      </p:sp>
      <p:sp>
        <p:nvSpPr>
          <p:cNvPr id="166" name="Google Shape;166;p20"/>
          <p:cNvSpPr/>
          <p:nvPr/>
        </p:nvSpPr>
        <p:spPr>
          <a:xfrm>
            <a:off x="571500" y="571500"/>
            <a:ext cx="95250" cy="64770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293B"/>
        </a:solidFill>
      </p:bgPr>
    </p:bg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71" name="Google Shape;171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72" name="Google Shape;172;p21"/>
          <p:cNvSpPr txBox="1"/>
          <p:nvPr/>
        </p:nvSpPr>
        <p:spPr>
          <a:xfrm>
            <a:off x="571500" y="1700212"/>
            <a:ext cx="5200650" cy="64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75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Pareidolia Visual</a:t>
            </a:r>
            <a:endParaRPr/>
          </a:p>
        </p:txBody>
      </p:sp>
      <p:sp>
        <p:nvSpPr>
          <p:cNvPr id="173" name="Google Shape;173;p21"/>
          <p:cNvSpPr txBox="1"/>
          <p:nvPr/>
        </p:nvSpPr>
        <p:spPr>
          <a:xfrm>
            <a:off x="571500" y="2728912"/>
            <a:ext cx="520065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22D3EE"/>
                </a:solidFill>
                <a:latin typeface="Poppins"/>
                <a:ea typeface="Poppins"/>
                <a:cs typeface="Poppins"/>
                <a:sym typeface="Poppins"/>
              </a:rPr>
              <a:t>As letras no desenho</a:t>
            </a:r>
            <a:endParaRPr/>
          </a:p>
        </p:txBody>
      </p:sp>
      <p:sp>
        <p:nvSpPr>
          <p:cNvPr id="174" name="Google Shape;174;p21"/>
          <p:cNvSpPr txBox="1"/>
          <p:nvPr/>
        </p:nvSpPr>
        <p:spPr>
          <a:xfrm>
            <a:off x="571500" y="3328987"/>
            <a:ext cx="4953000" cy="942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Observe bem o logo original: a orelha e o corpo do elefante são formados pela letra </a:t>
            </a:r>
            <a:r>
              <a:rPr b="1" i="0" lang="en-US" sz="165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P</a:t>
            </a:r>
            <a:r>
              <a:rPr b="0" i="0" lang="en-US" sz="165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, e a parte central pela letra </a:t>
            </a:r>
            <a:r>
              <a:rPr b="1" i="0" lang="en-US" sz="165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H</a:t>
            </a:r>
            <a:r>
              <a:rPr b="0" i="0" lang="en-US" sz="165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.</a:t>
            </a:r>
            <a:endParaRPr/>
          </a:p>
        </p:txBody>
      </p:sp>
      <p:sp>
        <p:nvSpPr>
          <p:cNvPr id="175" name="Google Shape;175;p21"/>
          <p:cNvSpPr txBox="1"/>
          <p:nvPr/>
        </p:nvSpPr>
        <p:spPr>
          <a:xfrm>
            <a:off x="571500" y="4414837"/>
            <a:ext cx="4953000" cy="628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Essa ilusão visual (pareidolia) deu origem ao mascote mais amado da web: o </a:t>
            </a:r>
            <a:r>
              <a:rPr b="1" i="0" lang="en-US" sz="165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elePHPant</a:t>
            </a:r>
            <a:r>
              <a:rPr b="0" i="0" lang="en-US" sz="165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.</a:t>
            </a:r>
            <a:endParaRPr/>
          </a:p>
        </p:txBody>
      </p:sp>
      <p:pic>
        <p:nvPicPr>
          <p:cNvPr descr="image.png" id="176" name="Google Shape;176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096000" y="0"/>
            <a:ext cx="6096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293B"/>
        </a:solidFill>
      </p:bgPr>
    </p:bg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81" name="Google Shape;181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2" name="Google Shape;182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152650"/>
            <a:ext cx="5381625" cy="3581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3" name="Google Shape;183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38875" y="2152650"/>
            <a:ext cx="5381625" cy="3581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4" name="Google Shape;184;p2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2152650"/>
            <a:ext cx="5381625" cy="2381250"/>
          </a:xfrm>
          <a:prstGeom prst="rect">
            <a:avLst/>
          </a:prstGeom>
          <a:noFill/>
          <a:ln>
            <a:noFill/>
          </a:ln>
        </p:spPr>
      </p:pic>
      <p:sp>
        <p:nvSpPr>
          <p:cNvPr id="185" name="Google Shape;185;p22"/>
          <p:cNvSpPr txBox="1"/>
          <p:nvPr/>
        </p:nvSpPr>
        <p:spPr>
          <a:xfrm>
            <a:off x="762000" y="4724400"/>
            <a:ext cx="5000625" cy="628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As pelúcias coloridas são itens de colecionador em conferências de tecnologia.</a:t>
            </a:r>
            <a:endParaRPr/>
          </a:p>
        </p:txBody>
      </p:sp>
      <p:pic>
        <p:nvPicPr>
          <p:cNvPr descr="image.png" id="186" name="Google Shape;186;p2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238875" y="2152650"/>
            <a:ext cx="5381625" cy="2381250"/>
          </a:xfrm>
          <a:prstGeom prst="rect">
            <a:avLst/>
          </a:prstGeom>
          <a:noFill/>
          <a:ln>
            <a:noFill/>
          </a:ln>
        </p:spPr>
      </p:pic>
      <p:sp>
        <p:nvSpPr>
          <p:cNvPr id="187" name="Google Shape;187;p22"/>
          <p:cNvSpPr txBox="1"/>
          <p:nvPr/>
        </p:nvSpPr>
        <p:spPr>
          <a:xfrm>
            <a:off x="6429375" y="4724400"/>
            <a:ext cx="5000625" cy="628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O mascote humaniza a linguagem e fortalece o senso de comunidade global.</a:t>
            </a:r>
            <a:endParaRPr/>
          </a:p>
        </p:txBody>
      </p:sp>
      <p:sp>
        <p:nvSpPr>
          <p:cNvPr id="188" name="Google Shape;188;p22"/>
          <p:cNvSpPr txBox="1"/>
          <p:nvPr/>
        </p:nvSpPr>
        <p:spPr>
          <a:xfrm>
            <a:off x="762000" y="571500"/>
            <a:ext cx="11401425" cy="64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75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O Sucesso do elePHPant</a:t>
            </a:r>
            <a:endParaRPr/>
          </a:p>
        </p:txBody>
      </p:sp>
      <p:sp>
        <p:nvSpPr>
          <p:cNvPr id="189" name="Google Shape;189;p22"/>
          <p:cNvSpPr/>
          <p:nvPr/>
        </p:nvSpPr>
        <p:spPr>
          <a:xfrm>
            <a:off x="571500" y="571500"/>
            <a:ext cx="95250" cy="64770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293B"/>
        </a:solidFill>
      </p:bgPr>
    </p:bg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23"/>
          <p:cNvSpPr txBox="1"/>
          <p:nvPr/>
        </p:nvSpPr>
        <p:spPr>
          <a:xfrm>
            <a:off x="1457325" y="2838450"/>
            <a:ext cx="9705975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Nome Próprio:</a:t>
            </a:r>
            <a:r>
              <a:rPr b="0" i="0" lang="en-US" sz="165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 O mascote é oficialmente chamado de "elePHPant" (uma junção de Elephant + PHP).</a:t>
            </a:r>
            <a:endParaRPr/>
          </a:p>
        </p:txBody>
      </p:sp>
      <p:sp>
        <p:nvSpPr>
          <p:cNvPr id="195" name="Google Shape;195;p23"/>
          <p:cNvSpPr txBox="1"/>
          <p:nvPr/>
        </p:nvSpPr>
        <p:spPr>
          <a:xfrm>
            <a:off x="1457325" y="3390900"/>
            <a:ext cx="9705975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Cores:</a:t>
            </a:r>
            <a:r>
              <a:rPr b="0" i="0" lang="en-US" sz="165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 Embora o azul seja o padrão, existem versões oficiais em rosa, laranja, verde e até dourado.</a:t>
            </a:r>
            <a:endParaRPr/>
          </a:p>
        </p:txBody>
      </p:sp>
      <p:sp>
        <p:nvSpPr>
          <p:cNvPr id="196" name="Google Shape;196;p23"/>
          <p:cNvSpPr txBox="1"/>
          <p:nvPr/>
        </p:nvSpPr>
        <p:spPr>
          <a:xfrm>
            <a:off x="1457325" y="3943350"/>
            <a:ext cx="9705975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Comunidade:</a:t>
            </a:r>
            <a:r>
              <a:rPr b="0" i="0" lang="en-US" sz="165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 O elefante simboliza a força, a memória e a longevidade da linguagem PHP na internet.</a:t>
            </a:r>
            <a:endParaRPr/>
          </a:p>
        </p:txBody>
      </p:sp>
      <p:sp>
        <p:nvSpPr>
          <p:cNvPr id="197" name="Google Shape;197;p23"/>
          <p:cNvSpPr txBox="1"/>
          <p:nvPr/>
        </p:nvSpPr>
        <p:spPr>
          <a:xfrm>
            <a:off x="1457325" y="4495800"/>
            <a:ext cx="9705975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Instagramáveis:</a:t>
            </a:r>
            <a:r>
              <a:rPr b="0" i="0" lang="en-US" sz="165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 Desenvolvedores ao redor do mundo postam fotos de seus elefantes em pontos turísticos.</a:t>
            </a:r>
            <a:endParaRPr/>
          </a:p>
        </p:txBody>
      </p:sp>
      <p:pic>
        <p:nvPicPr>
          <p:cNvPr descr="image.png" id="198" name="Google Shape;198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28700" y="3433762"/>
            <a:ext cx="247650" cy="2571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9" name="Google Shape;199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28700" y="3986212"/>
            <a:ext cx="247650" cy="2571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0" name="Google Shape;200;p2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028700" y="4538662"/>
            <a:ext cx="247650" cy="257175"/>
          </a:xfrm>
          <a:prstGeom prst="rect">
            <a:avLst/>
          </a:prstGeom>
          <a:noFill/>
          <a:ln>
            <a:noFill/>
          </a:ln>
        </p:spPr>
      </p:pic>
      <p:sp>
        <p:nvSpPr>
          <p:cNvPr id="201" name="Google Shape;201;p23"/>
          <p:cNvSpPr txBox="1"/>
          <p:nvPr/>
        </p:nvSpPr>
        <p:spPr>
          <a:xfrm>
            <a:off x="762000" y="571500"/>
            <a:ext cx="11401425" cy="64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75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Curiosidades do Mascote</a:t>
            </a:r>
            <a:endParaRPr/>
          </a:p>
        </p:txBody>
      </p:sp>
      <p:sp>
        <p:nvSpPr>
          <p:cNvPr id="202" name="Google Shape;202;p23"/>
          <p:cNvSpPr/>
          <p:nvPr/>
        </p:nvSpPr>
        <p:spPr>
          <a:xfrm>
            <a:off x="571500" y="571500"/>
            <a:ext cx="95250" cy="64770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293B"/>
        </a:solidFill>
      </p:bgPr>
    </p:bg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07" name="Google Shape;207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08" name="Google Shape;208;p24"/>
          <p:cNvSpPr txBox="1"/>
          <p:nvPr/>
        </p:nvSpPr>
        <p:spPr>
          <a:xfrm>
            <a:off x="4175760" y="1819275"/>
            <a:ext cx="384048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000" u="none" cap="none" strike="noStrike">
                <a:solidFill>
                  <a:srgbClr val="22D3EE"/>
                </a:solidFill>
                <a:latin typeface="Poppins"/>
                <a:ea typeface="Poppins"/>
                <a:cs typeface="Poppins"/>
                <a:sym typeface="Poppins"/>
              </a:rPr>
              <a:t>Dúvidas?</a:t>
            </a:r>
            <a:endParaRPr/>
          </a:p>
        </p:txBody>
      </p:sp>
      <p:sp>
        <p:nvSpPr>
          <p:cNvPr id="209" name="Google Shape;209;p24"/>
          <p:cNvSpPr txBox="1"/>
          <p:nvPr/>
        </p:nvSpPr>
        <p:spPr>
          <a:xfrm>
            <a:off x="4024312" y="3152775"/>
            <a:ext cx="4143375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Agora você conhece a alma por trás do código.</a:t>
            </a:r>
            <a:endParaRPr/>
          </a:p>
        </p:txBody>
      </p:sp>
      <p:sp>
        <p:nvSpPr>
          <p:cNvPr id="210" name="Google Shape;210;p24"/>
          <p:cNvSpPr txBox="1"/>
          <p:nvPr/>
        </p:nvSpPr>
        <p:spPr>
          <a:xfrm>
            <a:off x="4953000" y="4181475"/>
            <a:ext cx="2286000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Profª Juliana de Sá</a:t>
            </a:r>
            <a:endParaRPr/>
          </a:p>
        </p:txBody>
      </p:sp>
      <p:sp>
        <p:nvSpPr>
          <p:cNvPr id="211" name="Google Shape;211;p24"/>
          <p:cNvSpPr txBox="1"/>
          <p:nvPr/>
        </p:nvSpPr>
        <p:spPr>
          <a:xfrm>
            <a:off x="4953000" y="4638675"/>
            <a:ext cx="2286000" cy="51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Sistemas Web I </a:t>
            </a:r>
            <a:br>
              <a:rPr lang="en-US" sz="135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</a:br>
            <a:r>
              <a:rPr lang="en-US" sz="135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• • • 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