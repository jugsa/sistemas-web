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embeddedFontLst>
    <p:embeddedFont>
      <p:font typeface="Urbanist Medium"/>
      <p:regular r:id="rId19"/>
      <p:bold r:id="rId20"/>
      <p:italic r:id="rId21"/>
      <p:boldItalic r:id="rId22"/>
    </p:embeddedFont>
    <p:embeddedFont>
      <p:font typeface="Urbanist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Medium-bold.fntdata"/><Relationship Id="rId22" Type="http://schemas.openxmlformats.org/officeDocument/2006/relationships/font" Target="fonts/UrbanistMedium-boldItalic.fntdata"/><Relationship Id="rId21" Type="http://schemas.openxmlformats.org/officeDocument/2006/relationships/font" Target="fonts/UrbanistMedium-italic.fntdata"/><Relationship Id="rId24" Type="http://schemas.openxmlformats.org/officeDocument/2006/relationships/font" Target="fonts/Urbanist-bold.fntdata"/><Relationship Id="rId23" Type="http://schemas.openxmlformats.org/officeDocument/2006/relationships/font" Target="fonts/Urbanist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Urbanist-boldItalic.fntdata"/><Relationship Id="rId25" Type="http://schemas.openxmlformats.org/officeDocument/2006/relationships/font" Target="fonts/Urbanis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UrbanistMedium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d676e68d4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3d676e68d43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d676e68d43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g3d676e68d43_0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0293B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16.png"/><Relationship Id="rId5" Type="http://schemas.openxmlformats.org/officeDocument/2006/relationships/image" Target="../media/image7.png"/><Relationship Id="rId6" Type="http://schemas.openxmlformats.org/officeDocument/2006/relationships/image" Target="../media/image15.png"/><Relationship Id="rId7" Type="http://schemas.openxmlformats.org/officeDocument/2006/relationships/image" Target="../media/image3.png"/><Relationship Id="rId8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9.png"/><Relationship Id="rId5" Type="http://schemas.openxmlformats.org/officeDocument/2006/relationships/image" Target="../media/image5.png"/><Relationship Id="rId6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295275" y="2020341"/>
            <a:ext cx="11601450" cy="1508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Laravel: The PHP Framework for </a:t>
            </a:r>
            <a:r>
              <a:rPr b="1" i="0" lang="en-US" sz="5400" u="none" cap="none" strike="noStrike">
                <a:solidFill>
                  <a:srgbClr val="F43F5E"/>
                </a:solidFill>
                <a:latin typeface="Urbanist"/>
                <a:ea typeface="Urbanist"/>
                <a:cs typeface="Urbanist"/>
                <a:sym typeface="Urbanist"/>
              </a:rPr>
              <a:t>Web Artisans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571500" y="3945713"/>
            <a:ext cx="11049000" cy="10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800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"O PHP para Artesãos da Web"</a:t>
            </a:r>
            <a:endParaRPr sz="1800">
              <a:solidFill>
                <a:srgbClr val="64748B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64748B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Uma jornada da produtividade à excelência técnica.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5912709"/>
            <a:ext cx="1104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Profª Juliana de Sá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/>
        </p:nvSpPr>
        <p:spPr>
          <a:xfrm>
            <a:off x="295275" y="2251769"/>
            <a:ext cx="116014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O que é o Laravel?</a:t>
            </a:r>
            <a:endParaRPr/>
          </a:p>
        </p:txBody>
      </p:sp>
      <p:sp>
        <p:nvSpPr>
          <p:cNvPr id="92" name="Google Shape;92;p14"/>
          <p:cNvSpPr txBox="1"/>
          <p:nvPr/>
        </p:nvSpPr>
        <p:spPr>
          <a:xfrm>
            <a:off x="2286000" y="3697634"/>
            <a:ext cx="7620000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Laravel é um framework PHP gratuito e de código aberto, criado por Taylor Otwell e destinado ao desenvolvimento de sistemas web utilizando o padrão MVC.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/>
        </p:nvSpPr>
        <p:spPr>
          <a:xfrm>
            <a:off x="872425" y="226069"/>
            <a:ext cx="116016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-US" sz="45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O que é um Framework?</a:t>
            </a:r>
            <a:endParaRPr b="1" sz="450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8" name="Google Shape;98;p15"/>
          <p:cNvSpPr txBox="1"/>
          <p:nvPr/>
        </p:nvSpPr>
        <p:spPr>
          <a:xfrm>
            <a:off x="872425" y="1739834"/>
            <a:ext cx="7620000" cy="37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Imagine construir um carro. Você pode fabricar cada parafuso, ou comprar o chassi pronto e focar no motor e no design. </a:t>
            </a:r>
            <a:endParaRPr sz="1800">
              <a:solidFill>
                <a:srgbClr val="94A3B8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4A3B8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18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Um framework é um conjunto de ferramentas e padrões que resolvem problemas comuns:</a:t>
            </a:r>
            <a:endParaRPr sz="1800">
              <a:solidFill>
                <a:srgbClr val="94A3B8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42900" lvl="0" marL="45720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Urbanist"/>
              <a:buChar char="●"/>
            </a:pPr>
            <a:r>
              <a:rPr lang="en-US" sz="18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Segurança Automática</a:t>
            </a:r>
            <a:endParaRPr sz="1800">
              <a:solidFill>
                <a:srgbClr val="94A3B8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42900" lvl="0" marL="45720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Urbanist"/>
              <a:buChar char="●"/>
            </a:pPr>
            <a:r>
              <a:rPr lang="en-US" sz="18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Conexão Fácil com Banco</a:t>
            </a:r>
            <a:endParaRPr sz="1800">
              <a:solidFill>
                <a:srgbClr val="94A3B8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42900" lvl="0" marL="45720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Urbanist"/>
              <a:buChar char="●"/>
            </a:pPr>
            <a:r>
              <a:rPr lang="en-US" sz="18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Sistema de Rotas Elegante</a:t>
            </a:r>
            <a:endParaRPr sz="1500">
              <a:solidFill>
                <a:srgbClr val="CBD5E1"/>
              </a:solidFill>
              <a:highlight>
                <a:srgbClr val="1E293B"/>
              </a:highlight>
            </a:endParaRPr>
          </a:p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99" name="Google Shape;99;p15"/>
          <p:cNvSpPr txBox="1"/>
          <p:nvPr/>
        </p:nvSpPr>
        <p:spPr>
          <a:xfrm>
            <a:off x="158450" y="238525"/>
            <a:ext cx="158400" cy="667800"/>
          </a:xfrm>
          <a:prstGeom prst="rect">
            <a:avLst/>
          </a:prstGeom>
          <a:solidFill>
            <a:srgbClr val="EB446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2675" y="4022459"/>
            <a:ext cx="5391150" cy="104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5" name="Google Shape;10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328862"/>
            <a:ext cx="3555950" cy="3086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17950" y="2328862"/>
            <a:ext cx="3555950" cy="3086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64400" y="2328862"/>
            <a:ext cx="3555950" cy="308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6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Por que escolher este Framework?</a:t>
            </a:r>
            <a:endParaRPr/>
          </a:p>
        </p:txBody>
      </p:sp>
      <p:sp>
        <p:nvSpPr>
          <p:cNvPr id="109" name="Google Shape;109;p16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0" name="Google Shape;110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2719387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6"/>
          <p:cNvSpPr txBox="1"/>
          <p:nvPr/>
        </p:nvSpPr>
        <p:spPr>
          <a:xfrm>
            <a:off x="962025" y="3338512"/>
            <a:ext cx="291364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43F5E"/>
                </a:solidFill>
                <a:latin typeface="Urbanist"/>
                <a:ea typeface="Urbanist"/>
                <a:cs typeface="Urbanist"/>
                <a:sym typeface="Urbanist"/>
              </a:rPr>
              <a:t>Velocidade</a:t>
            </a:r>
            <a:endParaRPr/>
          </a:p>
        </p:txBody>
      </p:sp>
      <p:sp>
        <p:nvSpPr>
          <p:cNvPr id="112" name="Google Shape;112;p16"/>
          <p:cNvSpPr txBox="1"/>
          <p:nvPr/>
        </p:nvSpPr>
        <p:spPr>
          <a:xfrm>
            <a:off x="962025" y="3805237"/>
            <a:ext cx="27749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Desenvolvimento acelerado com ferramentas que eliminam a necessidade de "reinventar a roda" a cada projeto.</a:t>
            </a:r>
            <a:endParaRPr/>
          </a:p>
        </p:txBody>
      </p:sp>
      <p:pic>
        <p:nvPicPr>
          <p:cNvPr descr="image.png" id="113" name="Google Shape;113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08475" y="271938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6"/>
          <p:cNvSpPr txBox="1"/>
          <p:nvPr/>
        </p:nvSpPr>
        <p:spPr>
          <a:xfrm>
            <a:off x="4708475" y="3338512"/>
            <a:ext cx="291364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43F5E"/>
                </a:solidFill>
                <a:latin typeface="Urbanist"/>
                <a:ea typeface="Urbanist"/>
                <a:cs typeface="Urbanist"/>
                <a:sym typeface="Urbanist"/>
              </a:rPr>
              <a:t>Segurança</a:t>
            </a:r>
            <a:endParaRPr/>
          </a:p>
        </p:txBody>
      </p:sp>
      <p:sp>
        <p:nvSpPr>
          <p:cNvPr id="115" name="Google Shape;115;p16"/>
          <p:cNvSpPr txBox="1"/>
          <p:nvPr/>
        </p:nvSpPr>
        <p:spPr>
          <a:xfrm>
            <a:off x="4708475" y="3805237"/>
            <a:ext cx="27749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Proteção nativa contra SQL Injection, Cross-Site Request Forgery (CSRF) e Cross-Site Scripting (XSS).</a:t>
            </a:r>
            <a:endParaRPr/>
          </a:p>
        </p:txBody>
      </p:sp>
      <p:pic>
        <p:nvPicPr>
          <p:cNvPr descr="image.png" id="116" name="Google Shape;116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54925" y="2719387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 txBox="1"/>
          <p:nvPr/>
        </p:nvSpPr>
        <p:spPr>
          <a:xfrm>
            <a:off x="8454925" y="3338512"/>
            <a:ext cx="291364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43F5E"/>
                </a:solidFill>
                <a:latin typeface="Urbanist"/>
                <a:ea typeface="Urbanist"/>
                <a:cs typeface="Urbanist"/>
                <a:sym typeface="Urbanist"/>
              </a:rPr>
              <a:t>Escalabilidade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8454925" y="3805237"/>
            <a:ext cx="27749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Arquitetura robusta preparada para crescer, desde pequenos sites a aplicações globais complexas.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3" name="Google Shape;12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776537"/>
            <a:ext cx="5238750" cy="2190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776537"/>
            <a:ext cx="5238750" cy="2190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7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Pré-requisitos do Ambiente</a:t>
            </a:r>
            <a:endParaRPr/>
          </a:p>
        </p:txBody>
      </p:sp>
      <p:sp>
        <p:nvSpPr>
          <p:cNvPr id="126" name="Google Shape;126;p17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7"/>
          <p:cNvSpPr txBox="1"/>
          <p:nvPr/>
        </p:nvSpPr>
        <p:spPr>
          <a:xfrm>
            <a:off x="962025" y="3195637"/>
            <a:ext cx="468058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43F5E"/>
                </a:solidFill>
                <a:latin typeface="Urbanist"/>
                <a:ea typeface="Urbanist"/>
                <a:cs typeface="Urbanist"/>
                <a:sym typeface="Urbanist"/>
              </a:rPr>
              <a:t>Servidor PHP 8.2+</a:t>
            </a:r>
            <a:endParaRPr/>
          </a:p>
        </p:txBody>
      </p:sp>
      <p:sp>
        <p:nvSpPr>
          <p:cNvPr id="128" name="Google Shape;128;p17"/>
          <p:cNvSpPr txBox="1"/>
          <p:nvPr/>
        </p:nvSpPr>
        <p:spPr>
          <a:xfrm>
            <a:off x="962025" y="3662362"/>
            <a:ext cx="4457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O Laravel exige versões modernas do PHP para aproveitar as melhorias de performance e tipagem rigorosa.</a:t>
            </a:r>
            <a:endParaRPr/>
          </a:p>
        </p:txBody>
      </p:sp>
      <p:sp>
        <p:nvSpPr>
          <p:cNvPr id="129" name="Google Shape;129;p17"/>
          <p:cNvSpPr txBox="1"/>
          <p:nvPr/>
        </p:nvSpPr>
        <p:spPr>
          <a:xfrm>
            <a:off x="6772275" y="3195637"/>
            <a:ext cx="468058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43F5E"/>
                </a:solidFill>
                <a:latin typeface="Urbanist"/>
                <a:ea typeface="Urbanist"/>
                <a:cs typeface="Urbanist"/>
                <a:sym typeface="Urbanist"/>
              </a:rPr>
              <a:t>Composer</a:t>
            </a:r>
            <a:endParaRPr/>
          </a:p>
        </p:txBody>
      </p:sp>
      <p:sp>
        <p:nvSpPr>
          <p:cNvPr id="130" name="Google Shape;130;p17"/>
          <p:cNvSpPr txBox="1"/>
          <p:nvPr/>
        </p:nvSpPr>
        <p:spPr>
          <a:xfrm>
            <a:off x="6772275" y="3662362"/>
            <a:ext cx="4457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O gerenciador de dependências essencial. Sem ele, não é possível instalar o framework ou suas bibliotecas.</a:t>
            </a:r>
            <a:endParaRPr/>
          </a:p>
        </p:txBody>
      </p:sp>
      <p:pic>
        <p:nvPicPr>
          <p:cNvPr id="131" name="Google Shape;131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7238" y="5368662"/>
            <a:ext cx="4867275" cy="71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57963" y="5359125"/>
            <a:ext cx="4886325" cy="73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8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Instalação via Composer</a:t>
            </a:r>
            <a:endParaRPr/>
          </a:p>
        </p:txBody>
      </p:sp>
      <p:sp>
        <p:nvSpPr>
          <p:cNvPr id="138" name="Google Shape;138;p18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>
            <a:off x="571500" y="1886839"/>
            <a:ext cx="550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43F5E"/>
                </a:solidFill>
                <a:latin typeface="Urbanist"/>
                <a:ea typeface="Urbanist"/>
                <a:cs typeface="Urbanist"/>
                <a:sym typeface="Urbanist"/>
              </a:rPr>
              <a:t>Comando Global</a:t>
            </a:r>
            <a:endParaRPr/>
          </a:p>
        </p:txBody>
      </p:sp>
      <p:sp>
        <p:nvSpPr>
          <p:cNvPr id="140" name="Google Shape;140;p18"/>
          <p:cNvSpPr txBox="1"/>
          <p:nvPr/>
        </p:nvSpPr>
        <p:spPr>
          <a:xfrm>
            <a:off x="628650" y="2398814"/>
            <a:ext cx="52389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 forma mais elegante de começar. Após instalar o instalador do Laravel via Composer, você cria projetos com um comando simples, garantindo a estrutura correta de pastas e permissões desde o primeiro segundo.</a:t>
            </a:r>
            <a:endParaRPr/>
          </a:p>
        </p:txBody>
      </p:sp>
      <p:sp>
        <p:nvSpPr>
          <p:cNvPr id="141" name="Google Shape;141;p18"/>
          <p:cNvSpPr/>
          <p:nvPr/>
        </p:nvSpPr>
        <p:spPr>
          <a:xfrm>
            <a:off x="531900" y="4209850"/>
            <a:ext cx="10977300" cy="690300"/>
          </a:xfrm>
          <a:prstGeom prst="roundRect">
            <a:avLst>
              <a:gd fmla="val 16667" name="adj"/>
            </a:avLst>
          </a:prstGeom>
          <a:solidFill>
            <a:srgbClr val="03061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>
            <a:off x="628650" y="4271825"/>
            <a:ext cx="108240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>
                <a:solidFill>
                  <a:srgbClr val="F43F5E"/>
                </a:solidFill>
                <a:highlight>
                  <a:srgbClr val="020617"/>
                </a:highlight>
                <a:latin typeface="Courier New"/>
                <a:ea typeface="Courier New"/>
                <a:cs typeface="Courier New"/>
                <a:sym typeface="Courier New"/>
              </a:rPr>
              <a:t>composer create-project laravel/laravel meu-projeto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/>
          </a:p>
        </p:txBody>
      </p:sp>
      <p:sp>
        <p:nvSpPr>
          <p:cNvPr id="143" name="Google Shape;143;p18"/>
          <p:cNvSpPr txBox="1"/>
          <p:nvPr/>
        </p:nvSpPr>
        <p:spPr>
          <a:xfrm>
            <a:off x="2410500" y="5262325"/>
            <a:ext cx="72201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F8FAFC"/>
                </a:solidFill>
              </a:rPr>
              <a:t>Isso vai baixar a estrutura completa do Laravel e criar uma pasta chamada </a:t>
            </a:r>
            <a:r>
              <a:rPr b="1" lang="en-US" sz="1350">
                <a:solidFill>
                  <a:srgbClr val="F8FAFC"/>
                </a:solidFill>
              </a:rPr>
              <a:t>meu-projeto</a:t>
            </a:r>
            <a:r>
              <a:rPr lang="en-US" sz="1350">
                <a:solidFill>
                  <a:srgbClr val="F8FAFC"/>
                </a:solidFill>
              </a:rPr>
              <a:t>.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9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Artisan CLI: Automação Total</a:t>
            </a:r>
            <a:endParaRPr/>
          </a:p>
        </p:txBody>
      </p:sp>
      <p:sp>
        <p:nvSpPr>
          <p:cNvPr id="149" name="Google Shape;149;p19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9"/>
          <p:cNvSpPr txBox="1"/>
          <p:nvPr/>
        </p:nvSpPr>
        <p:spPr>
          <a:xfrm>
            <a:off x="571500" y="2971800"/>
            <a:ext cx="52387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0" u="none" cap="none" strike="noStrike">
                <a:solidFill>
                  <a:srgbClr val="F43F5E"/>
                </a:solidFill>
                <a:latin typeface="Urbanist"/>
                <a:ea typeface="Urbanist"/>
                <a:cs typeface="Urbanist"/>
                <a:sym typeface="Urbanist"/>
              </a:rPr>
              <a:t>100+</a:t>
            </a:r>
            <a:endParaRPr/>
          </a:p>
        </p:txBody>
      </p:sp>
      <p:sp>
        <p:nvSpPr>
          <p:cNvPr id="151" name="Google Shape;151;p19"/>
          <p:cNvSpPr txBox="1"/>
          <p:nvPr/>
        </p:nvSpPr>
        <p:spPr>
          <a:xfrm>
            <a:off x="571500" y="4495800"/>
            <a:ext cx="52387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Comandos Disponíveis</a:t>
            </a:r>
            <a:endParaRPr/>
          </a:p>
        </p:txBody>
      </p:sp>
      <p:sp>
        <p:nvSpPr>
          <p:cNvPr id="152" name="Google Shape;152;p19"/>
          <p:cNvSpPr txBox="1"/>
          <p:nvPr/>
        </p:nvSpPr>
        <p:spPr>
          <a:xfrm>
            <a:off x="6381750" y="3028950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43F5E"/>
                </a:solidFill>
                <a:latin typeface="Urbanist"/>
                <a:ea typeface="Urbanist"/>
                <a:cs typeface="Urbanist"/>
                <a:sym typeface="Urbanist"/>
              </a:rPr>
              <a:t>Poder no Terminal</a:t>
            </a:r>
            <a:endParaRPr/>
          </a:p>
        </p:txBody>
      </p:sp>
      <p:sp>
        <p:nvSpPr>
          <p:cNvPr id="153" name="Google Shape;153;p19"/>
          <p:cNvSpPr txBox="1"/>
          <p:nvPr/>
        </p:nvSpPr>
        <p:spPr>
          <a:xfrm>
            <a:off x="6381750" y="3495675"/>
            <a:ext cx="52387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O Artisan é a interface de linha de comando incluída no Laravel. Ele fornece comandos úteis para realizar tarefas repetitivas e complexas, como gerar controllers, gerenciar migrações de banco de dados e limpar o cache do sistema.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0"/>
          <p:cNvSpPr txBox="1"/>
          <p:nvPr/>
        </p:nvSpPr>
        <p:spPr>
          <a:xfrm>
            <a:off x="872425" y="226069"/>
            <a:ext cx="116016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SzPts val="1100"/>
              <a:buNone/>
            </a:pPr>
            <a:r>
              <a:rPr b="1" lang="en-US" sz="45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Dando o Play!</a:t>
            </a:r>
            <a:endParaRPr b="1" sz="450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9" name="Google Shape;159;p20"/>
          <p:cNvSpPr txBox="1"/>
          <p:nvPr/>
        </p:nvSpPr>
        <p:spPr>
          <a:xfrm>
            <a:off x="872425" y="1739825"/>
            <a:ext cx="10410600" cy="28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O Laravel tem um servidor próprio para testes. Entre na pasta do projeto e digite:  </a:t>
            </a:r>
            <a:endParaRPr sz="1800">
              <a:solidFill>
                <a:srgbClr val="94A3B8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4A3B8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Um framework é um conjunto de ferramentas e padrões que resolvem problemas comuns:</a:t>
            </a:r>
            <a:endParaRPr sz="1800">
              <a:solidFill>
                <a:srgbClr val="94A3B8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42900" lvl="0" marL="45720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Urbanist"/>
              <a:buChar char="●"/>
            </a:pPr>
            <a:r>
              <a:rPr lang="en-US" sz="18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Segurança Automática</a:t>
            </a:r>
            <a:endParaRPr sz="1800">
              <a:solidFill>
                <a:srgbClr val="94A3B8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42900" lvl="0" marL="45720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Urbanist"/>
              <a:buChar char="●"/>
            </a:pPr>
            <a:r>
              <a:rPr lang="en-US" sz="18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Conexão Fácil com Banco</a:t>
            </a:r>
            <a:endParaRPr sz="1800">
              <a:solidFill>
                <a:srgbClr val="94A3B8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42900" lvl="0" marL="45720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800"/>
              <a:buFont typeface="Urbanist"/>
              <a:buChar char="●"/>
            </a:pPr>
            <a:r>
              <a:rPr lang="en-US" sz="180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Sistema de Rotas Elegante</a:t>
            </a:r>
            <a:endParaRPr sz="1500">
              <a:solidFill>
                <a:srgbClr val="CBD5E1"/>
              </a:solidFill>
              <a:highlight>
                <a:srgbClr val="1E293B"/>
              </a:highlight>
            </a:endParaRPr>
          </a:p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60" name="Google Shape;160;p20"/>
          <p:cNvSpPr txBox="1"/>
          <p:nvPr/>
        </p:nvSpPr>
        <p:spPr>
          <a:xfrm>
            <a:off x="158450" y="238525"/>
            <a:ext cx="158400" cy="667800"/>
          </a:xfrm>
          <a:prstGeom prst="rect">
            <a:avLst/>
          </a:prstGeom>
          <a:solidFill>
            <a:srgbClr val="EB446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1" name="Google Shape;16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36150" y="4369525"/>
            <a:ext cx="4257675" cy="97155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0"/>
          <p:cNvSpPr txBox="1"/>
          <p:nvPr/>
        </p:nvSpPr>
        <p:spPr>
          <a:xfrm>
            <a:off x="3536149" y="5388975"/>
            <a:ext cx="2828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4A3B8"/>
                </a:solidFill>
                <a:highlight>
                  <a:srgbClr val="1E293B"/>
                </a:highlight>
              </a:rPr>
              <a:t>Acesse no navegador:</a:t>
            </a:r>
            <a:endParaRPr sz="1200">
              <a:solidFill>
                <a:srgbClr val="94A3B8"/>
              </a:solidFill>
              <a:highlight>
                <a:srgbClr val="1E293B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highlight>
                  <a:srgbClr val="1E293B"/>
                </a:highlight>
              </a:rPr>
              <a:t>http://127.0.0.1:8000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1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Estrutura de Pastas Essenciais</a:t>
            </a:r>
            <a:endParaRPr/>
          </a:p>
        </p:txBody>
      </p:sp>
      <p:sp>
        <p:nvSpPr>
          <p:cNvPr id="168" name="Google Shape;168;p21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1"/>
          <p:cNvSpPr/>
          <p:nvPr/>
        </p:nvSpPr>
        <p:spPr>
          <a:xfrm>
            <a:off x="571500" y="3067050"/>
            <a:ext cx="3287613" cy="1905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1"/>
          <p:cNvSpPr/>
          <p:nvPr/>
        </p:nvSpPr>
        <p:spPr>
          <a:xfrm>
            <a:off x="3859113" y="3067050"/>
            <a:ext cx="7761386" cy="1905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1"/>
          <p:cNvSpPr/>
          <p:nvPr/>
        </p:nvSpPr>
        <p:spPr>
          <a:xfrm>
            <a:off x="571500" y="3681412"/>
            <a:ext cx="3287613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1"/>
          <p:cNvSpPr/>
          <p:nvPr/>
        </p:nvSpPr>
        <p:spPr>
          <a:xfrm>
            <a:off x="3859113" y="3681412"/>
            <a:ext cx="7761386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1"/>
          <p:cNvSpPr/>
          <p:nvPr/>
        </p:nvSpPr>
        <p:spPr>
          <a:xfrm>
            <a:off x="571500" y="4281487"/>
            <a:ext cx="3287613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1"/>
          <p:cNvSpPr/>
          <p:nvPr/>
        </p:nvSpPr>
        <p:spPr>
          <a:xfrm>
            <a:off x="3859113" y="4281487"/>
            <a:ext cx="7761386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1"/>
          <p:cNvSpPr/>
          <p:nvPr/>
        </p:nvSpPr>
        <p:spPr>
          <a:xfrm>
            <a:off x="571500" y="4881562"/>
            <a:ext cx="3287613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1"/>
          <p:cNvSpPr/>
          <p:nvPr/>
        </p:nvSpPr>
        <p:spPr>
          <a:xfrm>
            <a:off x="3859113" y="4881562"/>
            <a:ext cx="7761386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1"/>
          <p:cNvSpPr/>
          <p:nvPr/>
        </p:nvSpPr>
        <p:spPr>
          <a:xfrm>
            <a:off x="571500" y="5481637"/>
            <a:ext cx="3287613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1"/>
          <p:cNvSpPr/>
          <p:nvPr/>
        </p:nvSpPr>
        <p:spPr>
          <a:xfrm>
            <a:off x="3859113" y="5481637"/>
            <a:ext cx="7761386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9" name="Google Shape;17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0078" y="1458200"/>
            <a:ext cx="10991849" cy="49089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4" name="Google Shape;18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2"/>
          <p:cNvSpPr txBox="1"/>
          <p:nvPr/>
        </p:nvSpPr>
        <p:spPr>
          <a:xfrm>
            <a:off x="762000" y="571500"/>
            <a:ext cx="50006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Eloquent ORM</a:t>
            </a:r>
            <a:endParaRPr/>
          </a:p>
        </p:txBody>
      </p:sp>
      <p:sp>
        <p:nvSpPr>
          <p:cNvPr id="186" name="Google Shape;186;p22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2"/>
          <p:cNvSpPr txBox="1"/>
          <p:nvPr/>
        </p:nvSpPr>
        <p:spPr>
          <a:xfrm>
            <a:off x="571500" y="1457325"/>
            <a:ext cx="52006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43F5E"/>
                </a:solidFill>
                <a:latin typeface="Urbanist"/>
                <a:ea typeface="Urbanist"/>
                <a:cs typeface="Urbanist"/>
                <a:sym typeface="Urbanist"/>
              </a:rPr>
              <a:t>Dados Simplificados</a:t>
            </a:r>
            <a:endParaRPr/>
          </a:p>
        </p:txBody>
      </p:sp>
      <p:sp>
        <p:nvSpPr>
          <p:cNvPr id="188" name="Google Shape;188;p22"/>
          <p:cNvSpPr txBox="1"/>
          <p:nvPr/>
        </p:nvSpPr>
        <p:spPr>
          <a:xfrm>
            <a:off x="571500" y="1924050"/>
            <a:ext cx="49530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O Eloquent é um mapeador objeto-relacional (ORM) que torna a interação com o banco de dados um prazer. Em vez de SQL complexo, você usa sintaxe PHP elegante para buscar, inserir e relacionar dados entre tabelas.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3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Laravel vs PHP Puro</a:t>
            </a:r>
            <a:endParaRPr/>
          </a:p>
        </p:txBody>
      </p:sp>
      <p:sp>
        <p:nvSpPr>
          <p:cNvPr id="194" name="Google Shape;194;p23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3"/>
          <p:cNvSpPr txBox="1"/>
          <p:nvPr/>
        </p:nvSpPr>
        <p:spPr>
          <a:xfrm>
            <a:off x="952500" y="2881312"/>
            <a:ext cx="10668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Padrões de Projeto: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Força o uso de boas práticas e arquitetura limpa (MVC).</a:t>
            </a:r>
            <a:endParaRPr/>
          </a:p>
        </p:txBody>
      </p:sp>
      <p:sp>
        <p:nvSpPr>
          <p:cNvPr id="196" name="Google Shape;196;p23"/>
          <p:cNvSpPr txBox="1"/>
          <p:nvPr/>
        </p:nvSpPr>
        <p:spPr>
          <a:xfrm>
            <a:off x="952500" y="3376612"/>
            <a:ext cx="10668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Blade Engine: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Separação real entre lógica de negócio e interface visual.</a:t>
            </a:r>
            <a:endParaRPr/>
          </a:p>
        </p:txBody>
      </p:sp>
      <p:sp>
        <p:nvSpPr>
          <p:cNvPr id="197" name="Google Shape;197;p23"/>
          <p:cNvSpPr txBox="1"/>
          <p:nvPr/>
        </p:nvSpPr>
        <p:spPr>
          <a:xfrm>
            <a:off x="952500" y="3871912"/>
            <a:ext cx="10668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Migrações: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Controle de versão para o seu banco de dados, facilitando o trabalho em equipe.</a:t>
            </a:r>
            <a:endParaRPr/>
          </a:p>
        </p:txBody>
      </p:sp>
      <p:sp>
        <p:nvSpPr>
          <p:cNvPr id="198" name="Google Shape;198;p23"/>
          <p:cNvSpPr txBox="1"/>
          <p:nvPr/>
        </p:nvSpPr>
        <p:spPr>
          <a:xfrm>
            <a:off x="952500" y="4367212"/>
            <a:ext cx="10668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Autenticação: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Sistemas de login e registro prontos para uso em minutos, não dias.</a:t>
            </a:r>
            <a:endParaRPr/>
          </a:p>
        </p:txBody>
      </p:sp>
      <p:pic>
        <p:nvPicPr>
          <p:cNvPr descr="image.png" id="199" name="Google Shape;19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92417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341947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391477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4410075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4"/>
          <p:cNvSpPr txBox="1"/>
          <p:nvPr/>
        </p:nvSpPr>
        <p:spPr>
          <a:xfrm>
            <a:off x="1595437" y="2579935"/>
            <a:ext cx="9001125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O Futuro da Web</a:t>
            </a:r>
            <a:endParaRPr/>
          </a:p>
        </p:txBody>
      </p:sp>
      <p:sp>
        <p:nvSpPr>
          <p:cNvPr id="208" name="Google Shape;208;p24"/>
          <p:cNvSpPr txBox="1"/>
          <p:nvPr/>
        </p:nvSpPr>
        <p:spPr>
          <a:xfrm>
            <a:off x="1809750" y="3503860"/>
            <a:ext cx="8572500" cy="1280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Aprender Laravel é abrir as portas para o mercado de trabalho moderno, onde a eficiência e a qualidade do código são os pilares de qualquer desenvolvedor de sucesso.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3" name="Google Shape;21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859309"/>
            <a:ext cx="11049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5"/>
          <p:cNvSpPr txBox="1"/>
          <p:nvPr/>
        </p:nvSpPr>
        <p:spPr>
          <a:xfrm>
            <a:off x="295275" y="3002309"/>
            <a:ext cx="11601450" cy="7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Dúvidas e Próximos Passos</a:t>
            </a:r>
            <a:endParaRPr/>
          </a:p>
        </p:txBody>
      </p:sp>
      <p:sp>
        <p:nvSpPr>
          <p:cNvPr id="215" name="Google Shape;215;p25"/>
          <p:cNvSpPr txBox="1"/>
          <p:nvPr/>
        </p:nvSpPr>
        <p:spPr>
          <a:xfrm>
            <a:off x="616775" y="3946841"/>
            <a:ext cx="11049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Urbanist"/>
                <a:ea typeface="Urbanist"/>
                <a:cs typeface="Urbanist"/>
                <a:sym typeface="Urbanist"/>
              </a:rPr>
              <a:t>Na próxima aula: Criando sua primeira Rota e View.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