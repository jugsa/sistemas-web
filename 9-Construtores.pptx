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sldIdLst>
    <p:sldId id="271" r:id="rId5"/>
    <p:sldId id="310" r:id="rId6"/>
    <p:sldId id="311" r:id="rId7"/>
    <p:sldId id="323" r:id="rId8"/>
    <p:sldId id="312" r:id="rId9"/>
    <p:sldId id="324" r:id="rId10"/>
    <p:sldId id="325" r:id="rId11"/>
    <p:sldId id="317" r:id="rId12"/>
    <p:sldId id="318" r:id="rId13"/>
    <p:sldId id="319" r:id="rId14"/>
    <p:sldId id="326" r:id="rId15"/>
    <p:sldId id="32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67" d="100"/>
          <a:sy n="67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DFB1E4A-CF2F-4C01-A98D-9103E059F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1" y="4779205"/>
            <a:ext cx="2272666" cy="209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3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608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817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310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42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47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20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56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447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151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793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5294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575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654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8005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0533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19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4D64E7D-DAAD-4FC2-BD68-4BAEAD2EAB37}" type="datetimeFigureOut">
              <a:rPr lang="pt-BR" smtClean="0"/>
              <a:t>14/10/2020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A47C601-698B-451C-A431-04A42B27C505}" type="slidenum">
              <a:rPr lang="pt-BR" smtClean="0"/>
              <a:t>‹nº›</a:t>
            </a:fld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65FAD68-07DC-4FAB-9FDF-0DC891EAB741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3938"/>
            <a:ext cx="914400" cy="84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04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Construtores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Juliana de Sá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9F576B6-BFF7-4330-8DFF-75EDC59A4422}"/>
              </a:ext>
            </a:extLst>
          </p:cNvPr>
          <p:cNvSpPr txBox="1"/>
          <p:nvPr/>
        </p:nvSpPr>
        <p:spPr>
          <a:xfrm>
            <a:off x="4221670" y="1408114"/>
            <a:ext cx="357880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USO DO COMANDO THIS</a:t>
            </a:r>
          </a:p>
        </p:txBody>
      </p:sp>
      <p:sp>
        <p:nvSpPr>
          <p:cNvPr id="35844" name="CaixaDeTexto 9">
            <a:extLst>
              <a:ext uri="{FF2B5EF4-FFF2-40B4-BE49-F238E27FC236}">
                <a16:creationId xmlns:a16="http://schemas.microsoft.com/office/drawing/2014/main" id="{3F94B601-D9A0-41DC-9526-5E6D7C387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2951" y="2397125"/>
            <a:ext cx="7986713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400" dirty="0">
                <a:ea typeface="ヒラギノ角ゴ Pro W3" charset="-128"/>
              </a:rPr>
              <a:t>Observamos em alguns (ou todos) exemplos o uso do termo $</a:t>
            </a:r>
            <a:r>
              <a:rPr lang="pt-BR" altLang="pt-BR" sz="2400" dirty="0" err="1">
                <a:ea typeface="ヒラギノ角ゴ Pro W3" charset="-128"/>
              </a:rPr>
              <a:t>this</a:t>
            </a:r>
            <a:r>
              <a:rPr lang="pt-BR" altLang="pt-BR" sz="2400" dirty="0">
                <a:ea typeface="ヒラギノ角ゴ Pro W3" charset="-128"/>
              </a:rPr>
              <a:t>, devemos usar o $</a:t>
            </a:r>
            <a:r>
              <a:rPr lang="pt-BR" altLang="pt-BR" sz="2400" dirty="0" err="1">
                <a:ea typeface="ヒラギノ角ゴ Pro W3" charset="-128"/>
              </a:rPr>
              <a:t>this</a:t>
            </a:r>
            <a:r>
              <a:rPr lang="pt-BR" altLang="pt-BR" sz="2400" dirty="0">
                <a:ea typeface="ヒラギノ角ゴ Pro W3" charset="-128"/>
              </a:rPr>
              <a:t> quando queremos referenciar um atributo, método ou objeto dentro da classe atual, é uma boa prática de programação.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400" dirty="0">
                <a:ea typeface="ヒラギノ角ゴ Pro W3" charset="-128"/>
              </a:rPr>
              <a:t>Um exemplo de uso do $</a:t>
            </a:r>
            <a:r>
              <a:rPr lang="pt-BR" altLang="pt-BR" sz="2400" dirty="0" err="1">
                <a:ea typeface="ヒラギノ角ゴ Pro W3" charset="-128"/>
              </a:rPr>
              <a:t>this</a:t>
            </a:r>
            <a:r>
              <a:rPr lang="pt-BR" altLang="pt-BR" sz="2400" dirty="0">
                <a:ea typeface="ヒラギノ角ゴ Pro W3" charset="-128"/>
              </a:rPr>
              <a:t> é nos construtores e nos métodos </a:t>
            </a:r>
            <a:r>
              <a:rPr lang="pt-BR" altLang="pt-BR" sz="2400" dirty="0" err="1">
                <a:ea typeface="ヒラギノ角ゴ Pro W3" charset="-128"/>
              </a:rPr>
              <a:t>getters</a:t>
            </a:r>
            <a:r>
              <a:rPr lang="pt-BR" altLang="pt-BR" sz="2400" dirty="0">
                <a:ea typeface="ヒラギノ角ゴ Pro W3" charset="-128"/>
              </a:rPr>
              <a:t> e </a:t>
            </a:r>
            <a:r>
              <a:rPr lang="pt-BR" altLang="pt-BR" sz="2400" dirty="0" err="1">
                <a:ea typeface="ヒラギノ角ゴ Pro W3" charset="-128"/>
              </a:rPr>
              <a:t>setters</a:t>
            </a:r>
            <a:r>
              <a:rPr lang="pt-BR" altLang="pt-BR" sz="2400" dirty="0">
                <a:ea typeface="ヒラギノ角ゴ Pro W3" charset="-128"/>
              </a:rPr>
              <a:t> e/ou outros métodos.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CFB1136-ADD3-4AD0-8964-3245ADEA749F}"/>
              </a:ext>
            </a:extLst>
          </p:cNvPr>
          <p:cNvSpPr txBox="1"/>
          <p:nvPr/>
        </p:nvSpPr>
        <p:spPr>
          <a:xfrm>
            <a:off x="3875932" y="1408114"/>
            <a:ext cx="42702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O QUE SÃO CONSTRUTORES?</a:t>
            </a:r>
          </a:p>
        </p:txBody>
      </p:sp>
      <p:sp>
        <p:nvSpPr>
          <p:cNvPr id="36868" name="CaixaDeTexto 4">
            <a:extLst>
              <a:ext uri="{FF2B5EF4-FFF2-40B4-BE49-F238E27FC236}">
                <a16:creationId xmlns:a16="http://schemas.microsoft.com/office/drawing/2014/main" id="{F624F44B-EE1E-4E6B-8442-F60A52567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900" y="2138364"/>
            <a:ext cx="8102600" cy="4622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200000"/>
              </a:lnSpc>
              <a:spcBef>
                <a:spcPct val="0"/>
              </a:spcBef>
              <a:spcAft>
                <a:spcPts val="1200"/>
              </a:spcAft>
            </a:pPr>
            <a:r>
              <a:rPr lang="pt-BR" altLang="pt-BR" sz="2000" dirty="0">
                <a:ea typeface="ヒラギノ角ゴ Pro W3" charset="-128"/>
              </a:rPr>
              <a:t>O objetivo do construtor é permitir que outras classes possam criar objetos a partir da classe de modelagem atual.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spcAft>
                <a:spcPts val="1200"/>
              </a:spcAft>
            </a:pPr>
            <a:r>
              <a:rPr lang="pt-BR" altLang="pt-BR" sz="2000" dirty="0">
                <a:ea typeface="ヒラギノ角ゴ Pro W3" charset="-128"/>
              </a:rPr>
              <a:t>Construtores não tem retorno e sempre tem o mesmo nome da classe.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  <a:spcAft>
                <a:spcPts val="1200"/>
              </a:spcAft>
            </a:pPr>
            <a:r>
              <a:rPr lang="pt-BR" sz="2000" dirty="0">
                <a:ea typeface="ヒラギノ角ゴ Pro W3" charset="-128"/>
              </a:rPr>
              <a:t>Normalmente o programador utiliza o método construtor para inicializar os atributos de um objeto, como por exemplo: Estabelecer conexão com um banco de dados, abertura de um arquivo que será utilizado para escrita de log, etc.</a:t>
            </a:r>
            <a:endParaRPr lang="pt-BR" altLang="pt-BR" sz="2000" dirty="0">
              <a:ea typeface="ヒラギノ角ゴ Pro W3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574255-29E3-427E-9190-3B76FBB8B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você precisa saber?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82B260-70EC-49A0-B312-FA3CC49FA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sz="2600" dirty="0">
                <a:latin typeface="Calibri" panose="020F0502020204030204" pitchFamily="34" charset="0"/>
                <a:ea typeface="ヒラギノ角ゴ Pro W3" charset="-128"/>
              </a:rPr>
              <a:t>O método construtor define os valores iniciais dos atributos de um objeto</a:t>
            </a:r>
          </a:p>
          <a:p>
            <a:r>
              <a:rPr lang="pt-BR" altLang="pt-BR" sz="2600" dirty="0">
                <a:latin typeface="Calibri" panose="020F0502020204030204" pitchFamily="34" charset="0"/>
                <a:ea typeface="ヒラギノ角ゴ Pro W3" charset="-128"/>
              </a:rPr>
              <a:t>Caso o programador não defina um método construtor para a classe, automaticamente ao instanciar um objeto seus atributos serão inicializados com o valor NULL</a:t>
            </a:r>
          </a:p>
          <a:p>
            <a:r>
              <a:rPr lang="pt-BR" sz="2600" dirty="0">
                <a:latin typeface="Calibri" panose="020F0502020204030204" pitchFamily="34" charset="0"/>
                <a:ea typeface="ヒラギノ角ゴ Pro W3" charset="-128"/>
              </a:rPr>
              <a:t>Antes da versão PHP5 por convenção o construtor era um método que tinha o mesmo nome da classe. A partir da versão 5 do PHP podemos definir o método construtor da forma antiga ou nova</a:t>
            </a:r>
          </a:p>
          <a:p>
            <a:endParaRPr lang="pt-BR" sz="2600" dirty="0">
              <a:latin typeface="Calibri" panose="020F0502020204030204" pitchFamily="34" charset="0"/>
              <a:ea typeface="ヒラギノ角ゴ Pro W3" charset="-128"/>
            </a:endParaRPr>
          </a:p>
          <a:p>
            <a:pPr marL="0" indent="0" algn="ctr">
              <a:buNone/>
            </a:pPr>
            <a:r>
              <a:rPr lang="pt-BR" altLang="pt-BR" sz="2600" dirty="0">
                <a:latin typeface="Calibri" panose="020F0502020204030204" pitchFamily="34" charset="0"/>
                <a:ea typeface="ヒラギノ角ゴ Pro W3" charset="-128"/>
              </a:rPr>
              <a:t>__</a:t>
            </a:r>
            <a:r>
              <a:rPr lang="pt-BR" altLang="pt-BR" sz="2600" dirty="0" err="1">
                <a:latin typeface="Calibri" panose="020F0502020204030204" pitchFamily="34" charset="0"/>
                <a:ea typeface="ヒラギノ角ゴ Pro W3" charset="-128"/>
              </a:rPr>
              <a:t>construct</a:t>
            </a:r>
            <a:r>
              <a:rPr lang="pt-BR" altLang="pt-BR" sz="2600" dirty="0">
                <a:latin typeface="Calibri" panose="020F0502020204030204" pitchFamily="34" charset="0"/>
                <a:ea typeface="ヒラギノ角ゴ Pro W3" charset="-128"/>
              </a:rPr>
              <a:t>()</a:t>
            </a:r>
          </a:p>
          <a:p>
            <a:endParaRPr lang="pt-B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E37286-3E13-48E1-B5AF-4D7FCCCF8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48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58F8151-D2B4-481F-93A1-1D9D70B5F9E1}"/>
              </a:ext>
            </a:extLst>
          </p:cNvPr>
          <p:cNvSpPr txBox="1"/>
          <p:nvPr/>
        </p:nvSpPr>
        <p:spPr>
          <a:xfrm>
            <a:off x="3655520" y="1408114"/>
            <a:ext cx="47110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COMO SÃO OS CONSTRUTORES?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F27E564-A8E8-4C24-B31E-D1C9E238D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874" y="2175136"/>
            <a:ext cx="6443744" cy="4240497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0365AB2-A258-4819-B91A-01E443550106}"/>
              </a:ext>
            </a:extLst>
          </p:cNvPr>
          <p:cNvCxnSpPr/>
          <p:nvPr/>
        </p:nvCxnSpPr>
        <p:spPr>
          <a:xfrm>
            <a:off x="4400550" y="3157538"/>
            <a:ext cx="128587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6F7CB0-A117-4062-8EA5-A48845FB3637}"/>
              </a:ext>
            </a:extLst>
          </p:cNvPr>
          <p:cNvSpPr txBox="1"/>
          <p:nvPr/>
        </p:nvSpPr>
        <p:spPr>
          <a:xfrm>
            <a:off x="5686425" y="2972872"/>
            <a:ext cx="2177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Declaração da Classe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58F8151-D2B4-481F-93A1-1D9D70B5F9E1}"/>
              </a:ext>
            </a:extLst>
          </p:cNvPr>
          <p:cNvSpPr txBox="1"/>
          <p:nvPr/>
        </p:nvSpPr>
        <p:spPr>
          <a:xfrm>
            <a:off x="3655520" y="1408114"/>
            <a:ext cx="47110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COMO SÃO OS CONSTRUTORES?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F27E564-A8E8-4C24-B31E-D1C9E238D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874" y="2175136"/>
            <a:ext cx="6443744" cy="4240497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0365AB2-A258-4819-B91A-01E443550106}"/>
              </a:ext>
            </a:extLst>
          </p:cNvPr>
          <p:cNvCxnSpPr/>
          <p:nvPr/>
        </p:nvCxnSpPr>
        <p:spPr>
          <a:xfrm>
            <a:off x="4400550" y="3157538"/>
            <a:ext cx="128587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6F7CB0-A117-4062-8EA5-A48845FB3637}"/>
              </a:ext>
            </a:extLst>
          </p:cNvPr>
          <p:cNvSpPr txBox="1"/>
          <p:nvPr/>
        </p:nvSpPr>
        <p:spPr>
          <a:xfrm>
            <a:off x="5686425" y="2972872"/>
            <a:ext cx="2177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Declaração da Classe</a:t>
            </a:r>
          </a:p>
        </p:txBody>
      </p:sp>
      <p:sp>
        <p:nvSpPr>
          <p:cNvPr id="2" name="Chave Direita 1">
            <a:extLst>
              <a:ext uri="{FF2B5EF4-FFF2-40B4-BE49-F238E27FC236}">
                <a16:creationId xmlns:a16="http://schemas.microsoft.com/office/drawing/2014/main" id="{1AC0CBAA-E6AE-4DC4-A6E5-93885BDE65BC}"/>
              </a:ext>
            </a:extLst>
          </p:cNvPr>
          <p:cNvSpPr/>
          <p:nvPr/>
        </p:nvSpPr>
        <p:spPr>
          <a:xfrm>
            <a:off x="4700588" y="3586163"/>
            <a:ext cx="571500" cy="657220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E48D602-1B95-4BB8-B43E-BC6B95E496F4}"/>
              </a:ext>
            </a:extLst>
          </p:cNvPr>
          <p:cNvSpPr txBox="1"/>
          <p:nvPr/>
        </p:nvSpPr>
        <p:spPr>
          <a:xfrm>
            <a:off x="5293176" y="3730107"/>
            <a:ext cx="25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Declaração dos Atributos</a:t>
            </a:r>
          </a:p>
        </p:txBody>
      </p:sp>
    </p:spTree>
    <p:extLst>
      <p:ext uri="{BB962C8B-B14F-4D97-AF65-F5344CB8AC3E}">
        <p14:creationId xmlns:p14="http://schemas.microsoft.com/office/powerpoint/2010/main" val="886716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558F8151-D2B4-481F-93A1-1D9D70B5F9E1}"/>
              </a:ext>
            </a:extLst>
          </p:cNvPr>
          <p:cNvSpPr txBox="1"/>
          <p:nvPr/>
        </p:nvSpPr>
        <p:spPr>
          <a:xfrm>
            <a:off x="3655520" y="1408114"/>
            <a:ext cx="47110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COMO SÃO OS CONSTRUTORES?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F27E564-A8E8-4C24-B31E-D1C9E238D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874" y="2175136"/>
            <a:ext cx="6443744" cy="4240497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C0365AB2-A258-4819-B91A-01E443550106}"/>
              </a:ext>
            </a:extLst>
          </p:cNvPr>
          <p:cNvCxnSpPr/>
          <p:nvPr/>
        </p:nvCxnSpPr>
        <p:spPr>
          <a:xfrm>
            <a:off x="4400550" y="3157538"/>
            <a:ext cx="128587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6F7CB0-A117-4062-8EA5-A48845FB3637}"/>
              </a:ext>
            </a:extLst>
          </p:cNvPr>
          <p:cNvSpPr txBox="1"/>
          <p:nvPr/>
        </p:nvSpPr>
        <p:spPr>
          <a:xfrm>
            <a:off x="5686425" y="2972872"/>
            <a:ext cx="2177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Declaração da Classe</a:t>
            </a:r>
          </a:p>
        </p:txBody>
      </p:sp>
      <p:sp>
        <p:nvSpPr>
          <p:cNvPr id="2" name="Chave Direita 1">
            <a:extLst>
              <a:ext uri="{FF2B5EF4-FFF2-40B4-BE49-F238E27FC236}">
                <a16:creationId xmlns:a16="http://schemas.microsoft.com/office/drawing/2014/main" id="{1AC0CBAA-E6AE-4DC4-A6E5-93885BDE65BC}"/>
              </a:ext>
            </a:extLst>
          </p:cNvPr>
          <p:cNvSpPr/>
          <p:nvPr/>
        </p:nvSpPr>
        <p:spPr>
          <a:xfrm>
            <a:off x="4700588" y="3586163"/>
            <a:ext cx="571500" cy="657220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E48D602-1B95-4BB8-B43E-BC6B95E496F4}"/>
              </a:ext>
            </a:extLst>
          </p:cNvPr>
          <p:cNvSpPr txBox="1"/>
          <p:nvPr/>
        </p:nvSpPr>
        <p:spPr>
          <a:xfrm>
            <a:off x="5293176" y="3730107"/>
            <a:ext cx="2571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Declaração dos Atributos</a:t>
            </a:r>
          </a:p>
        </p:txBody>
      </p:sp>
      <p:sp>
        <p:nvSpPr>
          <p:cNvPr id="8" name="Chave Direita 7">
            <a:extLst>
              <a:ext uri="{FF2B5EF4-FFF2-40B4-BE49-F238E27FC236}">
                <a16:creationId xmlns:a16="http://schemas.microsoft.com/office/drawing/2014/main" id="{CD1D88C3-72C6-47FD-A7BD-D0BDCF2BA396}"/>
              </a:ext>
            </a:extLst>
          </p:cNvPr>
          <p:cNvSpPr/>
          <p:nvPr/>
        </p:nvSpPr>
        <p:spPr>
          <a:xfrm>
            <a:off x="8146803" y="4988222"/>
            <a:ext cx="625721" cy="1312566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26043F2-C678-4847-B711-2E41C582510C}"/>
              </a:ext>
            </a:extLst>
          </p:cNvPr>
          <p:cNvSpPr txBox="1"/>
          <p:nvPr/>
        </p:nvSpPr>
        <p:spPr>
          <a:xfrm>
            <a:off x="8975479" y="5472113"/>
            <a:ext cx="2265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Criação do Construtor</a:t>
            </a:r>
          </a:p>
        </p:txBody>
      </p:sp>
    </p:spTree>
    <p:extLst>
      <p:ext uri="{BB962C8B-B14F-4D97-AF65-F5344CB8AC3E}">
        <p14:creationId xmlns:p14="http://schemas.microsoft.com/office/powerpoint/2010/main" val="458247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1B836F16-DA97-459A-B6E9-DC291F1ADA25}"/>
              </a:ext>
            </a:extLst>
          </p:cNvPr>
          <p:cNvSpPr txBox="1"/>
          <p:nvPr/>
        </p:nvSpPr>
        <p:spPr>
          <a:xfrm>
            <a:off x="6670676" y="1277938"/>
            <a:ext cx="3548062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2800" b="1" dirty="0">
                <a:latin typeface="+mj-lt"/>
              </a:rPr>
              <a:t>ATENÇÃO AOS GETTERS E SETTERS</a:t>
            </a:r>
          </a:p>
        </p:txBody>
      </p:sp>
      <p:sp>
        <p:nvSpPr>
          <p:cNvPr id="43013" name="CaixaDeTexto 4">
            <a:extLst>
              <a:ext uri="{FF2B5EF4-FFF2-40B4-BE49-F238E27FC236}">
                <a16:creationId xmlns:a16="http://schemas.microsoft.com/office/drawing/2014/main" id="{2E8B0C59-2B15-4538-B430-2B4A6D82F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0338" y="3846512"/>
            <a:ext cx="4165600" cy="18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900" dirty="0">
                <a:solidFill>
                  <a:srgbClr val="FF0000"/>
                </a:solidFill>
                <a:ea typeface="ヒラギノ角ゴ Pro W3" charset="-128"/>
              </a:rPr>
              <a:t>Para que nossa classe de modelagem fique completa, devemos criar também os </a:t>
            </a:r>
            <a:r>
              <a:rPr lang="pt-BR" altLang="pt-BR" sz="1900" dirty="0" err="1">
                <a:solidFill>
                  <a:srgbClr val="FF0000"/>
                </a:solidFill>
                <a:ea typeface="ヒラギノ角ゴ Pro W3" charset="-128"/>
              </a:rPr>
              <a:t>getters</a:t>
            </a:r>
            <a:r>
              <a:rPr lang="pt-BR" altLang="pt-BR" sz="1900" dirty="0">
                <a:solidFill>
                  <a:srgbClr val="FF0000"/>
                </a:solidFill>
                <a:ea typeface="ヒラギノ角ゴ Pro W3" charset="-128"/>
              </a:rPr>
              <a:t> e </a:t>
            </a:r>
            <a:r>
              <a:rPr lang="pt-BR" altLang="pt-BR" sz="1900" dirty="0" err="1">
                <a:solidFill>
                  <a:srgbClr val="FF0000"/>
                </a:solidFill>
                <a:ea typeface="ヒラギノ角ゴ Pro W3" charset="-128"/>
              </a:rPr>
              <a:t>setters</a:t>
            </a:r>
            <a:r>
              <a:rPr lang="pt-BR" altLang="pt-BR" sz="1900" dirty="0">
                <a:solidFill>
                  <a:srgbClr val="FF0000"/>
                </a:solidFill>
                <a:ea typeface="ヒラギノ角ゴ Pro W3" charset="-128"/>
              </a:rPr>
              <a:t> para acessar os atributos.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7772624-5241-43EF-9B40-FB6756B72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741" y="1127919"/>
            <a:ext cx="4486034" cy="54371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CaixaDeTexto 4">
            <a:extLst>
              <a:ext uri="{FF2B5EF4-FFF2-40B4-BE49-F238E27FC236}">
                <a16:creationId xmlns:a16="http://schemas.microsoft.com/office/drawing/2014/main" id="{1C7D842B-E616-4593-A01B-52DAB600FE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900" y="2270125"/>
            <a:ext cx="8102600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631825" indent="-174625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1200"/>
              </a:spcAft>
            </a:pPr>
            <a:r>
              <a:rPr lang="pt-BR" altLang="pt-BR" sz="2000" dirty="0">
                <a:ea typeface="ヒラギノ角ゴ Pro W3" charset="-128"/>
              </a:rPr>
              <a:t>Para instanciar (construir) um objeto, devemos fazê-lo através dos construtor na classe de modelagem e para isso usamos a palavra reservada new.</a:t>
            </a:r>
          </a:p>
          <a:p>
            <a:pPr algn="just">
              <a:spcBef>
                <a:spcPct val="0"/>
              </a:spcBef>
              <a:spcAft>
                <a:spcPts val="1200"/>
              </a:spcAft>
            </a:pPr>
            <a:r>
              <a:rPr lang="pt-BR" altLang="pt-BR" sz="2000" dirty="0">
                <a:ea typeface="ヒラギノ角ゴ Pro W3" charset="-128"/>
              </a:rPr>
              <a:t>O comando deve ter:</a:t>
            </a:r>
          </a:p>
          <a:p>
            <a:pPr lvl="1" algn="just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altLang="pt-BR" sz="2000" dirty="0">
                <a:ea typeface="ヒラギノ角ゴ Pro W3" charset="-128"/>
              </a:rPr>
              <a:t>Nome do objeto a ser criado</a:t>
            </a:r>
          </a:p>
          <a:p>
            <a:pPr lvl="1" algn="just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altLang="pt-BR" sz="2000" dirty="0">
                <a:ea typeface="ヒラギノ角ゴ Pro W3" charset="-128"/>
              </a:rPr>
              <a:t>Comando new</a:t>
            </a:r>
          </a:p>
          <a:p>
            <a:pPr lvl="1" algn="just"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altLang="pt-BR" sz="2000" dirty="0">
                <a:ea typeface="ヒラギノ角ゴ Pro W3" charset="-128"/>
              </a:rPr>
              <a:t>Construtor a ser utilizado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FE00263-13B6-4FCC-BDEF-3915D32DEC05}"/>
              </a:ext>
            </a:extLst>
          </p:cNvPr>
          <p:cNvSpPr txBox="1"/>
          <p:nvPr/>
        </p:nvSpPr>
        <p:spPr>
          <a:xfrm>
            <a:off x="2320047" y="1408114"/>
            <a:ext cx="73518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INSTANCIANDO OBJETOS USANDO O CONSTRUTOR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0B27172-F579-4D60-9405-06A3BD47C053}"/>
              </a:ext>
            </a:extLst>
          </p:cNvPr>
          <p:cNvSpPr txBox="1"/>
          <p:nvPr/>
        </p:nvSpPr>
        <p:spPr>
          <a:xfrm>
            <a:off x="3164372" y="1408114"/>
            <a:ext cx="566482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INSTANCIANDO UM OBJETO USANDO O</a:t>
            </a:r>
          </a:p>
          <a:p>
            <a:pPr algn="ctr">
              <a:defRPr/>
            </a:pPr>
            <a:r>
              <a:rPr lang="pt-BR" sz="2400" b="1" dirty="0">
                <a:latin typeface="+mj-lt"/>
              </a:rPr>
              <a:t>CONSTRUTOR VAZIO</a:t>
            </a:r>
          </a:p>
        </p:txBody>
      </p:sp>
      <p:sp>
        <p:nvSpPr>
          <p:cNvPr id="45060" name="CaixaDeTexto 4">
            <a:extLst>
              <a:ext uri="{FF2B5EF4-FFF2-40B4-BE49-F238E27FC236}">
                <a16:creationId xmlns:a16="http://schemas.microsoft.com/office/drawing/2014/main" id="{F4C8AF44-2E9F-4DDC-A5F6-484D3CCFB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225" y="2787650"/>
            <a:ext cx="86931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400" dirty="0">
                <a:ea typeface="ヒラギノ角ゴ Pro W3" charset="-128"/>
              </a:rPr>
              <a:t>$conta1  =  new  Conta();</a:t>
            </a:r>
          </a:p>
        </p:txBody>
      </p:sp>
      <p:sp>
        <p:nvSpPr>
          <p:cNvPr id="45063" name="Retângulo 8">
            <a:extLst>
              <a:ext uri="{FF2B5EF4-FFF2-40B4-BE49-F238E27FC236}">
                <a16:creationId xmlns:a16="http://schemas.microsoft.com/office/drawing/2014/main" id="{9AF5277C-038C-4D53-B181-2F5999089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5349875"/>
            <a:ext cx="3821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lvl="1">
              <a:spcBef>
                <a:spcPct val="0"/>
              </a:spcBef>
              <a:spcAft>
                <a:spcPts val="1200"/>
              </a:spcAft>
              <a:buNone/>
            </a:pPr>
            <a:r>
              <a:rPr lang="pt-BR" altLang="pt-BR" sz="2000" dirty="0">
                <a:ea typeface="ヒラギノ角ゴ Pro W3" charset="-128"/>
              </a:rPr>
              <a:t>Nome do objeto a ser criado</a:t>
            </a:r>
          </a:p>
        </p:txBody>
      </p:sp>
      <p:sp>
        <p:nvSpPr>
          <p:cNvPr id="45064" name="Retângulo 9">
            <a:extLst>
              <a:ext uri="{FF2B5EF4-FFF2-40B4-BE49-F238E27FC236}">
                <a16:creationId xmlns:a16="http://schemas.microsoft.com/office/drawing/2014/main" id="{D12DDD2E-3A91-49DE-B917-1B9C22305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3326" y="4710907"/>
            <a:ext cx="2071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lvl="1" algn="just">
              <a:spcBef>
                <a:spcPct val="0"/>
              </a:spcBef>
              <a:spcAft>
                <a:spcPts val="1200"/>
              </a:spcAft>
              <a:buNone/>
            </a:pPr>
            <a:r>
              <a:rPr lang="pt-BR" altLang="pt-BR" sz="2000" dirty="0">
                <a:ea typeface="ヒラギノ角ゴ Pro W3" charset="-128"/>
              </a:rPr>
              <a:t>Comando new</a:t>
            </a:r>
          </a:p>
        </p:txBody>
      </p:sp>
      <p:sp>
        <p:nvSpPr>
          <p:cNvPr id="45065" name="Retângulo 10">
            <a:extLst>
              <a:ext uri="{FF2B5EF4-FFF2-40B4-BE49-F238E27FC236}">
                <a16:creationId xmlns:a16="http://schemas.microsoft.com/office/drawing/2014/main" id="{30DAFE98-390E-43FF-BE55-75A1E9B90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5738" y="3885011"/>
            <a:ext cx="1674812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lvl="1">
              <a:spcBef>
                <a:spcPct val="0"/>
              </a:spcBef>
              <a:spcAft>
                <a:spcPts val="1200"/>
              </a:spcAft>
              <a:buNone/>
            </a:pPr>
            <a:r>
              <a:rPr lang="pt-BR" altLang="pt-BR" sz="2000" dirty="0">
                <a:ea typeface="ヒラギノ角ゴ Pro W3" charset="-128"/>
              </a:rPr>
              <a:t>Construtor a ser utilizado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32CB70C-13B9-4ED5-9761-82672F75D029}"/>
              </a:ext>
            </a:extLst>
          </p:cNvPr>
          <p:cNvCxnSpPr/>
          <p:nvPr/>
        </p:nvCxnSpPr>
        <p:spPr>
          <a:xfrm>
            <a:off x="4192588" y="3429000"/>
            <a:ext cx="0" cy="18367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AC499A6-26D6-424C-9F1A-D368B4ABBAF2}"/>
              </a:ext>
            </a:extLst>
          </p:cNvPr>
          <p:cNvCxnSpPr/>
          <p:nvPr/>
        </p:nvCxnSpPr>
        <p:spPr>
          <a:xfrm>
            <a:off x="6283326" y="3459163"/>
            <a:ext cx="0" cy="12176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8A1F5D22-E196-4E77-944C-A7ACB6CD4C97}"/>
              </a:ext>
            </a:extLst>
          </p:cNvPr>
          <p:cNvCxnSpPr/>
          <p:nvPr/>
        </p:nvCxnSpPr>
        <p:spPr>
          <a:xfrm>
            <a:off x="7805738" y="3459163"/>
            <a:ext cx="0" cy="4270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0B27172-F579-4D60-9405-06A3BD47C053}"/>
              </a:ext>
            </a:extLst>
          </p:cNvPr>
          <p:cNvSpPr txBox="1"/>
          <p:nvPr/>
        </p:nvSpPr>
        <p:spPr>
          <a:xfrm>
            <a:off x="3164372" y="1408114"/>
            <a:ext cx="566482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400" b="1" dirty="0">
                <a:latin typeface="+mj-lt"/>
              </a:rPr>
              <a:t>INSTANCIANDO UM OBJETO USANDO O</a:t>
            </a:r>
          </a:p>
          <a:p>
            <a:pPr algn="ctr">
              <a:defRPr/>
            </a:pPr>
            <a:r>
              <a:rPr lang="pt-BR" sz="2400" b="1" dirty="0">
                <a:latin typeface="+mj-lt"/>
              </a:rPr>
              <a:t>CONSTRUTOR VAZIO</a:t>
            </a:r>
          </a:p>
        </p:txBody>
      </p:sp>
      <p:sp>
        <p:nvSpPr>
          <p:cNvPr id="45060" name="CaixaDeTexto 4">
            <a:extLst>
              <a:ext uri="{FF2B5EF4-FFF2-40B4-BE49-F238E27FC236}">
                <a16:creationId xmlns:a16="http://schemas.microsoft.com/office/drawing/2014/main" id="{F4C8AF44-2E9F-4DDC-A5F6-484D3CCFB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0225" y="2787650"/>
            <a:ext cx="869315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4400" dirty="0">
                <a:ea typeface="ヒラギノ角ゴ Pro W3" charset="-128"/>
              </a:rPr>
              <a:t>$conta1  =  new  Conta(23,53);</a:t>
            </a:r>
          </a:p>
        </p:txBody>
      </p:sp>
      <p:sp>
        <p:nvSpPr>
          <p:cNvPr id="45063" name="Retângulo 8">
            <a:extLst>
              <a:ext uri="{FF2B5EF4-FFF2-40B4-BE49-F238E27FC236}">
                <a16:creationId xmlns:a16="http://schemas.microsoft.com/office/drawing/2014/main" id="{9AF5277C-038C-4D53-B181-2F5999089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8056" y="5301457"/>
            <a:ext cx="38211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lvl="1">
              <a:spcBef>
                <a:spcPct val="0"/>
              </a:spcBef>
              <a:spcAft>
                <a:spcPts val="1200"/>
              </a:spcAft>
              <a:buNone/>
            </a:pPr>
            <a:r>
              <a:rPr lang="pt-BR" altLang="pt-BR" sz="2000" dirty="0">
                <a:ea typeface="ヒラギノ角ゴ Pro W3" charset="-128"/>
              </a:rPr>
              <a:t>Nome do objeto a ser criado</a:t>
            </a:r>
          </a:p>
        </p:txBody>
      </p:sp>
      <p:sp>
        <p:nvSpPr>
          <p:cNvPr id="45064" name="Retângulo 9">
            <a:extLst>
              <a:ext uri="{FF2B5EF4-FFF2-40B4-BE49-F238E27FC236}">
                <a16:creationId xmlns:a16="http://schemas.microsoft.com/office/drawing/2014/main" id="{D12DDD2E-3A91-49DE-B917-1B9C22305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4050" y="4682332"/>
            <a:ext cx="20716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lvl="1" algn="just">
              <a:spcBef>
                <a:spcPct val="0"/>
              </a:spcBef>
              <a:spcAft>
                <a:spcPts val="1200"/>
              </a:spcAft>
              <a:buNone/>
            </a:pPr>
            <a:r>
              <a:rPr lang="pt-BR" altLang="pt-BR" sz="2000" dirty="0">
                <a:ea typeface="ヒラギノ角ゴ Pro W3" charset="-128"/>
              </a:rPr>
              <a:t>Comando new</a:t>
            </a:r>
          </a:p>
        </p:txBody>
      </p:sp>
      <p:sp>
        <p:nvSpPr>
          <p:cNvPr id="45065" name="Retângulo 10">
            <a:extLst>
              <a:ext uri="{FF2B5EF4-FFF2-40B4-BE49-F238E27FC236}">
                <a16:creationId xmlns:a16="http://schemas.microsoft.com/office/drawing/2014/main" id="{30DAFE98-390E-43FF-BE55-75A1E9B90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0" y="3879058"/>
            <a:ext cx="358139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lvl="1">
              <a:spcBef>
                <a:spcPct val="0"/>
              </a:spcBef>
              <a:spcAft>
                <a:spcPts val="1200"/>
              </a:spcAft>
              <a:buNone/>
            </a:pPr>
            <a:r>
              <a:rPr lang="pt-BR" altLang="pt-BR" sz="2000" dirty="0">
                <a:ea typeface="ヒラギノ角ゴ Pro W3" charset="-128"/>
              </a:rPr>
              <a:t>Construtor a ser utilizado com os parâmetros 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F32CB70C-13B9-4ED5-9761-82672F75D029}"/>
              </a:ext>
            </a:extLst>
          </p:cNvPr>
          <p:cNvCxnSpPr/>
          <p:nvPr/>
        </p:nvCxnSpPr>
        <p:spPr>
          <a:xfrm>
            <a:off x="3563938" y="3429000"/>
            <a:ext cx="0" cy="18367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CAC499A6-26D6-424C-9F1A-D368B4ABBAF2}"/>
              </a:ext>
            </a:extLst>
          </p:cNvPr>
          <p:cNvCxnSpPr/>
          <p:nvPr/>
        </p:nvCxnSpPr>
        <p:spPr>
          <a:xfrm>
            <a:off x="5768976" y="3429000"/>
            <a:ext cx="0" cy="121761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8A1F5D22-E196-4E77-944C-A7ACB6CD4C97}"/>
              </a:ext>
            </a:extLst>
          </p:cNvPr>
          <p:cNvCxnSpPr/>
          <p:nvPr/>
        </p:nvCxnSpPr>
        <p:spPr>
          <a:xfrm>
            <a:off x="7162800" y="3430588"/>
            <a:ext cx="0" cy="42703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492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768F728-986A-46AF-A173-5BD4A76D0099}"/>
              </a:ext>
            </a:extLst>
          </p:cNvPr>
          <p:cNvSpPr txBox="1"/>
          <p:nvPr/>
        </p:nvSpPr>
        <p:spPr>
          <a:xfrm rot="16200000">
            <a:off x="173038" y="3243711"/>
            <a:ext cx="4716463" cy="138499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2800" b="1">
                <a:latin typeface="+mj-lt"/>
              </a:rPr>
              <a:t>INSTANCIANDO OBJETOS USANDO OS CONSTRUTORES</a:t>
            </a:r>
            <a:endParaRPr lang="pt-BR" sz="2800" b="1" dirty="0">
              <a:latin typeface="+mj-lt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6E6BBAB-1BC9-4A08-8C24-10409AC9C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564" y="830947"/>
            <a:ext cx="8260072" cy="519610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axe">
  <a:themeElements>
    <a:clrScheme name="Paralaxe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Para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F95C65FCE67A42B1DD4942EF3BCF87" ma:contentTypeVersion="2" ma:contentTypeDescription="Crie um novo documento." ma:contentTypeScope="" ma:versionID="55eca17348f36998ed59d09c7c6d01e6">
  <xsd:schema xmlns:xsd="http://www.w3.org/2001/XMLSchema" xmlns:xs="http://www.w3.org/2001/XMLSchema" xmlns:p="http://schemas.microsoft.com/office/2006/metadata/properties" xmlns:ns2="2a14d617-4b87-411b-a777-c3b3f30b92ee" targetNamespace="http://schemas.microsoft.com/office/2006/metadata/properties" ma:root="true" ma:fieldsID="0f5f38b92ea01ac4ae6d449655b95cab" ns2:_="">
    <xsd:import namespace="2a14d617-4b87-411b-a777-c3b3f30b92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4d617-4b87-411b-a777-c3b3f30b92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0298E63-DE99-4202-9681-E17DA5134B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4d617-4b87-411b-a777-c3b3f30b92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9FE7FE-FD32-4C92-8626-91FF0EF3E2B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894736F-AB10-4472-95F8-B55C379B1385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2a14d617-4b87-411b-a777-c3b3f30b92ee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7407</TotalTime>
  <Words>401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Corbel</vt:lpstr>
      <vt:lpstr>Paralaxe</vt:lpstr>
      <vt:lpstr>Construtores</vt:lpstr>
      <vt:lpstr>Apresentação do PowerPoint</vt:lpstr>
      <vt:lpstr>Apresentação do PowerPoint</vt:lpstr>
      <vt:lpstr>O que você precisa saber?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Generalização/Especialização (Herança)</dc:title>
  <dc:creator>JULIANA GODOY DE SA</dc:creator>
  <cp:lastModifiedBy>JULIANA GODOY DE SA</cp:lastModifiedBy>
  <cp:revision>18</cp:revision>
  <dcterms:created xsi:type="dcterms:W3CDTF">2020-10-13T18:10:20Z</dcterms:created>
  <dcterms:modified xsi:type="dcterms:W3CDTF">2020-10-19T12:49:06Z</dcterms:modified>
</cp:coreProperties>
</file>